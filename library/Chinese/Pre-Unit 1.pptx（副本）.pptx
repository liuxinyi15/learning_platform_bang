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embeddedFontLst>
    <p:embeddedFont>
      <p:font typeface="Libre Franklin"/>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j8S+q3PICv9UxgUwh1FDjIY3c9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EA08BB-91BC-40CF-88AF-34D070204335}">
  <a:tblStyle styleId="{04EA08BB-91BC-40CF-88AF-34D070204335}" styleName="Table_0">
    <a:wholeTbl>
      <a:tcTxStyle b="off" i="off">
        <a:font>
          <a:latin typeface="Franklin Gothic Book"/>
          <a:ea typeface="Franklin Gothic Book"/>
          <a:cs typeface="Franklin Gothic Book"/>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DEDED"/>
          </a:solidFill>
        </a:fill>
      </a:tcStyle>
    </a:wholeTbl>
    <a:band1H>
      <a:tcTxStyle/>
      <a:tcStyle>
        <a:fill>
          <a:solidFill>
            <a:srgbClr val="DADAD8"/>
          </a:solidFill>
        </a:fill>
      </a:tcStyle>
    </a:band1H>
    <a:band2H>
      <a:tcTxStyle/>
    </a:band2H>
    <a:band1V>
      <a:tcTxStyle/>
      <a:tcStyle>
        <a:fill>
          <a:solidFill>
            <a:srgbClr val="DADAD8"/>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DEDED"/>
          </a:solidFill>
        </a:fill>
      </a:tcStyle>
    </a:lastRow>
    <a:seCell>
      <a:tcTxStyle/>
    </a:seCell>
    <a:swCell>
      <a:tcTxStyle/>
    </a:swCell>
    <a:firstRow>
      <a:tcTxStyle b="on" i="off"/>
      <a:tcStyle>
        <a:fill>
          <a:solidFill>
            <a:srgbClr val="EDEDED"/>
          </a:solidFill>
        </a:fill>
      </a:tcStyle>
    </a:firstRow>
    <a:neCell>
      <a:tcTxStyle/>
    </a:neCell>
    <a:nwCell>
      <a:tcTxStyle/>
    </a:nwCell>
  </a:tblStyle>
  <a:tblStyle styleId="{B6BFDDE6-8D38-44A2-92BD-6159FD400C31}" styleName="Table_1">
    <a:wholeTbl>
      <a:tcTxStyle b="off" i="off">
        <a:font>
          <a:latin typeface="Franklin Gothic Book"/>
          <a:ea typeface="Franklin Gothic Book"/>
          <a:cs typeface="Franklin Gothic Book"/>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EDED"/>
          </a:solidFill>
        </a:fill>
      </a:tcStyle>
    </a:wholeTbl>
    <a:band1H>
      <a:tcTxStyle/>
      <a:tcStyle>
        <a:fill>
          <a:solidFill>
            <a:srgbClr val="DADAD8"/>
          </a:solidFill>
        </a:fill>
      </a:tcStyle>
    </a:band1H>
    <a:band2H>
      <a:tcTxStyle/>
    </a:band2H>
    <a:band1V>
      <a:tcTxStyle/>
      <a:tcStyle>
        <a:fill>
          <a:solidFill>
            <a:srgbClr val="DADAD8"/>
          </a:solidFill>
        </a:fill>
      </a:tcStyle>
    </a:band1V>
    <a:band2V>
      <a:tcTxStyle/>
    </a:band2V>
    <a:lastCol>
      <a:tcTxStyle b="on" i="off">
        <a:font>
          <a:latin typeface="Franklin Gothic Book"/>
          <a:ea typeface="Franklin Gothic Book"/>
          <a:cs typeface="Franklin Gothic Book"/>
        </a:font>
        <a:schemeClr val="lt1"/>
      </a:tcTxStyle>
      <a:tcStyle>
        <a:fill>
          <a:solidFill>
            <a:schemeClr val="accent1"/>
          </a:solidFill>
        </a:fill>
      </a:tcStyle>
    </a:lastCol>
    <a:firstCol>
      <a:tcTxStyle b="on" i="off">
        <a:font>
          <a:latin typeface="Franklin Gothic Book"/>
          <a:ea typeface="Franklin Gothic Book"/>
          <a:cs typeface="Franklin Gothic Book"/>
        </a:font>
        <a:schemeClr val="lt1"/>
      </a:tcTxStyle>
      <a:tcStyle>
        <a:fill>
          <a:solidFill>
            <a:schemeClr val="accent1"/>
          </a:solidFill>
        </a:fill>
      </a:tcStyle>
    </a:firstCol>
    <a:lastRow>
      <a:tcTxStyle b="on" i="off">
        <a:font>
          <a:latin typeface="Franklin Gothic Book"/>
          <a:ea typeface="Franklin Gothic Book"/>
          <a:cs typeface="Franklin Gothic Book"/>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Franklin Gothic Book"/>
          <a:ea typeface="Franklin Gothic Book"/>
          <a:cs typeface="Franklin Gothic Book"/>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LibreFranklin-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LibreFranklin-italic.fntdata"/><Relationship Id="rId21" Type="http://schemas.openxmlformats.org/officeDocument/2006/relationships/slide" Target="slides/slide16.xml"/><Relationship Id="rId43" Type="http://schemas.openxmlformats.org/officeDocument/2006/relationships/font" Target="fonts/LibreFranklin-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2"/>
        </a:solidFill>
      </p:bgPr>
    </p:bg>
    <p:spTree>
      <p:nvGrpSpPr>
        <p:cNvPr id="16" name="Shape 16"/>
        <p:cNvGrpSpPr/>
        <p:nvPr/>
      </p:nvGrpSpPr>
      <p:grpSpPr>
        <a:xfrm>
          <a:off x="0" y="0"/>
          <a:ext cx="0" cy="0"/>
          <a:chOff x="0" y="0"/>
          <a:chExt cx="0" cy="0"/>
        </a:xfrm>
      </p:grpSpPr>
      <p:sp>
        <p:nvSpPr>
          <p:cNvPr id="17" name="Google Shape;17;p38"/>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8"/>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19" name="Google Shape;19;p38"/>
          <p:cNvSpPr txBox="1"/>
          <p:nvPr>
            <p:ph idx="10" type="dt"/>
          </p:nvPr>
        </p:nvSpPr>
        <p:spPr>
          <a:xfrm>
            <a:off x="752858" y="6453386"/>
            <a:ext cx="1607944"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grpSp>
        <p:nvGrpSpPr>
          <p:cNvPr id="22" name="Google Shape;22;p38"/>
          <p:cNvGrpSpPr/>
          <p:nvPr/>
        </p:nvGrpSpPr>
        <p:grpSpPr>
          <a:xfrm>
            <a:off x="752858" y="744469"/>
            <a:ext cx="10674116" cy="5349671"/>
            <a:chOff x="752858" y="744469"/>
            <a:chExt cx="10674116" cy="5349671"/>
          </a:xfrm>
        </p:grpSpPr>
        <p:sp>
          <p:nvSpPr>
            <p:cNvPr id="23" name="Google Shape;23;p38"/>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4" name="Google Shape;24;p38"/>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9"/>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9"/>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28" name="Google Shape;28;p39"/>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9"/>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9"/>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 name="Shape 31"/>
        <p:cNvGrpSpPr/>
        <p:nvPr/>
      </p:nvGrpSpPr>
      <p:grpSpPr>
        <a:xfrm>
          <a:off x="0" y="0"/>
          <a:ext cx="0" cy="0"/>
          <a:chOff x="0" y="0"/>
          <a:chExt cx="0" cy="0"/>
        </a:xfrm>
      </p:grpSpPr>
      <p:sp>
        <p:nvSpPr>
          <p:cNvPr id="32" name="Google Shape;32;p40"/>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0"/>
          <p:cNvSpPr txBox="1"/>
          <p:nvPr>
            <p:ph idx="1" type="body"/>
          </p:nvPr>
        </p:nvSpPr>
        <p:spPr>
          <a:xfrm>
            <a:off x="1371600"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34" name="Google Shape;34;p40"/>
          <p:cNvSpPr txBox="1"/>
          <p:nvPr>
            <p:ph idx="2" type="body"/>
          </p:nvPr>
        </p:nvSpPr>
        <p:spPr>
          <a:xfrm>
            <a:off x="1371600"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35" name="Google Shape;35;p40"/>
          <p:cNvSpPr txBox="1"/>
          <p:nvPr>
            <p:ph idx="3" type="body"/>
          </p:nvPr>
        </p:nvSpPr>
        <p:spPr>
          <a:xfrm>
            <a:off x="6525014"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36" name="Google Shape;36;p40"/>
          <p:cNvSpPr txBox="1"/>
          <p:nvPr>
            <p:ph idx="4" type="body"/>
          </p:nvPr>
        </p:nvSpPr>
        <p:spPr>
          <a:xfrm>
            <a:off x="6525014"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37" name="Google Shape;37;p40"/>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41"/>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3" name="Google Shape;43;p41"/>
          <p:cNvSpPr txBox="1"/>
          <p:nvPr>
            <p:ph idx="2" type="body"/>
          </p:nvPr>
        </p:nvSpPr>
        <p:spPr>
          <a:xfrm>
            <a:off x="6525403"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4" name="Google Shape;44;p4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7" name="Shape 47"/>
        <p:cNvGrpSpPr/>
        <p:nvPr/>
      </p:nvGrpSpPr>
      <p:grpSpPr>
        <a:xfrm>
          <a:off x="0" y="0"/>
          <a:ext cx="0" cy="0"/>
          <a:chOff x="0" y="0"/>
          <a:chExt cx="0" cy="0"/>
        </a:xfrm>
      </p:grpSpPr>
      <p:sp>
        <p:nvSpPr>
          <p:cNvPr id="48" name="Google Shape;48;p42"/>
          <p:cNvSpPr txBox="1"/>
          <p:nvPr>
            <p:ph type="title"/>
          </p:nvPr>
        </p:nvSpPr>
        <p:spPr>
          <a:xfrm>
            <a:off x="765025" y="1301360"/>
            <a:ext cx="9612971" cy="2852737"/>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2"/>
          <p:cNvSpPr txBox="1"/>
          <p:nvPr>
            <p:ph idx="1" type="body"/>
          </p:nvPr>
        </p:nvSpPr>
        <p:spPr>
          <a:xfrm>
            <a:off x="765025" y="4216328"/>
            <a:ext cx="9612971" cy="1143324"/>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2400"/>
              <a:buNone/>
              <a:defRPr sz="2400">
                <a:solidFill>
                  <a:schemeClr val="lt2"/>
                </a:solidFill>
              </a:defRPr>
            </a:lvl1pPr>
            <a:lvl2pPr indent="-228600" lvl="1" marL="914400" algn="l">
              <a:lnSpc>
                <a:spcPct val="94000"/>
              </a:lnSpc>
              <a:spcBef>
                <a:spcPts val="500"/>
              </a:spcBef>
              <a:spcAft>
                <a:spcPts val="0"/>
              </a:spcAft>
              <a:buClr>
                <a:schemeClr val="lt1"/>
              </a:buClr>
              <a:buSzPts val="2000"/>
              <a:buNone/>
              <a:defRPr sz="2000">
                <a:solidFill>
                  <a:schemeClr val="lt1"/>
                </a:solidFill>
              </a:defRPr>
            </a:lvl2pPr>
            <a:lvl3pPr indent="-228600" lvl="2" marL="1371600" algn="l">
              <a:lnSpc>
                <a:spcPct val="94000"/>
              </a:lnSpc>
              <a:spcBef>
                <a:spcPts val="500"/>
              </a:spcBef>
              <a:spcAft>
                <a:spcPts val="0"/>
              </a:spcAft>
              <a:buClr>
                <a:schemeClr val="lt1"/>
              </a:buClr>
              <a:buSzPts val="1800"/>
              <a:buNone/>
              <a:defRPr sz="1800">
                <a:solidFill>
                  <a:schemeClr val="lt1"/>
                </a:solidFill>
              </a:defRPr>
            </a:lvl3pPr>
            <a:lvl4pPr indent="-228600" lvl="3" marL="1828800" algn="l">
              <a:lnSpc>
                <a:spcPct val="94000"/>
              </a:lnSpc>
              <a:spcBef>
                <a:spcPts val="500"/>
              </a:spcBef>
              <a:spcAft>
                <a:spcPts val="0"/>
              </a:spcAft>
              <a:buClr>
                <a:schemeClr val="lt1"/>
              </a:buClr>
              <a:buSzPts val="1600"/>
              <a:buNone/>
              <a:defRPr sz="1600">
                <a:solidFill>
                  <a:schemeClr val="lt1"/>
                </a:solidFill>
              </a:defRPr>
            </a:lvl4pPr>
            <a:lvl5pPr indent="-228600" lvl="4" marL="2286000" algn="l">
              <a:lnSpc>
                <a:spcPct val="94000"/>
              </a:lnSpc>
              <a:spcBef>
                <a:spcPts val="500"/>
              </a:spcBef>
              <a:spcAft>
                <a:spcPts val="0"/>
              </a:spcAft>
              <a:buClr>
                <a:schemeClr val="lt1"/>
              </a:buClr>
              <a:buSzPts val="1600"/>
              <a:buNone/>
              <a:defRPr sz="1600">
                <a:solidFill>
                  <a:schemeClr val="lt1"/>
                </a:solidFill>
              </a:defRPr>
            </a:lvl5pPr>
            <a:lvl6pPr indent="-228600" lvl="5" marL="2743200" algn="l">
              <a:lnSpc>
                <a:spcPct val="94000"/>
              </a:lnSpc>
              <a:spcBef>
                <a:spcPts val="500"/>
              </a:spcBef>
              <a:spcAft>
                <a:spcPts val="0"/>
              </a:spcAft>
              <a:buClr>
                <a:schemeClr val="lt1"/>
              </a:buClr>
              <a:buSzPts val="1600"/>
              <a:buNone/>
              <a:defRPr sz="1600">
                <a:solidFill>
                  <a:schemeClr val="lt1"/>
                </a:solidFill>
              </a:defRPr>
            </a:lvl6pPr>
            <a:lvl7pPr indent="-228600" lvl="6" marL="3200400" algn="l">
              <a:lnSpc>
                <a:spcPct val="94000"/>
              </a:lnSpc>
              <a:spcBef>
                <a:spcPts val="500"/>
              </a:spcBef>
              <a:spcAft>
                <a:spcPts val="0"/>
              </a:spcAft>
              <a:buClr>
                <a:schemeClr val="lt1"/>
              </a:buClr>
              <a:buSzPts val="1600"/>
              <a:buNone/>
              <a:defRPr sz="1600">
                <a:solidFill>
                  <a:schemeClr val="lt1"/>
                </a:solidFill>
              </a:defRPr>
            </a:lvl7pPr>
            <a:lvl8pPr indent="-228600" lvl="7" marL="3657600" algn="l">
              <a:lnSpc>
                <a:spcPct val="94000"/>
              </a:lnSpc>
              <a:spcBef>
                <a:spcPts val="500"/>
              </a:spcBef>
              <a:spcAft>
                <a:spcPts val="0"/>
              </a:spcAft>
              <a:buClr>
                <a:schemeClr val="lt1"/>
              </a:buClr>
              <a:buSzPts val="1600"/>
              <a:buNone/>
              <a:defRPr sz="1600">
                <a:solidFill>
                  <a:schemeClr val="lt1"/>
                </a:solidFill>
              </a:defRPr>
            </a:lvl8pPr>
            <a:lvl9pPr indent="-228600" lvl="8" marL="4114800" algn="l">
              <a:lnSpc>
                <a:spcPct val="94000"/>
              </a:lnSpc>
              <a:spcBef>
                <a:spcPts val="500"/>
              </a:spcBef>
              <a:spcAft>
                <a:spcPts val="200"/>
              </a:spcAft>
              <a:buClr>
                <a:schemeClr val="lt1"/>
              </a:buClr>
              <a:buSzPts val="1600"/>
              <a:buNone/>
              <a:defRPr sz="1600">
                <a:solidFill>
                  <a:schemeClr val="lt1"/>
                </a:solidFill>
              </a:defRPr>
            </a:lvl9pPr>
          </a:lstStyle>
          <a:p/>
        </p:txBody>
      </p:sp>
      <p:sp>
        <p:nvSpPr>
          <p:cNvPr id="50" name="Google Shape;50;p42"/>
          <p:cNvSpPr txBox="1"/>
          <p:nvPr>
            <p:ph idx="10" type="dt"/>
          </p:nvPr>
        </p:nvSpPr>
        <p:spPr>
          <a:xfrm>
            <a:off x="738908" y="6453386"/>
            <a:ext cx="1622409"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2"/>
          <p:cNvSpPr txBox="1"/>
          <p:nvPr>
            <p:ph idx="11" type="ftr"/>
          </p:nvPr>
        </p:nvSpPr>
        <p:spPr>
          <a:xfrm>
            <a:off x="2584312"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Libre Franklin"/>
                <a:ea typeface="Libre Franklin"/>
                <a:cs typeface="Libre Franklin"/>
                <a:sym typeface="Libre Franklin"/>
              </a:defRPr>
            </a:lvl1pPr>
            <a:lvl2pPr indent="0" lvl="1" marL="0" algn="r">
              <a:spcBef>
                <a:spcPts val="0"/>
              </a:spcBef>
              <a:buNone/>
              <a:defRPr sz="1200">
                <a:solidFill>
                  <a:schemeClr val="lt2"/>
                </a:solidFill>
                <a:latin typeface="Libre Franklin"/>
                <a:ea typeface="Libre Franklin"/>
                <a:cs typeface="Libre Franklin"/>
                <a:sym typeface="Libre Franklin"/>
              </a:defRPr>
            </a:lvl2pPr>
            <a:lvl3pPr indent="0" lvl="2" marL="0" algn="r">
              <a:spcBef>
                <a:spcPts val="0"/>
              </a:spcBef>
              <a:buNone/>
              <a:defRPr sz="1200">
                <a:solidFill>
                  <a:schemeClr val="lt2"/>
                </a:solidFill>
                <a:latin typeface="Libre Franklin"/>
                <a:ea typeface="Libre Franklin"/>
                <a:cs typeface="Libre Franklin"/>
                <a:sym typeface="Libre Franklin"/>
              </a:defRPr>
            </a:lvl3pPr>
            <a:lvl4pPr indent="0" lvl="3" marL="0" algn="r">
              <a:spcBef>
                <a:spcPts val="0"/>
              </a:spcBef>
              <a:buNone/>
              <a:defRPr sz="1200">
                <a:solidFill>
                  <a:schemeClr val="lt2"/>
                </a:solidFill>
                <a:latin typeface="Libre Franklin"/>
                <a:ea typeface="Libre Franklin"/>
                <a:cs typeface="Libre Franklin"/>
                <a:sym typeface="Libre Franklin"/>
              </a:defRPr>
            </a:lvl4pPr>
            <a:lvl5pPr indent="0" lvl="4" marL="0" algn="r">
              <a:spcBef>
                <a:spcPts val="0"/>
              </a:spcBef>
              <a:buNone/>
              <a:defRPr sz="1200">
                <a:solidFill>
                  <a:schemeClr val="lt2"/>
                </a:solidFill>
                <a:latin typeface="Libre Franklin"/>
                <a:ea typeface="Libre Franklin"/>
                <a:cs typeface="Libre Franklin"/>
                <a:sym typeface="Libre Franklin"/>
              </a:defRPr>
            </a:lvl5pPr>
            <a:lvl6pPr indent="0" lvl="5" marL="0" algn="r">
              <a:spcBef>
                <a:spcPts val="0"/>
              </a:spcBef>
              <a:buNone/>
              <a:defRPr sz="1200">
                <a:solidFill>
                  <a:schemeClr val="lt2"/>
                </a:solidFill>
                <a:latin typeface="Libre Franklin"/>
                <a:ea typeface="Libre Franklin"/>
                <a:cs typeface="Libre Franklin"/>
                <a:sym typeface="Libre Franklin"/>
              </a:defRPr>
            </a:lvl6pPr>
            <a:lvl7pPr indent="0" lvl="6" marL="0" algn="r">
              <a:spcBef>
                <a:spcPts val="0"/>
              </a:spcBef>
              <a:buNone/>
              <a:defRPr sz="1200">
                <a:solidFill>
                  <a:schemeClr val="lt2"/>
                </a:solidFill>
                <a:latin typeface="Libre Franklin"/>
                <a:ea typeface="Libre Franklin"/>
                <a:cs typeface="Libre Franklin"/>
                <a:sym typeface="Libre Franklin"/>
              </a:defRPr>
            </a:lvl7pPr>
            <a:lvl8pPr indent="0" lvl="7" marL="0" algn="r">
              <a:spcBef>
                <a:spcPts val="0"/>
              </a:spcBef>
              <a:buNone/>
              <a:defRPr sz="1200">
                <a:solidFill>
                  <a:schemeClr val="lt2"/>
                </a:solidFill>
                <a:latin typeface="Libre Franklin"/>
                <a:ea typeface="Libre Franklin"/>
                <a:cs typeface="Libre Franklin"/>
                <a:sym typeface="Libre Franklin"/>
              </a:defRPr>
            </a:lvl8pPr>
            <a:lvl9pPr indent="0" lvl="8" marL="0" algn="r">
              <a:spcBef>
                <a:spcPts val="0"/>
              </a:spcBef>
              <a:buNone/>
              <a:defRPr sz="12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42" title="Crop Mark"/>
          <p:cNvSpPr/>
          <p:nvPr/>
        </p:nvSpPr>
        <p:spPr>
          <a:xfrm>
            <a:off x="8151962" y="1685652"/>
            <a:ext cx="3275013" cy="4408488"/>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4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44"/>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3" name="Shape 63"/>
        <p:cNvGrpSpPr/>
        <p:nvPr/>
      </p:nvGrpSpPr>
      <p:grpSpPr>
        <a:xfrm>
          <a:off x="0" y="0"/>
          <a:ext cx="0" cy="0"/>
          <a:chOff x="0" y="0"/>
          <a:chExt cx="0" cy="0"/>
        </a:xfrm>
      </p:grpSpPr>
      <p:sp>
        <p:nvSpPr>
          <p:cNvPr id="64" name="Google Shape;64;p45"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5"/>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5"/>
          <p:cNvSpPr txBox="1"/>
          <p:nvPr>
            <p:ph idx="1" type="body"/>
          </p:nvPr>
        </p:nvSpPr>
        <p:spPr>
          <a:xfrm>
            <a:off x="6256020" y="685801"/>
            <a:ext cx="5212080" cy="517525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sz="2000"/>
            </a:lvl1pPr>
            <a:lvl2pPr indent="-355600" lvl="1" marL="914400" algn="l">
              <a:lnSpc>
                <a:spcPct val="94000"/>
              </a:lnSpc>
              <a:spcBef>
                <a:spcPts val="500"/>
              </a:spcBef>
              <a:spcAft>
                <a:spcPts val="0"/>
              </a:spcAft>
              <a:buClr>
                <a:schemeClr val="dk2"/>
              </a:buClr>
              <a:buSzPts val="2000"/>
              <a:buChar char="–"/>
              <a:defRPr sz="2000"/>
            </a:lvl2pPr>
            <a:lvl3pPr indent="-342900" lvl="2" marL="1371600" algn="l">
              <a:lnSpc>
                <a:spcPct val="94000"/>
              </a:lnSpc>
              <a:spcBef>
                <a:spcPts val="500"/>
              </a:spcBef>
              <a:spcAft>
                <a:spcPts val="0"/>
              </a:spcAft>
              <a:buClr>
                <a:schemeClr val="dk2"/>
              </a:buClr>
              <a:buSzPts val="1800"/>
              <a:buChar char="■"/>
              <a:defRPr sz="1800"/>
            </a:lvl3pPr>
            <a:lvl4pPr indent="-342900" lvl="3" marL="1828800" algn="l">
              <a:lnSpc>
                <a:spcPct val="94000"/>
              </a:lnSpc>
              <a:spcBef>
                <a:spcPts val="500"/>
              </a:spcBef>
              <a:spcAft>
                <a:spcPts val="0"/>
              </a:spcAft>
              <a:buClr>
                <a:schemeClr val="dk2"/>
              </a:buClr>
              <a:buSzPts val="1800"/>
              <a:buChar char="–"/>
              <a:defRPr sz="1800"/>
            </a:lvl4pPr>
            <a:lvl5pPr indent="-330200" lvl="4" marL="2286000" algn="l">
              <a:lnSpc>
                <a:spcPct val="94000"/>
              </a:lnSpc>
              <a:spcBef>
                <a:spcPts val="500"/>
              </a:spcBef>
              <a:spcAft>
                <a:spcPts val="0"/>
              </a:spcAft>
              <a:buClr>
                <a:schemeClr val="dk2"/>
              </a:buClr>
              <a:buSzPts val="1600"/>
              <a:buChar char="■"/>
              <a:defRPr sz="1600"/>
            </a:lvl5pPr>
            <a:lvl6pPr indent="-330200" lvl="5" marL="2743200" algn="l">
              <a:lnSpc>
                <a:spcPct val="94000"/>
              </a:lnSpc>
              <a:spcBef>
                <a:spcPts val="500"/>
              </a:spcBef>
              <a:spcAft>
                <a:spcPts val="0"/>
              </a:spcAft>
              <a:buClr>
                <a:schemeClr val="dk2"/>
              </a:buClr>
              <a:buSzPts val="1600"/>
              <a:buChar char="–"/>
              <a:defRPr sz="1600"/>
            </a:lvl6pPr>
            <a:lvl7pPr indent="-330200" lvl="6" marL="3200400" algn="l">
              <a:lnSpc>
                <a:spcPct val="94000"/>
              </a:lnSpc>
              <a:spcBef>
                <a:spcPts val="500"/>
              </a:spcBef>
              <a:spcAft>
                <a:spcPts val="0"/>
              </a:spcAft>
              <a:buClr>
                <a:schemeClr val="dk2"/>
              </a:buClr>
              <a:buSzPts val="1600"/>
              <a:buChar char="■"/>
              <a:defRPr sz="1600"/>
            </a:lvl7pPr>
            <a:lvl8pPr indent="-330200" lvl="7" marL="3657600" algn="l">
              <a:lnSpc>
                <a:spcPct val="94000"/>
              </a:lnSpc>
              <a:spcBef>
                <a:spcPts val="500"/>
              </a:spcBef>
              <a:spcAft>
                <a:spcPts val="0"/>
              </a:spcAft>
              <a:buClr>
                <a:schemeClr val="dk2"/>
              </a:buClr>
              <a:buSzPts val="1600"/>
              <a:buChar char="–"/>
              <a:defRPr sz="1600"/>
            </a:lvl8pPr>
            <a:lvl9pPr indent="-330200" lvl="8" marL="4114800" algn="l">
              <a:lnSpc>
                <a:spcPct val="94000"/>
              </a:lnSpc>
              <a:spcBef>
                <a:spcPts val="500"/>
              </a:spcBef>
              <a:spcAft>
                <a:spcPts val="200"/>
              </a:spcAft>
              <a:buClr>
                <a:schemeClr val="dk2"/>
              </a:buClr>
              <a:buSzPts val="1600"/>
              <a:buChar char="■"/>
              <a:defRPr sz="1600"/>
            </a:lvl9pPr>
          </a:lstStyle>
          <a:p/>
        </p:txBody>
      </p:sp>
      <p:sp>
        <p:nvSpPr>
          <p:cNvPr id="67" name="Google Shape;67;p45"/>
          <p:cNvSpPr txBox="1"/>
          <p:nvPr>
            <p:ph idx="2" type="body"/>
          </p:nvPr>
        </p:nvSpPr>
        <p:spPr>
          <a:xfrm>
            <a:off x="723900" y="2856344"/>
            <a:ext cx="3855720" cy="3011056"/>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68" name="Google Shape;68;p45"/>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5"/>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45"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46"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6"/>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6"/>
          <p:cNvSpPr/>
          <p:nvPr>
            <p:ph idx="2" type="pic"/>
          </p:nvPr>
        </p:nvSpPr>
        <p:spPr>
          <a:xfrm>
            <a:off x="5532120" y="0"/>
            <a:ext cx="6659880" cy="6857999"/>
          </a:xfrm>
          <a:prstGeom prst="rect">
            <a:avLst/>
          </a:prstGeom>
          <a:noFill/>
          <a:ln>
            <a:noFill/>
          </a:ln>
        </p:spPr>
      </p:sp>
      <p:sp>
        <p:nvSpPr>
          <p:cNvPr id="76" name="Google Shape;76;p46"/>
          <p:cNvSpPr txBox="1"/>
          <p:nvPr>
            <p:ph idx="1" type="body"/>
          </p:nvPr>
        </p:nvSpPr>
        <p:spPr>
          <a:xfrm>
            <a:off x="723900" y="2855968"/>
            <a:ext cx="3855720" cy="3011432"/>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77" name="Google Shape;77;p46"/>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6"/>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46"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4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47"/>
          <p:cNvSpPr txBox="1"/>
          <p:nvPr>
            <p:ph idx="1" type="body"/>
          </p:nvPr>
        </p:nvSpPr>
        <p:spPr>
          <a:xfrm rot="5400000">
            <a:off x="4386262" y="-719138"/>
            <a:ext cx="3571875"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4" name="Google Shape;84;p4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48"/>
          <p:cNvSpPr txBox="1"/>
          <p:nvPr>
            <p:ph type="title"/>
          </p:nvPr>
        </p:nvSpPr>
        <p:spPr>
          <a:xfrm rot="5400000">
            <a:off x="7757822" y="2462895"/>
            <a:ext cx="5243244" cy="1565766"/>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48"/>
          <p:cNvSpPr txBox="1"/>
          <p:nvPr>
            <p:ph idx="1" type="body"/>
          </p:nvPr>
        </p:nvSpPr>
        <p:spPr>
          <a:xfrm rot="5400000">
            <a:off x="2839798" y="-844042"/>
            <a:ext cx="5243244" cy="8179641"/>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90" name="Google Shape;90;p48"/>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8"/>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8"/>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0"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7"/>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12" name="Google Shape;12;p3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3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3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7"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images.app.goo.gl/5E75YHm1JKNLNu1WA" TargetMode="External"/><Relationship Id="rId4" Type="http://schemas.openxmlformats.org/officeDocument/2006/relationships/hyperlink" Target="https://en.wikipedia.org/wiki/CJK_characters#/media/File:%E6%BC%A2%E5%AD%97%E6%96%87%E5%8C%96%E5%9C%88%EF%BC%8F%E6%B1%89%E5%AD%97%E6%96%87%E5%8C%96%E5%9C%88_%C2%B7_%ED%95%9C%EC%9E%90_%EB%AC%B8%ED%99%94%EA%B6%8C_%C2%B7_V%C3%B2ng_v%C4%83n_h%C3%B3a_ch%E1%BB%AF_H%C3%A1n_%C2%B7_%E6%BC%A2%E5%AD%97%E6%96%87%E5%8C%96%E5%9C%8F.sv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youtube.com/watch?v=zdIDRMamBv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p>
            <a:pPr indent="0" lvl="0" marL="0" rtl="0" algn="ctr">
              <a:lnSpc>
                <a:spcPct val="89000"/>
              </a:lnSpc>
              <a:spcBef>
                <a:spcPts val="0"/>
              </a:spcBef>
              <a:spcAft>
                <a:spcPts val="0"/>
              </a:spcAft>
              <a:buClr>
                <a:schemeClr val="dk2"/>
              </a:buClr>
              <a:buSzPts val="7200"/>
              <a:buFont typeface="Libre Franklin"/>
              <a:buNone/>
            </a:pPr>
            <a:r>
              <a:rPr lang="en-US"/>
              <a:t>PRE-UNIT 1</a:t>
            </a:r>
            <a:endParaRPr/>
          </a:p>
        </p:txBody>
      </p:sp>
      <p:sp>
        <p:nvSpPr>
          <p:cNvPr id="98" name="Google Shape;98;p1"/>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p>
            <a:pPr indent="0" lvl="0" marL="0" rtl="0" algn="ctr">
              <a:lnSpc>
                <a:spcPct val="112000"/>
              </a:lnSpc>
              <a:spcBef>
                <a:spcPts val="0"/>
              </a:spcBef>
              <a:spcAft>
                <a:spcPts val="0"/>
              </a:spcAft>
              <a:buClr>
                <a:schemeClr val="dk2"/>
              </a:buClr>
              <a:buSzPts val="2300"/>
              <a:buNone/>
            </a:pPr>
            <a:r>
              <a:rPr lang="en-US"/>
              <a:t>OER Beginning Chinese Textbook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1371600" y="685800"/>
            <a:ext cx="9601200" cy="830179"/>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000"/>
              <a:buFont typeface="Libre Franklin"/>
              <a:buNone/>
            </a:pPr>
            <a:r>
              <a:rPr lang="en-US" sz="4000">
                <a:solidFill>
                  <a:srgbClr val="C00000"/>
                </a:solidFill>
              </a:rPr>
              <a:t>Learning Objectives</a:t>
            </a:r>
            <a:endParaRPr/>
          </a:p>
        </p:txBody>
      </p:sp>
      <p:sp>
        <p:nvSpPr>
          <p:cNvPr id="104" name="Google Shape;104;p2"/>
          <p:cNvSpPr txBox="1"/>
          <p:nvPr>
            <p:ph idx="1" type="body"/>
          </p:nvPr>
        </p:nvSpPr>
        <p:spPr>
          <a:xfrm>
            <a:off x="1371600" y="1638300"/>
            <a:ext cx="9601200" cy="3581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4000"/>
              </a:lnSpc>
              <a:spcBef>
                <a:spcPts val="0"/>
              </a:spcBef>
              <a:spcAft>
                <a:spcPts val="0"/>
              </a:spcAft>
              <a:buClr>
                <a:schemeClr val="dk2"/>
              </a:buClr>
              <a:buSzPts val="2800"/>
              <a:buNone/>
            </a:pPr>
            <a:r>
              <a:rPr lang="en-US" sz="2800"/>
              <a:t>Once I have master this unit, I will:</a:t>
            </a:r>
            <a:endParaRPr/>
          </a:p>
          <a:p>
            <a:pPr indent="0" lvl="0" marL="0" rtl="0" algn="l">
              <a:lnSpc>
                <a:spcPct val="94000"/>
              </a:lnSpc>
              <a:spcBef>
                <a:spcPts val="1200"/>
              </a:spcBef>
              <a:spcAft>
                <a:spcPts val="0"/>
              </a:spcAft>
              <a:buClr>
                <a:schemeClr val="dk2"/>
              </a:buClr>
              <a:buSzPts val="2800"/>
              <a:buNone/>
            </a:pPr>
            <a:r>
              <a:rPr lang="en-US" sz="2800"/>
              <a:t>- understand the basic concepts of the Mandarin sounds system (Pinyin and pronunciation):</a:t>
            </a:r>
            <a:endParaRPr/>
          </a:p>
          <a:p>
            <a:pPr indent="0" lvl="0" marL="0" rtl="0" algn="l">
              <a:lnSpc>
                <a:spcPct val="94000"/>
              </a:lnSpc>
              <a:spcBef>
                <a:spcPts val="1200"/>
              </a:spcBef>
              <a:spcAft>
                <a:spcPts val="0"/>
              </a:spcAft>
              <a:buClr>
                <a:schemeClr val="dk2"/>
              </a:buClr>
              <a:buSzPts val="2800"/>
              <a:buNone/>
            </a:pPr>
            <a:r>
              <a:rPr lang="en-US" sz="2800"/>
              <a:t>- be able to identify 21 initials and 36 finals by listening and reading , and type out the sounds when I heard them;</a:t>
            </a:r>
            <a:endParaRPr/>
          </a:p>
          <a:p>
            <a:pPr indent="0" lvl="0" marL="0" rtl="0" algn="l">
              <a:lnSpc>
                <a:spcPct val="94000"/>
              </a:lnSpc>
              <a:spcBef>
                <a:spcPts val="1200"/>
              </a:spcBef>
              <a:spcAft>
                <a:spcPts val="0"/>
              </a:spcAft>
              <a:buClr>
                <a:schemeClr val="dk2"/>
              </a:buClr>
              <a:buSzPts val="2800"/>
              <a:buNone/>
            </a:pPr>
            <a:r>
              <a:rPr lang="en-US" sz="2800"/>
              <a:t>- have memorized some useful classroom expressions; and</a:t>
            </a:r>
            <a:endParaRPr/>
          </a:p>
          <a:p>
            <a:pPr indent="0" lvl="0" marL="0" rtl="0" algn="l">
              <a:lnSpc>
                <a:spcPct val="94000"/>
              </a:lnSpc>
              <a:spcBef>
                <a:spcPts val="1200"/>
              </a:spcBef>
              <a:spcAft>
                <a:spcPts val="0"/>
              </a:spcAft>
              <a:buClr>
                <a:schemeClr val="dk2"/>
              </a:buClr>
              <a:buSzPts val="2800"/>
              <a:buNone/>
            </a:pPr>
            <a:r>
              <a:rPr lang="en-US" sz="2800"/>
              <a:t>- have a basic overview of the Chinese language, including history, languages and dialects, and pronunciation.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677334" y="609600"/>
            <a:ext cx="8596668" cy="71276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Mandarin Phonology (Sound System) I</a:t>
            </a:r>
            <a:endParaRPr/>
          </a:p>
        </p:txBody>
      </p:sp>
      <p:sp>
        <p:nvSpPr>
          <p:cNvPr id="110" name="Google Shape;110;p3"/>
          <p:cNvSpPr txBox="1"/>
          <p:nvPr>
            <p:ph idx="1" type="body"/>
          </p:nvPr>
        </p:nvSpPr>
        <p:spPr>
          <a:xfrm>
            <a:off x="677333" y="1322363"/>
            <a:ext cx="10717497" cy="471899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800"/>
              <a:buNone/>
            </a:pPr>
            <a:r>
              <a:rPr lang="en-US" sz="2800">
                <a:solidFill>
                  <a:srgbClr val="C00000"/>
                </a:solidFill>
              </a:rPr>
              <a:t>Hanyu Pinyin  </a:t>
            </a:r>
            <a:endParaRPr/>
          </a:p>
          <a:p>
            <a:pPr indent="0" lvl="0" marL="0" rtl="0" algn="l">
              <a:lnSpc>
                <a:spcPct val="94000"/>
              </a:lnSpc>
              <a:spcBef>
                <a:spcPts val="1200"/>
              </a:spcBef>
              <a:spcAft>
                <a:spcPts val="0"/>
              </a:spcAft>
              <a:buClr>
                <a:schemeClr val="dk2"/>
              </a:buClr>
              <a:buSzPts val="2800"/>
              <a:buNone/>
            </a:pPr>
            <a:r>
              <a:rPr lang="en-US" sz="2800"/>
              <a:t>Hanyu Pinyin, often abbreviated to pinyin, is the official romanization system for Modern Standard Chinese (Mandarin) in </a:t>
            </a:r>
            <a:r>
              <a:rPr lang="en-US" sz="2800" u="sng">
                <a:solidFill>
                  <a:schemeClr val="hlink"/>
                </a:solidFill>
                <a:hlinkClick r:id="rId3"/>
              </a:rPr>
              <a:t>mainland China</a:t>
            </a:r>
            <a:r>
              <a:rPr lang="en-US" sz="2800"/>
              <a:t> . It is often used to teach Modern Standard Chinese (Mandarin) to children and non-native speakers, which is normally written using </a:t>
            </a:r>
            <a:r>
              <a:rPr lang="en-US" sz="2800" u="sng">
                <a:solidFill>
                  <a:schemeClr val="hlink"/>
                </a:solidFill>
                <a:hlinkClick r:id="rId4"/>
              </a:rPr>
              <a:t>Chinese characters</a:t>
            </a:r>
            <a:r>
              <a:rPr lang="en-US" sz="2800"/>
              <a:t>. The pinyin system uses 25 of the 26 letters of the English alphabet. Note that although pinyin symbols are the same as English letters, the actual pronunciations they represent can differ widely  from their English counterparts. The Pinyin system includes four diacritics denoting tones. Pinyin is the most useful tool in certain computer input methods to enter Chinese characters.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838200" y="365126"/>
            <a:ext cx="10515600" cy="97834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Mandarin Phonology (Sound System) I</a:t>
            </a:r>
            <a:endParaRPr/>
          </a:p>
        </p:txBody>
      </p:sp>
      <p:sp>
        <p:nvSpPr>
          <p:cNvPr id="116" name="Google Shape;116;p4"/>
          <p:cNvSpPr txBox="1"/>
          <p:nvPr>
            <p:ph idx="1" type="body"/>
          </p:nvPr>
        </p:nvSpPr>
        <p:spPr>
          <a:xfrm>
            <a:off x="838200" y="1596683"/>
            <a:ext cx="10515600" cy="458028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4000"/>
              </a:lnSpc>
              <a:spcBef>
                <a:spcPts val="0"/>
              </a:spcBef>
              <a:spcAft>
                <a:spcPts val="0"/>
              </a:spcAft>
              <a:buClr>
                <a:schemeClr val="dk2"/>
              </a:buClr>
              <a:buSzPct val="100000"/>
              <a:buNone/>
            </a:pPr>
            <a:r>
              <a:rPr lang="en-US" sz="2800"/>
              <a:t>The pinyin system was developed in the 1950s by many linguists, including Zhou Youguang, based on earlier romanizations of Chinese. It was published by the Chinese government in 1958 and revised several times. The International Organization for Standardization (ISO) adopted pinyin as an international standard in 1982, followed by the United Nations in 1986. The system was adopted as the official standard in Taiwan in 2009, where it is used for international events rather than for educational or computer input purposes. But ‘some cities, businesses, and organizations, notably in the south of Taiwan, did not accept this’, so it remains one of several rival romanization systems in use. The word Hànyǔ means ‘The spoken language of the Han people.’ Pīnyīn  literally means ‘spelled sounds.’”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Structure of Pinyin </a:t>
            </a:r>
            <a:endParaRPr/>
          </a:p>
        </p:txBody>
      </p:sp>
      <p:sp>
        <p:nvSpPr>
          <p:cNvPr id="122" name="Google Shape;122;p5"/>
          <p:cNvSpPr txBox="1"/>
          <p:nvPr>
            <p:ph idx="1" type="body"/>
          </p:nvPr>
        </p:nvSpPr>
        <p:spPr>
          <a:xfrm>
            <a:off x="838200" y="1589649"/>
            <a:ext cx="10515600" cy="4587314"/>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400"/>
              <a:buNone/>
            </a:pPr>
            <a:r>
              <a:rPr lang="en-US" sz="2400"/>
              <a:t>Pinyin is used to record the sounds of Mandarin. The basic unit of Mandarin pronunciation is called “syllable (yīnjié，音节)”.  Usually one Mandarin syllable is spelled with one initial followed by one final, and a tone, except for the special syllable –er.</a:t>
            </a:r>
            <a:endParaRPr/>
          </a:p>
        </p:txBody>
      </p:sp>
      <p:pic>
        <p:nvPicPr>
          <p:cNvPr id="123" name="Google Shape;123;p5"/>
          <p:cNvPicPr preferRelativeResize="0"/>
          <p:nvPr/>
        </p:nvPicPr>
        <p:blipFill rotWithShape="1">
          <a:blip r:embed="rId3">
            <a:alphaModFix/>
          </a:blip>
          <a:srcRect b="0" l="0" r="0" t="0"/>
          <a:stretch/>
        </p:blipFill>
        <p:spPr>
          <a:xfrm>
            <a:off x="1797367" y="3338219"/>
            <a:ext cx="8048625" cy="2657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idx="1" type="body"/>
          </p:nvPr>
        </p:nvSpPr>
        <p:spPr>
          <a:xfrm>
            <a:off x="1371600" y="578644"/>
            <a:ext cx="2630557" cy="823912"/>
          </a:xfrm>
          <a:prstGeom prst="rect">
            <a:avLst/>
          </a:prstGeom>
          <a:noFill/>
          <a:ln>
            <a:noFill/>
          </a:ln>
        </p:spPr>
        <p:txBody>
          <a:bodyPr anchorCtr="0" anchor="b" bIns="45700" lIns="91425" spcFirstLastPara="1" rIns="91425" wrap="square" tIns="45700">
            <a:noAutofit/>
          </a:bodyPr>
          <a:lstStyle/>
          <a:p>
            <a:pPr indent="0" lvl="0" marL="0" rtl="0" algn="ctr">
              <a:lnSpc>
                <a:spcPct val="84000"/>
              </a:lnSpc>
              <a:spcBef>
                <a:spcPts val="0"/>
              </a:spcBef>
              <a:spcAft>
                <a:spcPts val="0"/>
              </a:spcAft>
              <a:buClr>
                <a:srgbClr val="C00000"/>
              </a:buClr>
              <a:buSzPts val="3000"/>
              <a:buNone/>
            </a:pPr>
            <a:r>
              <a:rPr lang="en-US">
                <a:solidFill>
                  <a:srgbClr val="C00000"/>
                </a:solidFill>
              </a:rPr>
              <a:t>Initials (21):</a:t>
            </a:r>
            <a:endParaRPr/>
          </a:p>
        </p:txBody>
      </p:sp>
      <p:graphicFrame>
        <p:nvGraphicFramePr>
          <p:cNvPr id="129" name="Google Shape;129;p6"/>
          <p:cNvGraphicFramePr/>
          <p:nvPr/>
        </p:nvGraphicFramePr>
        <p:xfrm>
          <a:off x="1813339" y="1694104"/>
          <a:ext cx="3000000" cy="3000000"/>
        </p:xfrm>
        <a:graphic>
          <a:graphicData uri="http://schemas.openxmlformats.org/drawingml/2006/table">
            <a:tbl>
              <a:tblPr bandRow="1" firstRow="1">
                <a:noFill/>
                <a:tableStyleId>{04EA08BB-91BC-40CF-88AF-34D070204335}</a:tableStyleId>
              </a:tblPr>
              <a:tblGrid>
                <a:gridCol w="3129725"/>
              </a:tblGrid>
              <a:tr h="370850">
                <a:tc>
                  <a:txBody>
                    <a:bodyPr/>
                    <a:lstStyle/>
                    <a:p>
                      <a:pPr indent="0" lvl="0" marL="0" marR="0" rtl="0" algn="l">
                        <a:spcBef>
                          <a:spcPts val="0"/>
                        </a:spcBef>
                        <a:spcAft>
                          <a:spcPts val="0"/>
                        </a:spcAft>
                        <a:buNone/>
                      </a:pPr>
                      <a:r>
                        <a:rPr b="0" lang="en-US" sz="3200" u="none" cap="none" strike="noStrike"/>
                        <a:t>b  p  m  f</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3200"/>
                        <a:t>d  t  n  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3200"/>
                        <a:t>g  k  h</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3200"/>
                        <a:t>j  q  x</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3200"/>
                        <a:t>z  c  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3200"/>
                        <a:t>zh  ch  sh  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1464365" y="388449"/>
            <a:ext cx="9601200" cy="61291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Initials: </a:t>
            </a:r>
            <a:r>
              <a:rPr lang="en-US">
                <a:solidFill>
                  <a:srgbClr val="C00000"/>
                </a:solidFill>
                <a:latin typeface="Arial"/>
                <a:ea typeface="Arial"/>
                <a:cs typeface="Arial"/>
                <a:sym typeface="Arial"/>
              </a:rPr>
              <a:t>b p m f d t n l</a:t>
            </a:r>
            <a:endParaRPr>
              <a:latin typeface="Arial"/>
              <a:ea typeface="Arial"/>
              <a:cs typeface="Arial"/>
              <a:sym typeface="Arial"/>
            </a:endParaRPr>
          </a:p>
        </p:txBody>
      </p:sp>
      <p:sp>
        <p:nvSpPr>
          <p:cNvPr id="135" name="Google Shape;135;p7"/>
          <p:cNvSpPr txBox="1"/>
          <p:nvPr>
            <p:ph idx="1" type="body"/>
          </p:nvPr>
        </p:nvSpPr>
        <p:spPr>
          <a:xfrm>
            <a:off x="1464365" y="1444487"/>
            <a:ext cx="10356574" cy="4735562"/>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000"/>
              <a:buNone/>
            </a:pPr>
            <a:r>
              <a:rPr lang="en-US">
                <a:solidFill>
                  <a:srgbClr val="C00000"/>
                </a:solidFill>
                <a:latin typeface="Arial"/>
                <a:ea typeface="Arial"/>
                <a:cs typeface="Arial"/>
                <a:sym typeface="Arial"/>
              </a:rPr>
              <a:t>B  </a:t>
            </a:r>
            <a:r>
              <a:rPr lang="en-US">
                <a:latin typeface="Arial"/>
                <a:ea typeface="Arial"/>
                <a:cs typeface="Arial"/>
                <a:sym typeface="Arial"/>
              </a:rPr>
              <a:t>Like the p in ‘spy’ or ‘spa’; voiceless</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P</a:t>
            </a:r>
            <a:r>
              <a:rPr lang="en-US">
                <a:latin typeface="Arial"/>
                <a:ea typeface="Arial"/>
                <a:cs typeface="Arial"/>
                <a:sym typeface="Arial"/>
              </a:rPr>
              <a:t>  Like the p in ‘pie’ but with a stronger puff of breathe; aspirated</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M  </a:t>
            </a:r>
            <a:r>
              <a:rPr lang="en-US">
                <a:latin typeface="Arial"/>
                <a:ea typeface="Arial"/>
                <a:cs typeface="Arial"/>
                <a:sym typeface="Arial"/>
              </a:rPr>
              <a:t>Like the m in ‘my’</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F  </a:t>
            </a:r>
            <a:r>
              <a:rPr lang="en-US">
                <a:latin typeface="Arial"/>
                <a:ea typeface="Arial"/>
                <a:cs typeface="Arial"/>
                <a:sym typeface="Arial"/>
              </a:rPr>
              <a:t>Like the f in ‘flight’</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D  </a:t>
            </a:r>
            <a:r>
              <a:rPr lang="en-US">
                <a:latin typeface="Arial"/>
                <a:ea typeface="Arial"/>
                <a:cs typeface="Arial"/>
                <a:sym typeface="Arial"/>
              </a:rPr>
              <a:t>Like the t in ‘steam’; voiceless</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T  </a:t>
            </a:r>
            <a:r>
              <a:rPr lang="en-US">
                <a:latin typeface="Arial"/>
                <a:ea typeface="Arial"/>
                <a:cs typeface="Arial"/>
                <a:sym typeface="Arial"/>
              </a:rPr>
              <a:t>Like the t in ‘tea’ but with a strong puff of breathe; aspirated</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N  </a:t>
            </a:r>
            <a:r>
              <a:rPr lang="en-US">
                <a:latin typeface="Arial"/>
                <a:ea typeface="Arial"/>
                <a:cs typeface="Arial"/>
                <a:sym typeface="Arial"/>
              </a:rPr>
              <a:t>Like the n in ‘neat’; move the tip of the tongue slightly more forward </a:t>
            </a:r>
            <a:endParaRPr/>
          </a:p>
          <a:p>
            <a:pPr indent="0" lvl="0" marL="0" rtl="0" algn="l">
              <a:lnSpc>
                <a:spcPct val="94000"/>
              </a:lnSpc>
              <a:spcBef>
                <a:spcPts val="1200"/>
              </a:spcBef>
              <a:spcAft>
                <a:spcPts val="0"/>
              </a:spcAft>
              <a:buClr>
                <a:srgbClr val="C00000"/>
              </a:buClr>
              <a:buSzPts val="2000"/>
              <a:buNone/>
            </a:pPr>
            <a:r>
              <a:rPr lang="en-US">
                <a:solidFill>
                  <a:srgbClr val="C00000"/>
                </a:solidFill>
                <a:latin typeface="Arial"/>
                <a:ea typeface="Arial"/>
                <a:cs typeface="Arial"/>
                <a:sym typeface="Arial"/>
              </a:rPr>
              <a:t>L  </a:t>
            </a:r>
            <a:r>
              <a:rPr lang="en-US">
                <a:latin typeface="Arial"/>
                <a:ea typeface="Arial"/>
                <a:cs typeface="Arial"/>
                <a:sym typeface="Arial"/>
              </a:rPr>
              <a:t>Like the l in ‘leaf’ but tenser; move the tip of the tongue slightly more forward</a:t>
            </a:r>
            <a:endParaRPr/>
          </a:p>
          <a:p>
            <a:pPr indent="0" lvl="0" marL="0" rtl="0" algn="l">
              <a:lnSpc>
                <a:spcPct val="94000"/>
              </a:lnSpc>
              <a:spcBef>
                <a:spcPts val="1200"/>
              </a:spcBef>
              <a:spcAft>
                <a:spcPts val="0"/>
              </a:spcAft>
              <a:buClr>
                <a:schemeClr val="dk2"/>
              </a:buClr>
              <a:buSzPts val="2000"/>
              <a:buNone/>
            </a:pPr>
            <a:r>
              <a:t/>
            </a:r>
            <a:endParaRPr>
              <a:latin typeface="Arial"/>
              <a:ea typeface="Arial"/>
              <a:cs typeface="Arial"/>
              <a:sym typeface="Arial"/>
            </a:endParaRPr>
          </a:p>
        </p:txBody>
      </p:sp>
      <p:sp>
        <p:nvSpPr>
          <p:cNvPr id="136" name="Google Shape;136;p7"/>
          <p:cNvSpPr txBox="1"/>
          <p:nvPr/>
        </p:nvSpPr>
        <p:spPr>
          <a:xfrm>
            <a:off x="9024730" y="1758003"/>
            <a:ext cx="2915479" cy="2308324"/>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C00000"/>
                </a:solidFill>
                <a:latin typeface="Libre Franklin"/>
                <a:ea typeface="Libre Franklin"/>
                <a:cs typeface="Libre Franklin"/>
                <a:sym typeface="Libre Franklin"/>
              </a:rPr>
              <a:t>Voiced vs Unvoiced Sounds</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A </a:t>
            </a:r>
            <a:r>
              <a:rPr b="1" lang="en-US" sz="1800">
                <a:solidFill>
                  <a:schemeClr val="dk1"/>
                </a:solidFill>
                <a:latin typeface="Libre Franklin"/>
                <a:ea typeface="Libre Franklin"/>
                <a:cs typeface="Libre Franklin"/>
                <a:sym typeface="Libre Franklin"/>
              </a:rPr>
              <a:t>voiced sound</a:t>
            </a:r>
            <a:r>
              <a:rPr lang="en-US" sz="1800">
                <a:solidFill>
                  <a:schemeClr val="dk1"/>
                </a:solidFill>
                <a:latin typeface="Libre Franklin"/>
                <a:ea typeface="Libre Franklin"/>
                <a:cs typeface="Libre Franklin"/>
                <a:sym typeface="Libre Franklin"/>
              </a:rPr>
              <a:t> is one in which the vocal cords vibrate, and an </a:t>
            </a:r>
            <a:r>
              <a:rPr b="1" lang="en-US" sz="1800">
                <a:solidFill>
                  <a:schemeClr val="dk1"/>
                </a:solidFill>
                <a:latin typeface="Libre Franklin"/>
                <a:ea typeface="Libre Franklin"/>
                <a:cs typeface="Libre Franklin"/>
                <a:sym typeface="Libre Franklin"/>
              </a:rPr>
              <a:t>unvoiced sound</a:t>
            </a:r>
            <a:r>
              <a:rPr lang="en-US" sz="1800">
                <a:solidFill>
                  <a:schemeClr val="dk1"/>
                </a:solidFill>
                <a:latin typeface="Libre Franklin"/>
                <a:ea typeface="Libre Franklin"/>
                <a:cs typeface="Libre Franklin"/>
                <a:sym typeface="Libre Franklin"/>
              </a:rPr>
              <a:t> is one in which they do not. </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[s] is an unvoiced sound.</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[z] is a voiced sound.</a:t>
            </a:r>
            <a:endParaRPr/>
          </a:p>
        </p:txBody>
      </p:sp>
      <p:sp>
        <p:nvSpPr>
          <p:cNvPr id="137" name="Google Shape;137;p7"/>
          <p:cNvSpPr txBox="1"/>
          <p:nvPr/>
        </p:nvSpPr>
        <p:spPr>
          <a:xfrm>
            <a:off x="1669774" y="4967765"/>
            <a:ext cx="3949148" cy="1200329"/>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Libre Franklin"/>
                <a:ea typeface="Libre Franklin"/>
                <a:cs typeface="Libre Franklin"/>
                <a:sym typeface="Libre Franklin"/>
              </a:rPr>
              <a:t>Aspirated Sounds</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An</a:t>
            </a:r>
            <a:r>
              <a:rPr b="1" lang="en-US" sz="1800">
                <a:solidFill>
                  <a:schemeClr val="dk1"/>
                </a:solidFill>
                <a:latin typeface="Libre Franklin"/>
                <a:ea typeface="Libre Franklin"/>
                <a:cs typeface="Libre Franklin"/>
                <a:sym typeface="Libre Franklin"/>
              </a:rPr>
              <a:t> aspirated</a:t>
            </a:r>
            <a:r>
              <a:rPr lang="en-US" sz="1800">
                <a:solidFill>
                  <a:schemeClr val="dk1"/>
                </a:solidFill>
                <a:latin typeface="Libre Franklin"/>
                <a:ea typeface="Libre Franklin"/>
                <a:cs typeface="Libre Franklin"/>
                <a:sym typeface="Libre Franklin"/>
              </a:rPr>
              <a:t> sound is pronounced with an accompanying forceful expulsion of air</a:t>
            </a:r>
            <a:endParaRPr/>
          </a:p>
        </p:txBody>
      </p:sp>
      <p:sp>
        <p:nvSpPr>
          <p:cNvPr id="138" name="Google Shape;138;p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Reference: 'Basic Spoken Chinese’ by Cornelius C Kubler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144" name="Google Shape;144;p8"/>
          <p:cNvSpPr txBox="1"/>
          <p:nvPr>
            <p:ph idx="1" type="body"/>
          </p:nvPr>
        </p:nvSpPr>
        <p:spPr>
          <a:xfrm>
            <a:off x="1371600"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145" name="Google Shape;145;p8"/>
          <p:cNvGraphicFramePr/>
          <p:nvPr/>
        </p:nvGraphicFramePr>
        <p:xfrm>
          <a:off x="1371600" y="1338470"/>
          <a:ext cx="3000000" cy="3000000"/>
        </p:xfrm>
        <a:graphic>
          <a:graphicData uri="http://schemas.openxmlformats.org/drawingml/2006/table">
            <a:tbl>
              <a:tblPr bandRow="1" firstRow="1">
                <a:noFill/>
                <a:tableStyleId>{04EA08BB-91BC-40CF-88AF-34D070204335}</a:tableStyleId>
              </a:tblPr>
              <a:tblGrid>
                <a:gridCol w="1200150"/>
                <a:gridCol w="1200150"/>
                <a:gridCol w="1200150"/>
                <a:gridCol w="1200150"/>
                <a:gridCol w="1200150"/>
                <a:gridCol w="1200150"/>
                <a:gridCol w="1200150"/>
                <a:gridCol w="1200150"/>
              </a:tblGrid>
              <a:tr h="754825">
                <a:tc>
                  <a:txBody>
                    <a:bodyPr/>
                    <a:lstStyle/>
                    <a:p>
                      <a:pPr indent="0" lvl="0" marL="0" marR="0" rtl="0" algn="l">
                        <a:lnSpc>
                          <a:spcPct val="100000"/>
                        </a:lnSpc>
                        <a:spcBef>
                          <a:spcPts val="0"/>
                        </a:spcBef>
                        <a:spcAft>
                          <a:spcPts val="0"/>
                        </a:spcAft>
                        <a:buClr>
                          <a:schemeClr val="dk1"/>
                        </a:buClr>
                        <a:buSzPts val="2800"/>
                        <a:buFont typeface="Arial"/>
                        <a:buNone/>
                      </a:pPr>
                      <a:r>
                        <a:rPr b="0" lang="en-US" sz="2800">
                          <a:latin typeface="Arial"/>
                          <a:ea typeface="Arial"/>
                          <a:cs typeface="Arial"/>
                          <a:sym typeface="Arial"/>
                        </a:rPr>
                        <a:t>ba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pa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ma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fa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da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ta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na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la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800">
                          <a:latin typeface="Arial"/>
                          <a:ea typeface="Arial"/>
                          <a:cs typeface="Arial"/>
                          <a:sym typeface="Arial"/>
                        </a:rPr>
                        <a:t>bu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pu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mu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fu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du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tu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nu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800">
                          <a:latin typeface="Arial"/>
                          <a:ea typeface="Arial"/>
                          <a:cs typeface="Arial"/>
                          <a:sym typeface="Arial"/>
                        </a:rPr>
                        <a:t>lu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lang="en-US" sz="2800">
                          <a:latin typeface="Arial"/>
                          <a:ea typeface="Arial"/>
                          <a:cs typeface="Arial"/>
                          <a:sym typeface="Arial"/>
                        </a:rPr>
                        <a:t>ban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pan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man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fan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dan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tan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nan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lan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lang="en-US" sz="2800">
                          <a:latin typeface="Arial"/>
                          <a:ea typeface="Arial"/>
                          <a:cs typeface="Arial"/>
                          <a:sym typeface="Arial"/>
                        </a:rPr>
                        <a:t>bang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pang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mang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fang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dang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tang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nang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lang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lang="en-US" sz="2800">
                          <a:latin typeface="Arial"/>
                          <a:ea typeface="Arial"/>
                          <a:cs typeface="Arial"/>
                          <a:sym typeface="Arial"/>
                        </a:rPr>
                        <a:t>ben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pen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men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fen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den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ten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nen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28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lang="en-US" sz="2800">
                          <a:latin typeface="Arial"/>
                          <a:ea typeface="Arial"/>
                          <a:cs typeface="Arial"/>
                          <a:sym typeface="Arial"/>
                        </a:rPr>
                        <a:t>beng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peng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meng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feng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deng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teng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neng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2800">
                          <a:latin typeface="Arial"/>
                          <a:ea typeface="Arial"/>
                          <a:cs typeface="Arial"/>
                          <a:sym typeface="Arial"/>
                        </a:rPr>
                        <a:t>leng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46" name="Google Shape;146;p8"/>
          <p:cNvPicPr preferRelativeResize="0"/>
          <p:nvPr/>
        </p:nvPicPr>
        <p:blipFill rotWithShape="1">
          <a:blip r:embed="rId3">
            <a:alphaModFix/>
          </a:blip>
          <a:srcRect b="0" l="0" r="0" t="0"/>
          <a:stretch/>
        </p:blipFill>
        <p:spPr>
          <a:xfrm>
            <a:off x="11065548" y="1689662"/>
            <a:ext cx="424066" cy="424066"/>
          </a:xfrm>
          <a:prstGeom prst="rect">
            <a:avLst/>
          </a:prstGeom>
          <a:noFill/>
          <a:ln>
            <a:noFill/>
          </a:ln>
        </p:spPr>
      </p:pic>
      <p:pic>
        <p:nvPicPr>
          <p:cNvPr id="147" name="Google Shape;147;p8"/>
          <p:cNvPicPr preferRelativeResize="0"/>
          <p:nvPr/>
        </p:nvPicPr>
        <p:blipFill rotWithShape="1">
          <a:blip r:embed="rId3">
            <a:alphaModFix/>
          </a:blip>
          <a:srcRect b="0" l="0" r="0" t="0"/>
          <a:stretch/>
        </p:blipFill>
        <p:spPr>
          <a:xfrm>
            <a:off x="11078806" y="2363861"/>
            <a:ext cx="424067" cy="424067"/>
          </a:xfrm>
          <a:prstGeom prst="rect">
            <a:avLst/>
          </a:prstGeom>
          <a:noFill/>
          <a:ln>
            <a:noFill/>
          </a:ln>
        </p:spPr>
      </p:pic>
      <p:pic>
        <p:nvPicPr>
          <p:cNvPr id="148" name="Google Shape;148;p8"/>
          <p:cNvPicPr preferRelativeResize="0"/>
          <p:nvPr/>
        </p:nvPicPr>
        <p:blipFill rotWithShape="1">
          <a:blip r:embed="rId3">
            <a:alphaModFix/>
          </a:blip>
          <a:srcRect b="0" l="0" r="0" t="0"/>
          <a:stretch/>
        </p:blipFill>
        <p:spPr>
          <a:xfrm>
            <a:off x="11078812" y="3038061"/>
            <a:ext cx="427377" cy="427377"/>
          </a:xfrm>
          <a:prstGeom prst="rect">
            <a:avLst/>
          </a:prstGeom>
          <a:noFill/>
          <a:ln>
            <a:noFill/>
          </a:ln>
        </p:spPr>
      </p:pic>
      <p:pic>
        <p:nvPicPr>
          <p:cNvPr id="149" name="Google Shape;149;p8"/>
          <p:cNvPicPr preferRelativeResize="0"/>
          <p:nvPr/>
        </p:nvPicPr>
        <p:blipFill rotWithShape="1">
          <a:blip r:embed="rId3">
            <a:alphaModFix/>
          </a:blip>
          <a:srcRect b="0" l="0" r="0" t="0"/>
          <a:stretch/>
        </p:blipFill>
        <p:spPr>
          <a:xfrm>
            <a:off x="11078812" y="3780180"/>
            <a:ext cx="424068" cy="424068"/>
          </a:xfrm>
          <a:prstGeom prst="rect">
            <a:avLst/>
          </a:prstGeom>
          <a:noFill/>
          <a:ln>
            <a:noFill/>
          </a:ln>
        </p:spPr>
      </p:pic>
      <p:pic>
        <p:nvPicPr>
          <p:cNvPr id="150" name="Google Shape;150;p8"/>
          <p:cNvPicPr preferRelativeResize="0"/>
          <p:nvPr/>
        </p:nvPicPr>
        <p:blipFill rotWithShape="1">
          <a:blip r:embed="rId3">
            <a:alphaModFix/>
          </a:blip>
          <a:srcRect b="0" l="0" r="0" t="0"/>
          <a:stretch/>
        </p:blipFill>
        <p:spPr>
          <a:xfrm>
            <a:off x="11078813" y="4518990"/>
            <a:ext cx="424068" cy="424068"/>
          </a:xfrm>
          <a:prstGeom prst="rect">
            <a:avLst/>
          </a:prstGeom>
          <a:noFill/>
          <a:ln>
            <a:noFill/>
          </a:ln>
        </p:spPr>
      </p:pic>
      <p:pic>
        <p:nvPicPr>
          <p:cNvPr id="151" name="Google Shape;151;p8"/>
          <p:cNvPicPr preferRelativeResize="0"/>
          <p:nvPr/>
        </p:nvPicPr>
        <p:blipFill rotWithShape="1">
          <a:blip r:embed="rId3">
            <a:alphaModFix/>
          </a:blip>
          <a:srcRect b="0" l="0" r="0" t="0"/>
          <a:stretch/>
        </p:blipFill>
        <p:spPr>
          <a:xfrm>
            <a:off x="11078817" y="5257800"/>
            <a:ext cx="424068" cy="4240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1371600" y="685800"/>
            <a:ext cx="9601200" cy="626165"/>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Initials: </a:t>
            </a:r>
            <a:r>
              <a:rPr lang="en-US">
                <a:solidFill>
                  <a:srgbClr val="C00000"/>
                </a:solidFill>
                <a:latin typeface="Arial"/>
                <a:ea typeface="Arial"/>
                <a:cs typeface="Arial"/>
                <a:sym typeface="Arial"/>
              </a:rPr>
              <a:t>g  k  h</a:t>
            </a:r>
            <a:endParaRPr>
              <a:latin typeface="Arial"/>
              <a:ea typeface="Arial"/>
              <a:cs typeface="Arial"/>
              <a:sym typeface="Arial"/>
            </a:endParaRPr>
          </a:p>
        </p:txBody>
      </p:sp>
      <p:sp>
        <p:nvSpPr>
          <p:cNvPr id="157" name="Google Shape;157;p9"/>
          <p:cNvSpPr txBox="1"/>
          <p:nvPr>
            <p:ph idx="1" type="body"/>
          </p:nvPr>
        </p:nvSpPr>
        <p:spPr>
          <a:xfrm>
            <a:off x="1371600" y="1484243"/>
            <a:ext cx="9601200" cy="4383157"/>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000"/>
              <a:buNone/>
            </a:pPr>
            <a:r>
              <a:rPr lang="en-US">
                <a:solidFill>
                  <a:srgbClr val="C00000"/>
                </a:solidFill>
              </a:rPr>
              <a:t>G</a:t>
            </a:r>
            <a:r>
              <a:rPr lang="en-US"/>
              <a:t>  Like the k in ‘sky; voiceless</a:t>
            </a:r>
            <a:endParaRPr/>
          </a:p>
          <a:p>
            <a:pPr indent="0" lvl="0" marL="0" rtl="0" algn="l">
              <a:lnSpc>
                <a:spcPct val="94000"/>
              </a:lnSpc>
              <a:spcBef>
                <a:spcPts val="1200"/>
              </a:spcBef>
              <a:spcAft>
                <a:spcPts val="0"/>
              </a:spcAft>
              <a:buClr>
                <a:srgbClr val="C00000"/>
              </a:buClr>
              <a:buSzPts val="2000"/>
              <a:buNone/>
            </a:pPr>
            <a:r>
              <a:rPr lang="en-US">
                <a:solidFill>
                  <a:srgbClr val="C00000"/>
                </a:solidFill>
              </a:rPr>
              <a:t>K</a:t>
            </a:r>
            <a:r>
              <a:rPr lang="en-US"/>
              <a:t>  Like the k in ‘kite’ but with a stronger puff of breath; aspirated</a:t>
            </a:r>
            <a:endParaRPr/>
          </a:p>
          <a:p>
            <a:pPr indent="0" lvl="0" marL="0" rtl="0" algn="l">
              <a:lnSpc>
                <a:spcPct val="94000"/>
              </a:lnSpc>
              <a:spcBef>
                <a:spcPts val="1200"/>
              </a:spcBef>
              <a:spcAft>
                <a:spcPts val="0"/>
              </a:spcAft>
              <a:buClr>
                <a:srgbClr val="C00000"/>
              </a:buClr>
              <a:buSzPts val="2000"/>
              <a:buNone/>
            </a:pPr>
            <a:r>
              <a:rPr lang="en-US">
                <a:solidFill>
                  <a:srgbClr val="C00000"/>
                </a:solidFill>
              </a:rPr>
              <a:t>H</a:t>
            </a:r>
            <a:r>
              <a:rPr lang="en-US"/>
              <a:t>  Like the h in ‘hand’ but sounds rougher; </a:t>
            </a:r>
            <a:r>
              <a:rPr lang="en-US" u="sng">
                <a:solidFill>
                  <a:schemeClr val="hlink"/>
                </a:solidFill>
                <a:hlinkClick r:id="rId3"/>
              </a:rPr>
              <a:t>fricative</a:t>
            </a:r>
            <a:endParaRPr/>
          </a:p>
          <a:p>
            <a:pPr indent="0" lvl="0" marL="0" rtl="0" algn="l">
              <a:lnSpc>
                <a:spcPct val="94000"/>
              </a:lnSpc>
              <a:spcBef>
                <a:spcPts val="1200"/>
              </a:spcBef>
              <a:spcAft>
                <a:spcPts val="0"/>
              </a:spcAft>
              <a:buClr>
                <a:schemeClr val="dk2"/>
              </a:buClr>
              <a:buSzPts val="2000"/>
              <a:buNone/>
            </a:pPr>
            <a:r>
              <a:t/>
            </a:r>
            <a:endParaRPr/>
          </a:p>
          <a:p>
            <a:pPr indent="0" lvl="0" marL="0" rtl="0" algn="l">
              <a:lnSpc>
                <a:spcPct val="94000"/>
              </a:lnSpc>
              <a:spcBef>
                <a:spcPts val="1200"/>
              </a:spcBef>
              <a:spcAft>
                <a:spcPts val="0"/>
              </a:spcAft>
              <a:buClr>
                <a:schemeClr val="dk2"/>
              </a:buClr>
              <a:buSzPts val="2000"/>
              <a:buNone/>
            </a:pPr>
            <a:r>
              <a:t/>
            </a:r>
            <a:endParaRPr/>
          </a:p>
          <a:p>
            <a:pPr indent="0" lvl="0" marL="0" rtl="0" algn="l">
              <a:lnSpc>
                <a:spcPct val="94000"/>
              </a:lnSpc>
              <a:spcBef>
                <a:spcPts val="1200"/>
              </a:spcBef>
              <a:spcAft>
                <a:spcPts val="0"/>
              </a:spcAft>
              <a:buClr>
                <a:schemeClr val="dk2"/>
              </a:buClr>
              <a:buSzPts val="2000"/>
              <a:buNone/>
            </a:pPr>
            <a:r>
              <a:t/>
            </a:r>
            <a:endParaRPr/>
          </a:p>
        </p:txBody>
      </p:sp>
      <p:sp>
        <p:nvSpPr>
          <p:cNvPr id="158" name="Google Shape;158;p9"/>
          <p:cNvSpPr txBox="1"/>
          <p:nvPr/>
        </p:nvSpPr>
        <p:spPr>
          <a:xfrm>
            <a:off x="7527235" y="4140875"/>
            <a:ext cx="3975652" cy="2031325"/>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Libre Franklin"/>
                <a:ea typeface="Libre Franklin"/>
                <a:cs typeface="Libre Franklin"/>
                <a:sym typeface="Libre Franklin"/>
              </a:rPr>
              <a:t>Fricative </a:t>
            </a:r>
            <a:r>
              <a:rPr lang="en-US" sz="1800">
                <a:solidFill>
                  <a:schemeClr val="dk1"/>
                </a:solidFill>
                <a:latin typeface="Libre Franklin"/>
                <a:ea typeface="Libre Franklin"/>
                <a:cs typeface="Libre Franklin"/>
                <a:sym typeface="Libre Franklin"/>
              </a:rPr>
              <a:t>sounds, such as English f or v, are produced by bringing the mouth into position to block the passage of the airstream, but not making complete closure, so that air moving through the mouth generates audible friction.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164" name="Google Shape;164;p10"/>
          <p:cNvSpPr txBox="1"/>
          <p:nvPr>
            <p:ph idx="1" type="body"/>
          </p:nvPr>
        </p:nvSpPr>
        <p:spPr>
          <a:xfrm>
            <a:off x="1530626"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165" name="Google Shape;165;p10"/>
          <p:cNvGraphicFramePr/>
          <p:nvPr/>
        </p:nvGraphicFramePr>
        <p:xfrm>
          <a:off x="1649895" y="1338470"/>
          <a:ext cx="3000000" cy="3000000"/>
        </p:xfrm>
        <a:graphic>
          <a:graphicData uri="http://schemas.openxmlformats.org/drawingml/2006/table">
            <a:tbl>
              <a:tblPr bandRow="1" firstRow="1">
                <a:noFill/>
                <a:tableStyleId>{04EA08BB-91BC-40CF-88AF-34D070204335}</a:tableStyleId>
              </a:tblPr>
              <a:tblGrid>
                <a:gridCol w="1649250"/>
                <a:gridCol w="1649250"/>
                <a:gridCol w="1637950"/>
              </a:tblGrid>
              <a:tr h="754825">
                <a:tc>
                  <a:txBody>
                    <a:bodyPr/>
                    <a:lstStyle/>
                    <a:p>
                      <a:pPr indent="0" lvl="0" marL="0" marR="0" rtl="0" algn="l">
                        <a:spcBef>
                          <a:spcPts val="0"/>
                        </a:spcBef>
                        <a:spcAft>
                          <a:spcPts val="0"/>
                        </a:spcAft>
                        <a:buNone/>
                      </a:pPr>
                      <a:r>
                        <a:rPr b="0" lang="en-US" sz="2400">
                          <a:latin typeface="Arial"/>
                          <a:ea typeface="Arial"/>
                          <a:cs typeface="Arial"/>
                          <a:sym typeface="Arial"/>
                        </a:rPr>
                        <a:t>ga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ge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gu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gao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gei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gua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kua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66" name="Google Shape;166;p10"/>
          <p:cNvPicPr preferRelativeResize="0"/>
          <p:nvPr/>
        </p:nvPicPr>
        <p:blipFill rotWithShape="1">
          <a:blip r:embed="rId3">
            <a:alphaModFix/>
          </a:blip>
          <a:srcRect b="0" l="0" r="0" t="0"/>
          <a:stretch/>
        </p:blipFill>
        <p:spPr>
          <a:xfrm>
            <a:off x="6705599" y="1381540"/>
            <a:ext cx="437323" cy="437323"/>
          </a:xfrm>
          <a:prstGeom prst="rect">
            <a:avLst/>
          </a:prstGeom>
          <a:noFill/>
          <a:ln>
            <a:noFill/>
          </a:ln>
        </p:spPr>
      </p:pic>
      <p:pic>
        <p:nvPicPr>
          <p:cNvPr id="167" name="Google Shape;167;p10"/>
          <p:cNvPicPr preferRelativeResize="0"/>
          <p:nvPr/>
        </p:nvPicPr>
        <p:blipFill rotWithShape="1">
          <a:blip r:embed="rId3">
            <a:alphaModFix/>
          </a:blip>
          <a:srcRect b="0" l="0" r="0" t="0"/>
          <a:stretch/>
        </p:blipFill>
        <p:spPr>
          <a:xfrm>
            <a:off x="6705598" y="2193236"/>
            <a:ext cx="437323" cy="437323"/>
          </a:xfrm>
          <a:prstGeom prst="rect">
            <a:avLst/>
          </a:prstGeom>
          <a:noFill/>
          <a:ln>
            <a:noFill/>
          </a:ln>
        </p:spPr>
      </p:pic>
      <p:pic>
        <p:nvPicPr>
          <p:cNvPr id="168" name="Google Shape;168;p10"/>
          <p:cNvPicPr preferRelativeResize="0"/>
          <p:nvPr/>
        </p:nvPicPr>
        <p:blipFill rotWithShape="1">
          <a:blip r:embed="rId3">
            <a:alphaModFix/>
          </a:blip>
          <a:srcRect b="0" l="0" r="0" t="0"/>
          <a:stretch/>
        </p:blipFill>
        <p:spPr>
          <a:xfrm>
            <a:off x="6705597" y="2958547"/>
            <a:ext cx="437323" cy="437323"/>
          </a:xfrm>
          <a:prstGeom prst="rect">
            <a:avLst/>
          </a:prstGeom>
          <a:noFill/>
          <a:ln>
            <a:noFill/>
          </a:ln>
        </p:spPr>
      </p:pic>
      <p:pic>
        <p:nvPicPr>
          <p:cNvPr id="169" name="Google Shape;169;p10"/>
          <p:cNvPicPr preferRelativeResize="0"/>
          <p:nvPr/>
        </p:nvPicPr>
        <p:blipFill rotWithShape="1">
          <a:blip r:embed="rId3">
            <a:alphaModFix/>
          </a:blip>
          <a:srcRect b="0" l="0" r="0" t="0"/>
          <a:stretch/>
        </p:blipFill>
        <p:spPr>
          <a:xfrm>
            <a:off x="6705596" y="3657600"/>
            <a:ext cx="437323" cy="437323"/>
          </a:xfrm>
          <a:prstGeom prst="rect">
            <a:avLst/>
          </a:prstGeom>
          <a:noFill/>
          <a:ln>
            <a:noFill/>
          </a:ln>
        </p:spPr>
      </p:pic>
      <p:pic>
        <p:nvPicPr>
          <p:cNvPr id="170" name="Google Shape;170;p10"/>
          <p:cNvPicPr preferRelativeResize="0"/>
          <p:nvPr/>
        </p:nvPicPr>
        <p:blipFill rotWithShape="1">
          <a:blip r:embed="rId3">
            <a:alphaModFix/>
          </a:blip>
          <a:srcRect b="0" l="0" r="0" t="0"/>
          <a:stretch/>
        </p:blipFill>
        <p:spPr>
          <a:xfrm>
            <a:off x="6705596" y="4422911"/>
            <a:ext cx="437323" cy="437323"/>
          </a:xfrm>
          <a:prstGeom prst="rect">
            <a:avLst/>
          </a:prstGeom>
          <a:noFill/>
          <a:ln>
            <a:noFill/>
          </a:ln>
        </p:spPr>
      </p:pic>
      <p:pic>
        <p:nvPicPr>
          <p:cNvPr id="171" name="Google Shape;171;p10"/>
          <p:cNvPicPr preferRelativeResize="0"/>
          <p:nvPr/>
        </p:nvPicPr>
        <p:blipFill rotWithShape="1">
          <a:blip r:embed="rId3">
            <a:alphaModFix/>
          </a:blip>
          <a:srcRect b="0" l="0" r="0" t="0"/>
          <a:stretch/>
        </p:blipFill>
        <p:spPr>
          <a:xfrm>
            <a:off x="6705595" y="5151781"/>
            <a:ext cx="437323" cy="4373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type="title"/>
          </p:nvPr>
        </p:nvSpPr>
        <p:spPr>
          <a:xfrm>
            <a:off x="1371600" y="685800"/>
            <a:ext cx="9601200" cy="71893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Initials: j q x</a:t>
            </a:r>
            <a:endParaRPr/>
          </a:p>
        </p:txBody>
      </p:sp>
      <p:sp>
        <p:nvSpPr>
          <p:cNvPr id="177" name="Google Shape;177;p11"/>
          <p:cNvSpPr txBox="1"/>
          <p:nvPr>
            <p:ph idx="1" type="body"/>
          </p:nvPr>
        </p:nvSpPr>
        <p:spPr>
          <a:xfrm>
            <a:off x="1371600" y="1524000"/>
            <a:ext cx="9601200" cy="434340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000"/>
              <a:buNone/>
            </a:pPr>
            <a:r>
              <a:rPr lang="en-US">
                <a:solidFill>
                  <a:srgbClr val="C00000"/>
                </a:solidFill>
              </a:rPr>
              <a:t>J</a:t>
            </a:r>
            <a:r>
              <a:rPr lang="en-US"/>
              <a:t>  Like the j in ‘jeep’ with the middle part of the tongue pressed tightly against the roof   the mouth; fricative</a:t>
            </a:r>
            <a:endParaRPr/>
          </a:p>
          <a:p>
            <a:pPr indent="0" lvl="0" marL="0" rtl="0" algn="l">
              <a:lnSpc>
                <a:spcPct val="94000"/>
              </a:lnSpc>
              <a:spcBef>
                <a:spcPts val="1200"/>
              </a:spcBef>
              <a:spcAft>
                <a:spcPts val="0"/>
              </a:spcAft>
              <a:buClr>
                <a:srgbClr val="C00000"/>
              </a:buClr>
              <a:buSzPts val="2000"/>
              <a:buNone/>
            </a:pPr>
            <a:r>
              <a:rPr lang="en-US">
                <a:solidFill>
                  <a:srgbClr val="C00000"/>
                </a:solidFill>
              </a:rPr>
              <a:t>Q  </a:t>
            </a:r>
            <a:r>
              <a:rPr lang="en-US">
                <a:solidFill>
                  <a:schemeClr val="dk1"/>
                </a:solidFill>
              </a:rPr>
              <a:t>Like the ch in ‘cheap’ with a stronger puff of breath and with the middle part of the tongue pressed tightly against the roof of the mouth; fricative</a:t>
            </a:r>
            <a:endParaRPr/>
          </a:p>
          <a:p>
            <a:pPr indent="0" lvl="0" marL="0" rtl="0" algn="l">
              <a:lnSpc>
                <a:spcPct val="94000"/>
              </a:lnSpc>
              <a:spcBef>
                <a:spcPts val="1200"/>
              </a:spcBef>
              <a:spcAft>
                <a:spcPts val="0"/>
              </a:spcAft>
              <a:buClr>
                <a:srgbClr val="C00000"/>
              </a:buClr>
              <a:buSzPts val="2000"/>
              <a:buNone/>
            </a:pPr>
            <a:r>
              <a:rPr lang="en-US">
                <a:solidFill>
                  <a:srgbClr val="C00000"/>
                </a:solidFill>
              </a:rPr>
              <a:t>X</a:t>
            </a:r>
            <a:r>
              <a:rPr lang="en-US">
                <a:solidFill>
                  <a:schemeClr val="dk1"/>
                </a:solidFill>
              </a:rPr>
              <a:t>  Between the s in ‘see’ and the sh in ‘she’ with the middle part of the tongue pressed tightly against the roof of the mouth; fricative</a:t>
            </a:r>
            <a:endParaRPr/>
          </a:p>
          <a:p>
            <a:pPr indent="0" lvl="0" marL="0" rtl="0" algn="l">
              <a:lnSpc>
                <a:spcPct val="94000"/>
              </a:lnSpc>
              <a:spcBef>
                <a:spcPts val="1200"/>
              </a:spcBef>
              <a:spcAft>
                <a:spcPts val="0"/>
              </a:spcAft>
              <a:buClr>
                <a:schemeClr val="dk2"/>
              </a:buClr>
              <a:buSzPts val="2000"/>
              <a:buNone/>
            </a:pPr>
            <a:r>
              <a:t/>
            </a:r>
            <a:endParaRPr>
              <a:solidFill>
                <a:schemeClr val="dk1"/>
              </a:solidFill>
            </a:endParaRPr>
          </a:p>
          <a:p>
            <a:pPr indent="0" lvl="0" marL="0" rtl="0" algn="l">
              <a:lnSpc>
                <a:spcPct val="94000"/>
              </a:lnSpc>
              <a:spcBef>
                <a:spcPts val="1200"/>
              </a:spcBef>
              <a:spcAft>
                <a:spcPts val="0"/>
              </a:spcAft>
              <a:buClr>
                <a:schemeClr val="dk2"/>
              </a:buClr>
              <a:buSzPts val="2000"/>
              <a:buNone/>
            </a:pPr>
            <a:r>
              <a:t/>
            </a:r>
            <a:endParaRPr/>
          </a:p>
        </p:txBody>
      </p:sp>
      <p:pic>
        <p:nvPicPr>
          <p:cNvPr id="178" name="Google Shape;178;p11"/>
          <p:cNvPicPr preferRelativeResize="0"/>
          <p:nvPr/>
        </p:nvPicPr>
        <p:blipFill rotWithShape="1">
          <a:blip r:embed="rId3">
            <a:alphaModFix/>
          </a:blip>
          <a:srcRect b="0" l="0" r="0" t="0"/>
          <a:stretch/>
        </p:blipFill>
        <p:spPr>
          <a:xfrm>
            <a:off x="7620001" y="3429000"/>
            <a:ext cx="2968486" cy="2968486"/>
          </a:xfrm>
          <a:prstGeom prst="rect">
            <a:avLst/>
          </a:prstGeom>
          <a:solidFill>
            <a:srgbClr val="FFFF00"/>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184" name="Google Shape;184;p12"/>
          <p:cNvSpPr txBox="1"/>
          <p:nvPr>
            <p:ph idx="1" type="body"/>
          </p:nvPr>
        </p:nvSpPr>
        <p:spPr>
          <a:xfrm>
            <a:off x="1371600"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185" name="Google Shape;185;p12"/>
          <p:cNvGraphicFramePr/>
          <p:nvPr/>
        </p:nvGraphicFramePr>
        <p:xfrm>
          <a:off x="1371600" y="1338470"/>
          <a:ext cx="3000000" cy="3000000"/>
        </p:xfrm>
        <a:graphic>
          <a:graphicData uri="http://schemas.openxmlformats.org/drawingml/2006/table">
            <a:tbl>
              <a:tblPr bandRow="1" firstRow="1">
                <a:noFill/>
                <a:tableStyleId>{04EA08BB-91BC-40CF-88AF-34D070204335}</a:tableStyleId>
              </a:tblPr>
              <a:tblGrid>
                <a:gridCol w="1080050"/>
                <a:gridCol w="1080050"/>
                <a:gridCol w="1080050"/>
              </a:tblGrid>
              <a:tr h="647000">
                <a:tc>
                  <a:txBody>
                    <a:bodyPr/>
                    <a:lstStyle/>
                    <a:p>
                      <a:pPr indent="0" lvl="0" marL="0" marR="0" rtl="0" algn="l">
                        <a:spcBef>
                          <a:spcPts val="0"/>
                        </a:spcBef>
                        <a:spcAft>
                          <a:spcPts val="0"/>
                        </a:spcAft>
                        <a:buNone/>
                      </a:pPr>
                      <a:r>
                        <a:rPr b="0" lang="en-US" sz="2400">
                          <a:latin typeface="Arial"/>
                          <a:ea typeface="Arial"/>
                          <a:cs typeface="Arial"/>
                          <a:sym typeface="Arial"/>
                        </a:rPr>
                        <a:t>ji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jing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186" name="Google Shape;186;p12"/>
          <p:cNvPicPr preferRelativeResize="0"/>
          <p:nvPr/>
        </p:nvPicPr>
        <p:blipFill rotWithShape="1">
          <a:blip r:embed="rId3">
            <a:alphaModFix/>
          </a:blip>
          <a:srcRect b="0" l="0" r="0" t="0"/>
          <a:stretch/>
        </p:blipFill>
        <p:spPr>
          <a:xfrm>
            <a:off x="4823791" y="1381540"/>
            <a:ext cx="450574" cy="450574"/>
          </a:xfrm>
          <a:prstGeom prst="rect">
            <a:avLst/>
          </a:prstGeom>
          <a:noFill/>
          <a:ln>
            <a:noFill/>
          </a:ln>
        </p:spPr>
      </p:pic>
      <p:pic>
        <p:nvPicPr>
          <p:cNvPr id="187" name="Google Shape;187;p12"/>
          <p:cNvPicPr preferRelativeResize="0"/>
          <p:nvPr/>
        </p:nvPicPr>
        <p:blipFill rotWithShape="1">
          <a:blip r:embed="rId3">
            <a:alphaModFix/>
          </a:blip>
          <a:srcRect b="0" l="0" r="0" t="0"/>
          <a:stretch/>
        </p:blipFill>
        <p:spPr>
          <a:xfrm>
            <a:off x="4823791" y="2034210"/>
            <a:ext cx="450574" cy="450574"/>
          </a:xfrm>
          <a:prstGeom prst="rect">
            <a:avLst/>
          </a:prstGeom>
          <a:noFill/>
          <a:ln>
            <a:noFill/>
          </a:ln>
        </p:spPr>
      </p:pic>
      <p:pic>
        <p:nvPicPr>
          <p:cNvPr id="188" name="Google Shape;188;p12"/>
          <p:cNvPicPr preferRelativeResize="0"/>
          <p:nvPr/>
        </p:nvPicPr>
        <p:blipFill rotWithShape="1">
          <a:blip r:embed="rId3">
            <a:alphaModFix/>
          </a:blip>
          <a:srcRect b="0" l="0" r="0" t="0"/>
          <a:stretch/>
        </p:blipFill>
        <p:spPr>
          <a:xfrm>
            <a:off x="4823791" y="2643810"/>
            <a:ext cx="450574" cy="450574"/>
          </a:xfrm>
          <a:prstGeom prst="rect">
            <a:avLst/>
          </a:prstGeom>
          <a:noFill/>
          <a:ln>
            <a:noFill/>
          </a:ln>
        </p:spPr>
      </p:pic>
      <p:pic>
        <p:nvPicPr>
          <p:cNvPr id="189" name="Google Shape;189;p12"/>
          <p:cNvPicPr preferRelativeResize="0"/>
          <p:nvPr/>
        </p:nvPicPr>
        <p:blipFill rotWithShape="1">
          <a:blip r:embed="rId3">
            <a:alphaModFix/>
          </a:blip>
          <a:srcRect b="0" l="0" r="0" t="0"/>
          <a:stretch/>
        </p:blipFill>
        <p:spPr>
          <a:xfrm>
            <a:off x="4823791" y="3298135"/>
            <a:ext cx="450574" cy="450574"/>
          </a:xfrm>
          <a:prstGeom prst="rect">
            <a:avLst/>
          </a:prstGeom>
          <a:noFill/>
          <a:ln>
            <a:noFill/>
          </a:ln>
        </p:spPr>
      </p:pic>
      <p:pic>
        <p:nvPicPr>
          <p:cNvPr id="190" name="Google Shape;190;p12"/>
          <p:cNvPicPr preferRelativeResize="0"/>
          <p:nvPr/>
        </p:nvPicPr>
        <p:blipFill rotWithShape="1">
          <a:blip r:embed="rId3">
            <a:alphaModFix/>
          </a:blip>
          <a:srcRect b="0" l="0" r="0" t="0"/>
          <a:stretch/>
        </p:blipFill>
        <p:spPr>
          <a:xfrm>
            <a:off x="4823791" y="3863010"/>
            <a:ext cx="450574" cy="450574"/>
          </a:xfrm>
          <a:prstGeom prst="rect">
            <a:avLst/>
          </a:prstGeom>
          <a:noFill/>
          <a:ln>
            <a:noFill/>
          </a:ln>
        </p:spPr>
      </p:pic>
      <p:pic>
        <p:nvPicPr>
          <p:cNvPr id="191" name="Google Shape;191;p12"/>
          <p:cNvPicPr preferRelativeResize="0"/>
          <p:nvPr/>
        </p:nvPicPr>
        <p:blipFill rotWithShape="1">
          <a:blip r:embed="rId3">
            <a:alphaModFix/>
          </a:blip>
          <a:srcRect b="0" l="0" r="0" t="0"/>
          <a:stretch/>
        </p:blipFill>
        <p:spPr>
          <a:xfrm>
            <a:off x="4823791" y="4482549"/>
            <a:ext cx="450574" cy="450574"/>
          </a:xfrm>
          <a:prstGeom prst="rect">
            <a:avLst/>
          </a:prstGeom>
          <a:noFill/>
          <a:ln>
            <a:noFill/>
          </a:ln>
        </p:spPr>
      </p:pic>
      <p:pic>
        <p:nvPicPr>
          <p:cNvPr id="192" name="Google Shape;192;p12"/>
          <p:cNvPicPr preferRelativeResize="0"/>
          <p:nvPr/>
        </p:nvPicPr>
        <p:blipFill rotWithShape="1">
          <a:blip r:embed="rId3">
            <a:alphaModFix/>
          </a:blip>
          <a:srcRect b="0" l="0" r="0" t="0"/>
          <a:stretch/>
        </p:blipFill>
        <p:spPr>
          <a:xfrm>
            <a:off x="4823791" y="5201480"/>
            <a:ext cx="450574" cy="4505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1371599" y="454855"/>
            <a:ext cx="7846131" cy="711336"/>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Initials: zh ch sh r</a:t>
            </a:r>
            <a:endParaRPr/>
          </a:p>
        </p:txBody>
      </p:sp>
      <p:sp>
        <p:nvSpPr>
          <p:cNvPr id="198" name="Google Shape;198;p13"/>
          <p:cNvSpPr txBox="1"/>
          <p:nvPr>
            <p:ph idx="1" type="body"/>
          </p:nvPr>
        </p:nvSpPr>
        <p:spPr>
          <a:xfrm>
            <a:off x="1371600" y="1166191"/>
            <a:ext cx="9601200" cy="470120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000"/>
              <a:buNone/>
            </a:pPr>
            <a:r>
              <a:rPr lang="en-US">
                <a:solidFill>
                  <a:srgbClr val="C00000"/>
                </a:solidFill>
              </a:rPr>
              <a:t>Zh</a:t>
            </a:r>
            <a:r>
              <a:rPr lang="en-US"/>
              <a:t>  Like the j in ‘jerk’ but stronger, unvoiced and with the tongue curled further back</a:t>
            </a:r>
            <a:endParaRPr/>
          </a:p>
          <a:p>
            <a:pPr indent="0" lvl="0" marL="0" rtl="0" algn="l">
              <a:lnSpc>
                <a:spcPct val="94000"/>
              </a:lnSpc>
              <a:spcBef>
                <a:spcPts val="1200"/>
              </a:spcBef>
              <a:spcAft>
                <a:spcPts val="0"/>
              </a:spcAft>
              <a:buClr>
                <a:srgbClr val="C00000"/>
              </a:buClr>
              <a:buSzPts val="2000"/>
              <a:buNone/>
            </a:pPr>
            <a:r>
              <a:rPr lang="en-US">
                <a:solidFill>
                  <a:srgbClr val="C00000"/>
                </a:solidFill>
              </a:rPr>
              <a:t>Ch</a:t>
            </a:r>
            <a:r>
              <a:rPr lang="en-US"/>
              <a:t>  Like the ch in ‘chirp’, voiced and with the tongue curled further back</a:t>
            </a:r>
            <a:endParaRPr/>
          </a:p>
          <a:p>
            <a:pPr indent="0" lvl="0" marL="0" rtl="0" algn="l">
              <a:lnSpc>
                <a:spcPct val="94000"/>
              </a:lnSpc>
              <a:spcBef>
                <a:spcPts val="1200"/>
              </a:spcBef>
              <a:spcAft>
                <a:spcPts val="0"/>
              </a:spcAft>
              <a:buClr>
                <a:srgbClr val="C00000"/>
              </a:buClr>
              <a:buSzPts val="2000"/>
              <a:buNone/>
            </a:pPr>
            <a:r>
              <a:rPr lang="en-US">
                <a:solidFill>
                  <a:srgbClr val="C00000"/>
                </a:solidFill>
              </a:rPr>
              <a:t>Sh</a:t>
            </a:r>
            <a:r>
              <a:rPr lang="en-US"/>
              <a:t>  Like the sh in ‘shrew’ with the tongue curled further back. </a:t>
            </a:r>
            <a:endParaRPr/>
          </a:p>
          <a:p>
            <a:pPr indent="0" lvl="0" marL="0" rtl="0" algn="l">
              <a:lnSpc>
                <a:spcPct val="94000"/>
              </a:lnSpc>
              <a:spcBef>
                <a:spcPts val="1200"/>
              </a:spcBef>
              <a:spcAft>
                <a:spcPts val="0"/>
              </a:spcAft>
              <a:buClr>
                <a:srgbClr val="C00000"/>
              </a:buClr>
              <a:buSzPts val="2000"/>
              <a:buNone/>
            </a:pPr>
            <a:r>
              <a:rPr lang="en-US">
                <a:solidFill>
                  <a:srgbClr val="C00000"/>
                </a:solidFill>
              </a:rPr>
              <a:t>R </a:t>
            </a:r>
            <a:r>
              <a:rPr lang="en-US"/>
              <a:t> Like the r in ‘shrew’ with the tongue tip curried a little further back; fricative</a:t>
            </a:r>
            <a:endParaRPr/>
          </a:p>
        </p:txBody>
      </p:sp>
      <p:pic>
        <p:nvPicPr>
          <p:cNvPr id="199" name="Google Shape;199;p13"/>
          <p:cNvPicPr preferRelativeResize="0"/>
          <p:nvPr/>
        </p:nvPicPr>
        <p:blipFill rotWithShape="1">
          <a:blip r:embed="rId3">
            <a:alphaModFix/>
          </a:blip>
          <a:srcRect b="0" l="0" r="0" t="0"/>
          <a:stretch/>
        </p:blipFill>
        <p:spPr>
          <a:xfrm>
            <a:off x="7788980" y="3009900"/>
            <a:ext cx="2857500" cy="2857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205" name="Google Shape;205;p14"/>
          <p:cNvSpPr txBox="1"/>
          <p:nvPr>
            <p:ph idx="1" type="body"/>
          </p:nvPr>
        </p:nvSpPr>
        <p:spPr>
          <a:xfrm>
            <a:off x="1371600"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206" name="Google Shape;206;p14"/>
          <p:cNvGraphicFramePr/>
          <p:nvPr/>
        </p:nvGraphicFramePr>
        <p:xfrm>
          <a:off x="1371600" y="1338470"/>
          <a:ext cx="3000000" cy="3000000"/>
        </p:xfrm>
        <a:graphic>
          <a:graphicData uri="http://schemas.openxmlformats.org/drawingml/2006/table">
            <a:tbl>
              <a:tblPr bandRow="1" firstRow="1">
                <a:noFill/>
                <a:tableStyleId>{04EA08BB-91BC-40CF-88AF-34D070204335}</a:tableStyleId>
              </a:tblPr>
              <a:tblGrid>
                <a:gridCol w="1111525"/>
                <a:gridCol w="1111525"/>
                <a:gridCol w="1111525"/>
                <a:gridCol w="1111525"/>
              </a:tblGrid>
              <a:tr h="754825">
                <a:tc>
                  <a:txBody>
                    <a:bodyPr/>
                    <a:lstStyle/>
                    <a:p>
                      <a:pPr indent="0" lvl="0" marL="0" marR="0" rtl="0" algn="l">
                        <a:spcBef>
                          <a:spcPts val="0"/>
                        </a:spcBef>
                        <a:spcAft>
                          <a:spcPts val="0"/>
                        </a:spcAft>
                        <a:buNone/>
                      </a:pPr>
                      <a:r>
                        <a:rPr b="0" lang="en-US" sz="2400">
                          <a:latin typeface="Arial"/>
                          <a:ea typeface="Arial"/>
                          <a:cs typeface="Arial"/>
                          <a:sym typeface="Arial"/>
                        </a:rPr>
                        <a:t>zhi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None/>
                      </a:pPr>
                      <a:r>
                        <a:rPr b="0" lang="en-US" sz="2400">
                          <a:latin typeface="Arial"/>
                          <a:ea typeface="Arial"/>
                          <a:cs typeface="Arial"/>
                          <a:sym typeface="Arial"/>
                        </a:rPr>
                        <a:t>chi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None/>
                      </a:pPr>
                      <a:r>
                        <a:rPr b="0" lang="en-US" sz="2400">
                          <a:latin typeface="Arial"/>
                          <a:ea typeface="Arial"/>
                          <a:cs typeface="Arial"/>
                          <a:sym typeface="Arial"/>
                        </a:rPr>
                        <a:t>shi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None/>
                      </a:pPr>
                      <a:r>
                        <a:rPr b="0" lang="en-US" sz="2400">
                          <a:latin typeface="Arial"/>
                          <a:ea typeface="Arial"/>
                          <a:cs typeface="Arial"/>
                          <a:sym typeface="Arial"/>
                        </a:rPr>
                        <a:t>ri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07" name="Google Shape;207;p14"/>
          <p:cNvPicPr preferRelativeResize="0"/>
          <p:nvPr/>
        </p:nvPicPr>
        <p:blipFill rotWithShape="1">
          <a:blip r:embed="rId3">
            <a:alphaModFix/>
          </a:blip>
          <a:srcRect b="0" l="0" r="0" t="0"/>
          <a:stretch/>
        </p:blipFill>
        <p:spPr>
          <a:xfrm>
            <a:off x="6069498" y="1381540"/>
            <a:ext cx="463824" cy="463824"/>
          </a:xfrm>
          <a:prstGeom prst="rect">
            <a:avLst/>
          </a:prstGeom>
          <a:noFill/>
          <a:ln>
            <a:noFill/>
          </a:ln>
        </p:spPr>
      </p:pic>
      <p:pic>
        <p:nvPicPr>
          <p:cNvPr id="208" name="Google Shape;208;p14"/>
          <p:cNvPicPr preferRelativeResize="0"/>
          <p:nvPr/>
        </p:nvPicPr>
        <p:blipFill rotWithShape="1">
          <a:blip r:embed="rId3">
            <a:alphaModFix/>
          </a:blip>
          <a:srcRect b="0" l="0" r="0" t="0"/>
          <a:stretch/>
        </p:blipFill>
        <p:spPr>
          <a:xfrm>
            <a:off x="6069498" y="2183296"/>
            <a:ext cx="463824" cy="463824"/>
          </a:xfrm>
          <a:prstGeom prst="rect">
            <a:avLst/>
          </a:prstGeom>
          <a:noFill/>
          <a:ln>
            <a:noFill/>
          </a:ln>
        </p:spPr>
      </p:pic>
      <p:pic>
        <p:nvPicPr>
          <p:cNvPr id="209" name="Google Shape;209;p14"/>
          <p:cNvPicPr preferRelativeResize="0"/>
          <p:nvPr/>
        </p:nvPicPr>
        <p:blipFill rotWithShape="1">
          <a:blip r:embed="rId3">
            <a:alphaModFix/>
          </a:blip>
          <a:srcRect b="0" l="0" r="0" t="0"/>
          <a:stretch/>
        </p:blipFill>
        <p:spPr>
          <a:xfrm>
            <a:off x="6069498" y="2918792"/>
            <a:ext cx="463824" cy="463824"/>
          </a:xfrm>
          <a:prstGeom prst="rect">
            <a:avLst/>
          </a:prstGeom>
          <a:noFill/>
          <a:ln>
            <a:noFill/>
          </a:ln>
        </p:spPr>
      </p:pic>
      <p:pic>
        <p:nvPicPr>
          <p:cNvPr id="210" name="Google Shape;210;p14"/>
          <p:cNvPicPr preferRelativeResize="0"/>
          <p:nvPr/>
        </p:nvPicPr>
        <p:blipFill rotWithShape="1">
          <a:blip r:embed="rId3">
            <a:alphaModFix/>
          </a:blip>
          <a:srcRect b="0" l="0" r="0" t="0"/>
          <a:stretch/>
        </p:blipFill>
        <p:spPr>
          <a:xfrm>
            <a:off x="6069498" y="3708952"/>
            <a:ext cx="463824" cy="463824"/>
          </a:xfrm>
          <a:prstGeom prst="rect">
            <a:avLst/>
          </a:prstGeom>
          <a:noFill/>
          <a:ln>
            <a:noFill/>
          </a:ln>
        </p:spPr>
      </p:pic>
      <p:pic>
        <p:nvPicPr>
          <p:cNvPr id="211" name="Google Shape;211;p14"/>
          <p:cNvPicPr preferRelativeResize="0"/>
          <p:nvPr/>
        </p:nvPicPr>
        <p:blipFill rotWithShape="1">
          <a:blip r:embed="rId3">
            <a:alphaModFix/>
          </a:blip>
          <a:srcRect b="0" l="0" r="0" t="0"/>
          <a:stretch/>
        </p:blipFill>
        <p:spPr>
          <a:xfrm>
            <a:off x="6069498" y="4442791"/>
            <a:ext cx="463824" cy="463824"/>
          </a:xfrm>
          <a:prstGeom prst="rect">
            <a:avLst/>
          </a:prstGeom>
          <a:noFill/>
          <a:ln>
            <a:noFill/>
          </a:ln>
        </p:spPr>
      </p:pic>
      <p:pic>
        <p:nvPicPr>
          <p:cNvPr id="212" name="Google Shape;212;p14"/>
          <p:cNvPicPr preferRelativeResize="0"/>
          <p:nvPr/>
        </p:nvPicPr>
        <p:blipFill rotWithShape="1">
          <a:blip r:embed="rId3">
            <a:alphaModFix/>
          </a:blip>
          <a:srcRect b="0" l="0" r="0" t="0"/>
          <a:stretch/>
        </p:blipFill>
        <p:spPr>
          <a:xfrm>
            <a:off x="6069498" y="5231295"/>
            <a:ext cx="463824" cy="4638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4955"/>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Exercise: </a:t>
            </a:r>
            <a:endParaRPr/>
          </a:p>
        </p:txBody>
      </p:sp>
      <p:sp>
        <p:nvSpPr>
          <p:cNvPr id="218" name="Google Shape;218;p15"/>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p>
            <a:pPr indent="-257048" lvl="0" marL="384048" rtl="0" algn="l">
              <a:lnSpc>
                <a:spcPct val="94000"/>
              </a:lnSpc>
              <a:spcBef>
                <a:spcPts val="0"/>
              </a:spcBef>
              <a:spcAft>
                <a:spcPts val="0"/>
              </a:spcAft>
              <a:buClr>
                <a:schemeClr val="dk2"/>
              </a:buClr>
              <a:buSzPts val="2000"/>
              <a:buNone/>
            </a:pPr>
            <a:r>
              <a:t/>
            </a:r>
            <a:endParaRPr/>
          </a:p>
        </p:txBody>
      </p:sp>
      <p:pic>
        <p:nvPicPr>
          <p:cNvPr id="219" name="Google Shape;219;p15"/>
          <p:cNvPicPr preferRelativeResize="0"/>
          <p:nvPr>
            <p:ph idx="2" type="body"/>
          </p:nvPr>
        </p:nvPicPr>
        <p:blipFill rotWithShape="1">
          <a:blip r:embed="rId3">
            <a:alphaModFix/>
          </a:blip>
          <a:srcRect b="0" l="0" r="0" t="0"/>
          <a:stretch/>
        </p:blipFill>
        <p:spPr>
          <a:xfrm>
            <a:off x="6100906" y="1394886"/>
            <a:ext cx="4200300" cy="4777200"/>
          </a:xfrm>
          <a:prstGeom prst="rect">
            <a:avLst/>
          </a:prstGeom>
          <a:noFill/>
          <a:ln>
            <a:noFill/>
          </a:ln>
        </p:spPr>
      </p:pic>
      <p:graphicFrame>
        <p:nvGraphicFramePr>
          <p:cNvPr id="220" name="Google Shape;220;p15"/>
          <p:cNvGraphicFramePr/>
          <p:nvPr/>
        </p:nvGraphicFramePr>
        <p:xfrm>
          <a:off x="1371600" y="1394886"/>
          <a:ext cx="3000000" cy="3000000"/>
        </p:xfrm>
        <a:graphic>
          <a:graphicData uri="http://schemas.openxmlformats.org/drawingml/2006/table">
            <a:tbl>
              <a:tblPr bandRow="1" firstRow="1">
                <a:noFill/>
                <a:tableStyleId>{04EA08BB-91BC-40CF-88AF-34D070204335}</a:tableStyleId>
              </a:tblPr>
              <a:tblGrid>
                <a:gridCol w="1400125"/>
                <a:gridCol w="1400125"/>
                <a:gridCol w="1400125"/>
              </a:tblGrid>
              <a:tr h="796225">
                <a:tc>
                  <a:txBody>
                    <a:bodyPr/>
                    <a:lstStyle/>
                    <a:p>
                      <a:pPr indent="0" lvl="0" marL="0" marR="0" rtl="0" algn="l">
                        <a:spcBef>
                          <a:spcPts val="0"/>
                        </a:spcBef>
                        <a:spcAft>
                          <a:spcPts val="0"/>
                        </a:spcAft>
                        <a:buNone/>
                      </a:pPr>
                      <a:r>
                        <a:rPr b="0" lang="en-US" sz="2400">
                          <a:latin typeface="Arial"/>
                          <a:ea typeface="Arial"/>
                          <a:cs typeface="Arial"/>
                          <a:sym typeface="Arial"/>
                        </a:rPr>
                        <a:t>ji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Exercise: </a:t>
            </a:r>
            <a:endParaRPr/>
          </a:p>
        </p:txBody>
      </p:sp>
      <p:sp>
        <p:nvSpPr>
          <p:cNvPr id="226" name="Google Shape;226;p16"/>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p>
            <a:pPr indent="-257048" lvl="0" marL="384048" rtl="0" algn="l">
              <a:lnSpc>
                <a:spcPct val="94000"/>
              </a:lnSpc>
              <a:spcBef>
                <a:spcPts val="0"/>
              </a:spcBef>
              <a:spcAft>
                <a:spcPts val="0"/>
              </a:spcAft>
              <a:buClr>
                <a:schemeClr val="dk2"/>
              </a:buClr>
              <a:buSzPts val="2000"/>
              <a:buNone/>
            </a:pPr>
            <a:r>
              <a:t/>
            </a:r>
            <a:endParaRPr/>
          </a:p>
        </p:txBody>
      </p:sp>
      <p:graphicFrame>
        <p:nvGraphicFramePr>
          <p:cNvPr id="227" name="Google Shape;227;p16"/>
          <p:cNvGraphicFramePr/>
          <p:nvPr/>
        </p:nvGraphicFramePr>
        <p:xfrm>
          <a:off x="1371601" y="1394886"/>
          <a:ext cx="3000000" cy="3000000"/>
        </p:xfrm>
        <a:graphic>
          <a:graphicData uri="http://schemas.openxmlformats.org/drawingml/2006/table">
            <a:tbl>
              <a:tblPr bandRow="1" firstRow="1">
                <a:noFill/>
                <a:tableStyleId>{04EA08BB-91BC-40CF-88AF-34D070204335}</a:tableStyleId>
              </a:tblPr>
              <a:tblGrid>
                <a:gridCol w="1258200"/>
                <a:gridCol w="1289800"/>
                <a:gridCol w="826025"/>
                <a:gridCol w="1304350"/>
                <a:gridCol w="1387250"/>
                <a:gridCol w="835175"/>
                <a:gridCol w="1118275"/>
                <a:gridCol w="1429700"/>
              </a:tblGrid>
              <a:tr h="796225">
                <a:tc>
                  <a:txBody>
                    <a:bodyPr/>
                    <a:lstStyle/>
                    <a:p>
                      <a:pPr indent="0" lvl="0" marL="0" marR="0" rtl="0" algn="l">
                        <a:spcBef>
                          <a:spcPts val="0"/>
                        </a:spcBef>
                        <a:spcAft>
                          <a:spcPts val="0"/>
                        </a:spcAft>
                        <a:buNone/>
                      </a:pPr>
                      <a:r>
                        <a:rPr b="0" lang="en-US" sz="2400">
                          <a:latin typeface="Arial"/>
                          <a:ea typeface="Arial"/>
                          <a:cs typeface="Arial"/>
                          <a:sym typeface="Arial"/>
                        </a:rPr>
                        <a:t>ji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6">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0" lang="en-US" sz="2400">
                          <a:latin typeface="Arial"/>
                          <a:ea typeface="Arial"/>
                          <a:cs typeface="Arial"/>
                          <a:sym typeface="Arial"/>
                        </a:rPr>
                        <a:t>qi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6">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0" lang="en-US" sz="2400">
                          <a:latin typeface="Arial"/>
                          <a:ea typeface="Arial"/>
                          <a:cs typeface="Arial"/>
                          <a:sym typeface="Arial"/>
                        </a:rPr>
                        <a:t>xi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qia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xia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qian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xian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qiang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xiang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qiao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xiao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225">
                <a:tc>
                  <a:txBody>
                    <a:bodyPr/>
                    <a:lstStyle/>
                    <a:p>
                      <a:pPr indent="0" lvl="0" marL="0" marR="0" rtl="0" algn="l">
                        <a:spcBef>
                          <a:spcPts val="0"/>
                        </a:spcBef>
                        <a:spcAft>
                          <a:spcPts val="0"/>
                        </a:spcAft>
                        <a:buNone/>
                      </a:pPr>
                      <a:r>
                        <a:rPr b="0" lang="en-US" sz="2400">
                          <a:latin typeface="Arial"/>
                          <a:ea typeface="Arial"/>
                          <a:cs typeface="Arial"/>
                          <a:sym typeface="Arial"/>
                        </a:rPr>
                        <a:t>jiong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qiong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a:txBody>
                    <a:bodyPr/>
                    <a:lstStyle/>
                    <a:p>
                      <a:pPr indent="0" lvl="0" marL="0" marR="0" rtl="0" algn="l">
                        <a:spcBef>
                          <a:spcPts val="0"/>
                        </a:spcBef>
                        <a:spcAft>
                          <a:spcPts val="0"/>
                        </a:spcAft>
                        <a:buNone/>
                      </a:pPr>
                      <a:r>
                        <a:rPr b="0" lang="en-US" sz="2400">
                          <a:latin typeface="Arial"/>
                          <a:ea typeface="Arial"/>
                          <a:cs typeface="Arial"/>
                          <a:sym typeface="Arial"/>
                        </a:rPr>
                        <a:t>xiong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28" name="Google Shape;228;p16"/>
          <p:cNvPicPr preferRelativeResize="0"/>
          <p:nvPr/>
        </p:nvPicPr>
        <p:blipFill rotWithShape="1">
          <a:blip r:embed="rId3">
            <a:alphaModFix/>
          </a:blip>
          <a:srcRect b="0" l="0" r="0" t="0"/>
          <a:stretch/>
        </p:blipFill>
        <p:spPr>
          <a:xfrm>
            <a:off x="10972800" y="1465193"/>
            <a:ext cx="378515" cy="378515"/>
          </a:xfrm>
          <a:prstGeom prst="rect">
            <a:avLst/>
          </a:prstGeom>
          <a:noFill/>
          <a:ln>
            <a:noFill/>
          </a:ln>
        </p:spPr>
      </p:pic>
      <p:pic>
        <p:nvPicPr>
          <p:cNvPr id="229" name="Google Shape;229;p16"/>
          <p:cNvPicPr preferRelativeResize="0"/>
          <p:nvPr/>
        </p:nvPicPr>
        <p:blipFill rotWithShape="1">
          <a:blip r:embed="rId3">
            <a:alphaModFix/>
          </a:blip>
          <a:srcRect b="0" l="0" r="0" t="0"/>
          <a:stretch/>
        </p:blipFill>
        <p:spPr>
          <a:xfrm>
            <a:off x="10972797" y="2264737"/>
            <a:ext cx="378515" cy="378515"/>
          </a:xfrm>
          <a:prstGeom prst="rect">
            <a:avLst/>
          </a:prstGeom>
          <a:noFill/>
          <a:ln>
            <a:noFill/>
          </a:ln>
        </p:spPr>
      </p:pic>
      <p:pic>
        <p:nvPicPr>
          <p:cNvPr id="230" name="Google Shape;230;p16"/>
          <p:cNvPicPr preferRelativeResize="0"/>
          <p:nvPr/>
        </p:nvPicPr>
        <p:blipFill rotWithShape="1">
          <a:blip r:embed="rId3">
            <a:alphaModFix/>
          </a:blip>
          <a:srcRect b="0" l="0" r="0" t="0"/>
          <a:stretch/>
        </p:blipFill>
        <p:spPr>
          <a:xfrm>
            <a:off x="10972797" y="3061424"/>
            <a:ext cx="378515" cy="378515"/>
          </a:xfrm>
          <a:prstGeom prst="rect">
            <a:avLst/>
          </a:prstGeom>
          <a:noFill/>
          <a:ln>
            <a:noFill/>
          </a:ln>
        </p:spPr>
      </p:pic>
      <p:pic>
        <p:nvPicPr>
          <p:cNvPr id="231" name="Google Shape;231;p16"/>
          <p:cNvPicPr preferRelativeResize="0"/>
          <p:nvPr/>
        </p:nvPicPr>
        <p:blipFill rotWithShape="1">
          <a:blip r:embed="rId3">
            <a:alphaModFix/>
          </a:blip>
          <a:srcRect b="0" l="0" r="0" t="0"/>
          <a:stretch/>
        </p:blipFill>
        <p:spPr>
          <a:xfrm>
            <a:off x="10972796" y="3858111"/>
            <a:ext cx="378515" cy="378515"/>
          </a:xfrm>
          <a:prstGeom prst="rect">
            <a:avLst/>
          </a:prstGeom>
          <a:noFill/>
          <a:ln>
            <a:noFill/>
          </a:ln>
        </p:spPr>
      </p:pic>
      <p:pic>
        <p:nvPicPr>
          <p:cNvPr id="232" name="Google Shape;232;p16"/>
          <p:cNvPicPr preferRelativeResize="0"/>
          <p:nvPr/>
        </p:nvPicPr>
        <p:blipFill rotWithShape="1">
          <a:blip r:embed="rId3">
            <a:alphaModFix/>
          </a:blip>
          <a:srcRect b="0" l="0" r="0" t="0"/>
          <a:stretch/>
        </p:blipFill>
        <p:spPr>
          <a:xfrm>
            <a:off x="10972796" y="4758701"/>
            <a:ext cx="378516" cy="378516"/>
          </a:xfrm>
          <a:prstGeom prst="rect">
            <a:avLst/>
          </a:prstGeom>
          <a:noFill/>
          <a:ln>
            <a:noFill/>
          </a:ln>
        </p:spPr>
      </p:pic>
      <p:pic>
        <p:nvPicPr>
          <p:cNvPr id="233" name="Google Shape;233;p16"/>
          <p:cNvPicPr preferRelativeResize="0"/>
          <p:nvPr/>
        </p:nvPicPr>
        <p:blipFill rotWithShape="1">
          <a:blip r:embed="rId3">
            <a:alphaModFix/>
          </a:blip>
          <a:srcRect b="0" l="0" r="0" t="0"/>
          <a:stretch/>
        </p:blipFill>
        <p:spPr>
          <a:xfrm>
            <a:off x="10972796" y="5555388"/>
            <a:ext cx="378517" cy="3785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ph type="title"/>
          </p:nvPr>
        </p:nvSpPr>
        <p:spPr>
          <a:xfrm>
            <a:off x="1371599" y="454855"/>
            <a:ext cx="7846131" cy="711336"/>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Initials: z c s</a:t>
            </a:r>
            <a:endParaRPr/>
          </a:p>
        </p:txBody>
      </p:sp>
      <p:sp>
        <p:nvSpPr>
          <p:cNvPr id="239" name="Google Shape;239;p17"/>
          <p:cNvSpPr txBox="1"/>
          <p:nvPr>
            <p:ph idx="1" type="body"/>
          </p:nvPr>
        </p:nvSpPr>
        <p:spPr>
          <a:xfrm>
            <a:off x="1371600" y="1166191"/>
            <a:ext cx="9601200" cy="470120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000"/>
              <a:buNone/>
            </a:pPr>
            <a:r>
              <a:rPr lang="en-US">
                <a:solidFill>
                  <a:srgbClr val="C00000"/>
                </a:solidFill>
              </a:rPr>
              <a:t>Z</a:t>
            </a:r>
            <a:r>
              <a:rPr lang="en-US"/>
              <a:t>  Like the ds in ‘beds’ but stronger and unvoiced; move tongue tip slightly more forward</a:t>
            </a:r>
            <a:endParaRPr/>
          </a:p>
          <a:p>
            <a:pPr indent="0" lvl="0" marL="0" rtl="0" algn="l">
              <a:lnSpc>
                <a:spcPct val="94000"/>
              </a:lnSpc>
              <a:spcBef>
                <a:spcPts val="1200"/>
              </a:spcBef>
              <a:spcAft>
                <a:spcPts val="0"/>
              </a:spcAft>
              <a:buClr>
                <a:srgbClr val="C00000"/>
              </a:buClr>
              <a:buSzPts val="2000"/>
              <a:buNone/>
            </a:pPr>
            <a:r>
              <a:rPr lang="en-US">
                <a:solidFill>
                  <a:srgbClr val="C00000"/>
                </a:solidFill>
              </a:rPr>
              <a:t>C</a:t>
            </a:r>
            <a:r>
              <a:rPr lang="en-US"/>
              <a:t>  Like the ts in ‘cats’ with a strong puff of breath immediately following; move tongue tip slightly more forward</a:t>
            </a:r>
            <a:endParaRPr/>
          </a:p>
          <a:p>
            <a:pPr indent="0" lvl="0" marL="0" rtl="0" algn="l">
              <a:lnSpc>
                <a:spcPct val="94000"/>
              </a:lnSpc>
              <a:spcBef>
                <a:spcPts val="1200"/>
              </a:spcBef>
              <a:spcAft>
                <a:spcPts val="0"/>
              </a:spcAft>
              <a:buClr>
                <a:srgbClr val="C00000"/>
              </a:buClr>
              <a:buSzPts val="2000"/>
              <a:buNone/>
            </a:pPr>
            <a:r>
              <a:rPr lang="en-US">
                <a:solidFill>
                  <a:srgbClr val="C00000"/>
                </a:solidFill>
              </a:rPr>
              <a:t>S</a:t>
            </a:r>
            <a:r>
              <a:rPr lang="en-US"/>
              <a:t>  Like the s in ‘sign’ but more hissing; move the tongue tip slightly more forward. </a:t>
            </a:r>
            <a:endParaRPr/>
          </a:p>
        </p:txBody>
      </p:sp>
      <p:pic>
        <p:nvPicPr>
          <p:cNvPr id="240" name="Google Shape;240;p17"/>
          <p:cNvPicPr preferRelativeResize="0"/>
          <p:nvPr/>
        </p:nvPicPr>
        <p:blipFill rotWithShape="1">
          <a:blip r:embed="rId3">
            <a:alphaModFix/>
          </a:blip>
          <a:srcRect b="0" l="0" r="0" t="0"/>
          <a:stretch/>
        </p:blipFill>
        <p:spPr>
          <a:xfrm>
            <a:off x="7368209" y="3177208"/>
            <a:ext cx="2909695" cy="29096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8"/>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246" name="Google Shape;246;p18"/>
          <p:cNvSpPr txBox="1"/>
          <p:nvPr>
            <p:ph idx="1" type="body"/>
          </p:nvPr>
        </p:nvSpPr>
        <p:spPr>
          <a:xfrm>
            <a:off x="1371600"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247" name="Google Shape;247;p18"/>
          <p:cNvGraphicFramePr/>
          <p:nvPr/>
        </p:nvGraphicFramePr>
        <p:xfrm>
          <a:off x="1371598" y="1338470"/>
          <a:ext cx="3000000" cy="3000000"/>
        </p:xfrm>
        <a:graphic>
          <a:graphicData uri="http://schemas.openxmlformats.org/drawingml/2006/table">
            <a:tbl>
              <a:tblPr bandRow="1" firstRow="1">
                <a:noFill/>
                <a:tableStyleId>{04EA08BB-91BC-40CF-88AF-34D070204335}</a:tableStyleId>
              </a:tblPr>
              <a:tblGrid>
                <a:gridCol w="1119800"/>
                <a:gridCol w="1119800"/>
                <a:gridCol w="1119800"/>
              </a:tblGrid>
              <a:tr h="647000">
                <a:tc>
                  <a:txBody>
                    <a:bodyPr/>
                    <a:lstStyle/>
                    <a:p>
                      <a:pPr indent="0" lvl="0" marL="0" marR="0" rtl="0" algn="l">
                        <a:spcBef>
                          <a:spcPts val="0"/>
                        </a:spcBef>
                        <a:spcAft>
                          <a:spcPts val="0"/>
                        </a:spcAft>
                        <a:buNone/>
                      </a:pPr>
                      <a:r>
                        <a:rPr b="0" lang="en-US" sz="2400">
                          <a:latin typeface="Arial"/>
                          <a:ea typeface="Arial"/>
                          <a:cs typeface="Arial"/>
                          <a:sym typeface="Arial"/>
                        </a:rPr>
                        <a:t>zi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None/>
                      </a:pPr>
                      <a:r>
                        <a:rPr b="0" lang="en-US" sz="2400">
                          <a:latin typeface="Arial"/>
                          <a:ea typeface="Arial"/>
                          <a:cs typeface="Arial"/>
                          <a:sym typeface="Arial"/>
                        </a:rPr>
                        <a:t>ci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l">
                        <a:spcBef>
                          <a:spcPts val="0"/>
                        </a:spcBef>
                        <a:spcAft>
                          <a:spcPts val="0"/>
                        </a:spcAft>
                        <a:buNone/>
                      </a:pPr>
                      <a:r>
                        <a:rPr b="0" lang="en-US" sz="2400">
                          <a:latin typeface="Arial"/>
                          <a:ea typeface="Arial"/>
                          <a:cs typeface="Arial"/>
                          <a:sym typeface="Arial"/>
                        </a:rPr>
                        <a:t>si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7000">
                <a:tc>
                  <a:txBody>
                    <a:bodyPr/>
                    <a:lstStyle/>
                    <a:p>
                      <a:pPr indent="0" lvl="0" marL="0" marR="0" rtl="0" algn="l">
                        <a:spcBef>
                          <a:spcPts val="0"/>
                        </a:spcBef>
                        <a:spcAft>
                          <a:spcPts val="0"/>
                        </a:spcAft>
                        <a:buNone/>
                      </a:pPr>
                      <a:r>
                        <a:rPr b="0" lang="en-US" sz="2400">
                          <a:latin typeface="Arial"/>
                          <a:ea typeface="Arial"/>
                          <a:cs typeface="Arial"/>
                          <a:sym typeface="Arial"/>
                        </a:rPr>
                        <a:t>zuo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48" name="Google Shape;248;p18"/>
          <p:cNvPicPr preferRelativeResize="0"/>
          <p:nvPr/>
        </p:nvPicPr>
        <p:blipFill rotWithShape="1">
          <a:blip r:embed="rId3">
            <a:alphaModFix/>
          </a:blip>
          <a:srcRect b="0" l="0" r="0" t="0"/>
          <a:stretch/>
        </p:blipFill>
        <p:spPr>
          <a:xfrm>
            <a:off x="5102087" y="1381540"/>
            <a:ext cx="463826" cy="463826"/>
          </a:xfrm>
          <a:prstGeom prst="rect">
            <a:avLst/>
          </a:prstGeom>
          <a:noFill/>
          <a:ln>
            <a:noFill/>
          </a:ln>
        </p:spPr>
      </p:pic>
      <p:pic>
        <p:nvPicPr>
          <p:cNvPr id="249" name="Google Shape;249;p18"/>
          <p:cNvPicPr preferRelativeResize="0"/>
          <p:nvPr/>
        </p:nvPicPr>
        <p:blipFill rotWithShape="1">
          <a:blip r:embed="rId3">
            <a:alphaModFix/>
          </a:blip>
          <a:srcRect b="0" l="0" r="0" t="0"/>
          <a:stretch/>
        </p:blipFill>
        <p:spPr>
          <a:xfrm>
            <a:off x="5098774" y="2075624"/>
            <a:ext cx="463826" cy="463826"/>
          </a:xfrm>
          <a:prstGeom prst="rect">
            <a:avLst/>
          </a:prstGeom>
          <a:noFill/>
          <a:ln>
            <a:noFill/>
          </a:ln>
        </p:spPr>
      </p:pic>
      <p:pic>
        <p:nvPicPr>
          <p:cNvPr id="250" name="Google Shape;250;p18"/>
          <p:cNvPicPr preferRelativeResize="0"/>
          <p:nvPr/>
        </p:nvPicPr>
        <p:blipFill rotWithShape="1">
          <a:blip r:embed="rId3">
            <a:alphaModFix/>
          </a:blip>
          <a:srcRect b="0" l="0" r="0" t="0"/>
          <a:stretch/>
        </p:blipFill>
        <p:spPr>
          <a:xfrm>
            <a:off x="5102087" y="2673629"/>
            <a:ext cx="463826" cy="463826"/>
          </a:xfrm>
          <a:prstGeom prst="rect">
            <a:avLst/>
          </a:prstGeom>
          <a:noFill/>
          <a:ln>
            <a:noFill/>
          </a:ln>
        </p:spPr>
      </p:pic>
      <p:pic>
        <p:nvPicPr>
          <p:cNvPr id="251" name="Google Shape;251;p18"/>
          <p:cNvPicPr preferRelativeResize="0"/>
          <p:nvPr/>
        </p:nvPicPr>
        <p:blipFill rotWithShape="1">
          <a:blip r:embed="rId3">
            <a:alphaModFix/>
          </a:blip>
          <a:srcRect b="0" l="0" r="0" t="0"/>
          <a:stretch/>
        </p:blipFill>
        <p:spPr>
          <a:xfrm>
            <a:off x="5102087" y="3306419"/>
            <a:ext cx="463826" cy="463826"/>
          </a:xfrm>
          <a:prstGeom prst="rect">
            <a:avLst/>
          </a:prstGeom>
          <a:noFill/>
          <a:ln>
            <a:noFill/>
          </a:ln>
        </p:spPr>
      </p:pic>
      <p:pic>
        <p:nvPicPr>
          <p:cNvPr id="252" name="Google Shape;252;p18"/>
          <p:cNvPicPr preferRelativeResize="0"/>
          <p:nvPr/>
        </p:nvPicPr>
        <p:blipFill rotWithShape="1">
          <a:blip r:embed="rId3">
            <a:alphaModFix/>
          </a:blip>
          <a:srcRect b="0" l="0" r="0" t="0"/>
          <a:stretch/>
        </p:blipFill>
        <p:spPr>
          <a:xfrm>
            <a:off x="5098774" y="3939209"/>
            <a:ext cx="463826" cy="463826"/>
          </a:xfrm>
          <a:prstGeom prst="rect">
            <a:avLst/>
          </a:prstGeom>
          <a:noFill/>
          <a:ln>
            <a:noFill/>
          </a:ln>
        </p:spPr>
      </p:pic>
      <p:pic>
        <p:nvPicPr>
          <p:cNvPr id="253" name="Google Shape;253;p18"/>
          <p:cNvPicPr preferRelativeResize="0"/>
          <p:nvPr/>
        </p:nvPicPr>
        <p:blipFill rotWithShape="1">
          <a:blip r:embed="rId3">
            <a:alphaModFix/>
          </a:blip>
          <a:srcRect b="0" l="0" r="0" t="0"/>
          <a:stretch/>
        </p:blipFill>
        <p:spPr>
          <a:xfrm>
            <a:off x="5098774" y="4616725"/>
            <a:ext cx="463826" cy="463826"/>
          </a:xfrm>
          <a:prstGeom prst="rect">
            <a:avLst/>
          </a:prstGeom>
          <a:noFill/>
          <a:ln>
            <a:noFill/>
          </a:ln>
        </p:spPr>
      </p:pic>
      <p:pic>
        <p:nvPicPr>
          <p:cNvPr id="254" name="Google Shape;254;p18"/>
          <p:cNvPicPr preferRelativeResize="0"/>
          <p:nvPr/>
        </p:nvPicPr>
        <p:blipFill rotWithShape="1">
          <a:blip r:embed="rId3">
            <a:alphaModFix/>
          </a:blip>
          <a:srcRect b="0" l="0" r="0" t="0"/>
          <a:stretch/>
        </p:blipFill>
        <p:spPr>
          <a:xfrm>
            <a:off x="5098774" y="5214730"/>
            <a:ext cx="463826" cy="4638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idx="3" type="body"/>
          </p:nvPr>
        </p:nvSpPr>
        <p:spPr>
          <a:xfrm>
            <a:off x="1051298" y="636338"/>
            <a:ext cx="4443984" cy="823912"/>
          </a:xfrm>
          <a:prstGeom prst="rect">
            <a:avLst/>
          </a:prstGeom>
          <a:noFill/>
          <a:ln>
            <a:noFill/>
          </a:ln>
        </p:spPr>
        <p:txBody>
          <a:bodyPr anchorCtr="0" anchor="b" bIns="45700" lIns="91425" spcFirstLastPara="1" rIns="91425" wrap="square" tIns="45700">
            <a:noAutofit/>
          </a:bodyPr>
          <a:lstStyle/>
          <a:p>
            <a:pPr indent="0" lvl="0" marL="0" rtl="0" algn="l">
              <a:lnSpc>
                <a:spcPct val="84000"/>
              </a:lnSpc>
              <a:spcBef>
                <a:spcPts val="0"/>
              </a:spcBef>
              <a:spcAft>
                <a:spcPts val="0"/>
              </a:spcAft>
              <a:buClr>
                <a:srgbClr val="C00000"/>
              </a:buClr>
              <a:buSzPts val="3000"/>
              <a:buNone/>
            </a:pPr>
            <a:r>
              <a:rPr lang="en-US">
                <a:solidFill>
                  <a:srgbClr val="C00000"/>
                </a:solidFill>
              </a:rPr>
              <a:t>Finals (36)</a:t>
            </a:r>
            <a:endParaRPr/>
          </a:p>
        </p:txBody>
      </p:sp>
      <p:graphicFrame>
        <p:nvGraphicFramePr>
          <p:cNvPr id="260" name="Google Shape;260;p19"/>
          <p:cNvGraphicFramePr/>
          <p:nvPr/>
        </p:nvGraphicFramePr>
        <p:xfrm>
          <a:off x="1197113" y="1740082"/>
          <a:ext cx="3000000" cy="3000000"/>
        </p:xfrm>
        <a:graphic>
          <a:graphicData uri="http://schemas.openxmlformats.org/drawingml/2006/table">
            <a:tbl>
              <a:tblPr bandRow="1" firstRow="1">
                <a:noFill/>
                <a:tableStyleId>{04EA08BB-91BC-40CF-88AF-34D070204335}</a:tableStyleId>
              </a:tblPr>
              <a:tblGrid>
                <a:gridCol w="2080725"/>
                <a:gridCol w="7761225"/>
              </a:tblGrid>
              <a:tr h="1030250">
                <a:tc>
                  <a:txBody>
                    <a:bodyPr/>
                    <a:lstStyle/>
                    <a:p>
                      <a:pPr indent="0" lvl="0" marL="0" marR="0" rtl="0" algn="l">
                        <a:spcBef>
                          <a:spcPts val="0"/>
                        </a:spcBef>
                        <a:spcAft>
                          <a:spcPts val="0"/>
                        </a:spcAft>
                        <a:buNone/>
                      </a:pPr>
                      <a:r>
                        <a:rPr b="0" lang="en-US" sz="2400">
                          <a:solidFill>
                            <a:srgbClr val="C00000"/>
                          </a:solidFill>
                        </a:rPr>
                        <a:t>Basic Finals</a:t>
                      </a:r>
                      <a:endParaRPr/>
                    </a:p>
                  </a:txBody>
                  <a:tcPr marT="45725" marB="45725" marR="91450" marL="91450"/>
                </a:tc>
                <a:tc>
                  <a:txBody>
                    <a:bodyPr/>
                    <a:lstStyle/>
                    <a:p>
                      <a:pPr indent="0" lvl="0" marL="0" marR="0" rtl="0" algn="l">
                        <a:spcBef>
                          <a:spcPts val="0"/>
                        </a:spcBef>
                        <a:spcAft>
                          <a:spcPts val="0"/>
                        </a:spcAft>
                        <a:buNone/>
                      </a:pPr>
                      <a:r>
                        <a:rPr b="0" lang="en-US" sz="2400">
                          <a:solidFill>
                            <a:schemeClr val="dk1"/>
                          </a:solidFill>
                          <a:latin typeface="Arial"/>
                          <a:ea typeface="Arial"/>
                          <a:cs typeface="Arial"/>
                          <a:sym typeface="Arial"/>
                        </a:rPr>
                        <a:t>a o e i u ü</a:t>
                      </a:r>
                      <a:endParaRPr b="0" sz="2400">
                        <a:solidFill>
                          <a:schemeClr val="dk1"/>
                        </a:solidFill>
                      </a:endParaRPr>
                    </a:p>
                  </a:txBody>
                  <a:tcPr marT="45725" marB="45725" marR="91450" marL="91450"/>
                </a:tc>
              </a:tr>
              <a:tr h="572375">
                <a:tc rowSpan="5">
                  <a:txBody>
                    <a:bodyPr/>
                    <a:lstStyle/>
                    <a:p>
                      <a:pPr indent="0" lvl="0" marL="0" marR="0" rtl="0" algn="l">
                        <a:spcBef>
                          <a:spcPts val="0"/>
                        </a:spcBef>
                        <a:spcAft>
                          <a:spcPts val="0"/>
                        </a:spcAft>
                        <a:buNone/>
                      </a:pPr>
                      <a:r>
                        <a:rPr b="0" lang="en-US" sz="2400">
                          <a:solidFill>
                            <a:srgbClr val="C00000"/>
                          </a:solidFill>
                        </a:rPr>
                        <a:t>Compound Finals</a:t>
                      </a:r>
                      <a:endParaRPr/>
                    </a:p>
                  </a:txBody>
                  <a:tcPr marT="45725" marB="45725" marR="91450" marL="91450"/>
                </a:tc>
                <a:tc>
                  <a:txBody>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ai  ei  ao  ou  an  en  ang  eng  ong</a:t>
                      </a:r>
                      <a:endParaRPr/>
                    </a:p>
                  </a:txBody>
                  <a:tcPr marT="45725" marB="45725" marR="91450" marL="91450"/>
                </a:tc>
              </a:tr>
              <a:tr h="572375">
                <a:tc vMerge="1"/>
                <a:tc>
                  <a:txBody>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ia  iao  ie  iu(iou)  ian  in  iang  ing  iong</a:t>
                      </a:r>
                      <a:endParaRPr/>
                    </a:p>
                  </a:txBody>
                  <a:tcPr marT="45725" marB="45725" marR="91450" marL="91450"/>
                </a:tc>
              </a:tr>
              <a:tr h="572375">
                <a:tc vMerge="1"/>
                <a:tc>
                  <a:txBody>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ua  uo  uai  ui(uei)  uan  un(uen)  uang  ueng</a:t>
                      </a:r>
                      <a:endParaRPr/>
                    </a:p>
                  </a:txBody>
                  <a:tcPr marT="45725" marB="45725" marR="91450" marL="91450"/>
                </a:tc>
              </a:tr>
              <a:tr h="572375">
                <a:tc vMerge="1"/>
                <a:tc>
                  <a:txBody>
                    <a:bodyPr/>
                    <a:lstStyle/>
                    <a:p>
                      <a:pPr indent="0" lvl="0" marL="0" marR="0" rtl="0" algn="l">
                        <a:spcBef>
                          <a:spcPts val="0"/>
                        </a:spcBef>
                        <a:spcAft>
                          <a:spcPts val="0"/>
                        </a:spcAft>
                        <a:buNone/>
                      </a:pPr>
                      <a:r>
                        <a:rPr b="0" lang="en-US" sz="2400">
                          <a:solidFill>
                            <a:schemeClr val="dk1"/>
                          </a:solidFill>
                          <a:latin typeface="Arial"/>
                          <a:ea typeface="Arial"/>
                          <a:cs typeface="Arial"/>
                          <a:sym typeface="Arial"/>
                        </a:rPr>
                        <a:t>üe  üan  ün(üen)</a:t>
                      </a:r>
                      <a:endParaRPr sz="2400">
                        <a:solidFill>
                          <a:schemeClr val="dk1"/>
                        </a:solidFill>
                        <a:latin typeface="Arial"/>
                        <a:ea typeface="Arial"/>
                        <a:cs typeface="Arial"/>
                        <a:sym typeface="Arial"/>
                      </a:endParaRPr>
                    </a:p>
                  </a:txBody>
                  <a:tcPr marT="45725" marB="45725" marR="91450" marL="91450"/>
                </a:tc>
              </a:tr>
              <a:tr h="572375">
                <a:tc vMerge="1"/>
                <a:tc>
                  <a:txBody>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er</a:t>
                      </a:r>
                      <a:endParaRPr/>
                    </a:p>
                  </a:txBody>
                  <a:tcPr marT="45725" marB="45725" marR="91450" marL="9145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type="title"/>
          </p:nvPr>
        </p:nvSpPr>
        <p:spPr>
          <a:xfrm>
            <a:off x="1371599" y="454855"/>
            <a:ext cx="7846131" cy="711336"/>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Finals: </a:t>
            </a:r>
            <a:r>
              <a:rPr lang="en-US">
                <a:solidFill>
                  <a:srgbClr val="C00000"/>
                </a:solidFill>
                <a:latin typeface="Arial"/>
                <a:ea typeface="Arial"/>
                <a:cs typeface="Arial"/>
                <a:sym typeface="Arial"/>
              </a:rPr>
              <a:t>a o e i u ü</a:t>
            </a:r>
            <a:endParaRPr/>
          </a:p>
        </p:txBody>
      </p:sp>
      <p:sp>
        <p:nvSpPr>
          <p:cNvPr id="266" name="Google Shape;266;p20"/>
          <p:cNvSpPr txBox="1"/>
          <p:nvPr>
            <p:ph idx="1" type="body"/>
          </p:nvPr>
        </p:nvSpPr>
        <p:spPr>
          <a:xfrm>
            <a:off x="1371600" y="1166191"/>
            <a:ext cx="9601200" cy="4701209"/>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4000"/>
              </a:lnSpc>
              <a:spcBef>
                <a:spcPts val="0"/>
              </a:spcBef>
              <a:spcAft>
                <a:spcPts val="0"/>
              </a:spcAft>
              <a:buClr>
                <a:srgbClr val="C00000"/>
              </a:buClr>
              <a:buSzPts val="2000"/>
              <a:buNone/>
            </a:pPr>
            <a:r>
              <a:rPr lang="en-US">
                <a:solidFill>
                  <a:srgbClr val="C00000"/>
                </a:solidFill>
              </a:rPr>
              <a:t>A</a:t>
            </a:r>
            <a:r>
              <a:rPr lang="en-US"/>
              <a:t>  Like the a in ‘spa’ with the lower jar well down</a:t>
            </a:r>
            <a:endParaRPr/>
          </a:p>
          <a:p>
            <a:pPr indent="0" lvl="0" marL="0" rtl="0" algn="l">
              <a:lnSpc>
                <a:spcPct val="94000"/>
              </a:lnSpc>
              <a:spcBef>
                <a:spcPts val="1200"/>
              </a:spcBef>
              <a:spcAft>
                <a:spcPts val="0"/>
              </a:spcAft>
              <a:buClr>
                <a:srgbClr val="C00000"/>
              </a:buClr>
              <a:buSzPts val="2000"/>
              <a:buNone/>
            </a:pPr>
            <a:r>
              <a:rPr lang="en-US">
                <a:solidFill>
                  <a:srgbClr val="C00000"/>
                </a:solidFill>
              </a:rPr>
              <a:t>O</a:t>
            </a:r>
            <a:r>
              <a:rPr lang="en-US"/>
              <a:t>  After b/p/m, it stands for the final ‘uo’ ; it is pronounced between the woe of ‘woe’ and the wa of the ‘war’</a:t>
            </a:r>
            <a:endParaRPr/>
          </a:p>
          <a:p>
            <a:pPr indent="0" lvl="0" marL="0" rtl="0" algn="l">
              <a:lnSpc>
                <a:spcPct val="94000"/>
              </a:lnSpc>
              <a:spcBef>
                <a:spcPts val="1200"/>
              </a:spcBef>
              <a:spcAft>
                <a:spcPts val="0"/>
              </a:spcAft>
              <a:buClr>
                <a:srgbClr val="C00000"/>
              </a:buClr>
              <a:buSzPts val="2000"/>
              <a:buNone/>
            </a:pPr>
            <a:r>
              <a:rPr lang="en-US">
                <a:solidFill>
                  <a:srgbClr val="C00000"/>
                </a:solidFill>
              </a:rPr>
              <a:t>E  </a:t>
            </a:r>
            <a:r>
              <a:rPr lang="en-US">
                <a:solidFill>
                  <a:schemeClr val="dk1"/>
                </a:solidFill>
              </a:rPr>
              <a:t>Like the ir in British English ‘bird’; the back of the tongue is held high; should come from deep down in your throat</a:t>
            </a:r>
            <a:endParaRPr/>
          </a:p>
          <a:p>
            <a:pPr indent="0" lvl="0" marL="0" rtl="0" algn="l">
              <a:lnSpc>
                <a:spcPct val="94000"/>
              </a:lnSpc>
              <a:spcBef>
                <a:spcPts val="1200"/>
              </a:spcBef>
              <a:spcAft>
                <a:spcPts val="0"/>
              </a:spcAft>
              <a:buClr>
                <a:schemeClr val="dk1"/>
              </a:buClr>
              <a:buSzPts val="2000"/>
              <a:buNone/>
            </a:pPr>
            <a:r>
              <a:rPr lang="en-US">
                <a:solidFill>
                  <a:schemeClr val="dk1"/>
                </a:solidFill>
              </a:rPr>
              <a:t>     </a:t>
            </a:r>
            <a:r>
              <a:rPr lang="en-US"/>
              <a:t>Exception：</a:t>
            </a:r>
            <a:r>
              <a:rPr lang="en-US">
                <a:solidFill>
                  <a:schemeClr val="dk1"/>
                </a:solidFill>
              </a:rPr>
              <a:t>e of ‘ye’ , like the e in ‘yet’ but hold longer.</a:t>
            </a:r>
            <a:endParaRPr>
              <a:solidFill>
                <a:schemeClr val="dk1"/>
              </a:solidFill>
            </a:endParaRPr>
          </a:p>
          <a:p>
            <a:pPr indent="0" lvl="0" marL="0" rtl="0" algn="l">
              <a:lnSpc>
                <a:spcPct val="94000"/>
              </a:lnSpc>
              <a:spcBef>
                <a:spcPts val="1200"/>
              </a:spcBef>
              <a:spcAft>
                <a:spcPts val="0"/>
              </a:spcAft>
              <a:buClr>
                <a:srgbClr val="C00000"/>
              </a:buClr>
              <a:buSzPts val="2000"/>
              <a:buNone/>
            </a:pPr>
            <a:r>
              <a:rPr lang="en-US">
                <a:solidFill>
                  <a:srgbClr val="C00000"/>
                </a:solidFill>
              </a:rPr>
              <a:t>I</a:t>
            </a:r>
            <a:r>
              <a:rPr lang="en-US">
                <a:solidFill>
                  <a:schemeClr val="dk1"/>
                </a:solidFill>
              </a:rPr>
              <a:t>  </a:t>
            </a:r>
            <a:r>
              <a:rPr lang="en-US"/>
              <a:t> Like the ee in ‘see’; the tongue remains steady</a:t>
            </a:r>
            <a:endParaRPr/>
          </a:p>
          <a:p>
            <a:pPr indent="0" lvl="0" marL="0" rtl="0" algn="l">
              <a:lnSpc>
                <a:spcPct val="94000"/>
              </a:lnSpc>
              <a:spcBef>
                <a:spcPts val="1200"/>
              </a:spcBef>
              <a:spcAft>
                <a:spcPts val="0"/>
              </a:spcAft>
              <a:buClr>
                <a:schemeClr val="dk2"/>
              </a:buClr>
              <a:buSzPts val="2000"/>
              <a:buNone/>
            </a:pPr>
            <a:r>
              <a:rPr lang="en-US"/>
              <a:t>     Exception:    i of zhi/chi/shi/ri/zi/ci/si, has no sound; a place holder</a:t>
            </a:r>
            <a:endParaRPr/>
          </a:p>
          <a:p>
            <a:pPr indent="0" lvl="0" marL="0" rtl="0" algn="l">
              <a:lnSpc>
                <a:spcPct val="94000"/>
              </a:lnSpc>
              <a:spcBef>
                <a:spcPts val="1200"/>
              </a:spcBef>
              <a:spcAft>
                <a:spcPts val="0"/>
              </a:spcAft>
              <a:buClr>
                <a:srgbClr val="C00000"/>
              </a:buClr>
              <a:buSzPts val="2000"/>
              <a:buNone/>
            </a:pPr>
            <a:r>
              <a:rPr lang="en-US">
                <a:solidFill>
                  <a:srgbClr val="C00000"/>
                </a:solidFill>
              </a:rPr>
              <a:t>U</a:t>
            </a:r>
            <a:r>
              <a:rPr lang="en-US"/>
              <a:t>  Like the oo in ‘ooze’ but with the lips rounded; the entire tongue is higher and further back; the tongue remains steady </a:t>
            </a:r>
            <a:endParaRPr/>
          </a:p>
          <a:p>
            <a:pPr indent="0" lvl="0" marL="0" rtl="0" algn="l">
              <a:lnSpc>
                <a:spcPct val="94000"/>
              </a:lnSpc>
              <a:spcBef>
                <a:spcPts val="1200"/>
              </a:spcBef>
              <a:spcAft>
                <a:spcPts val="0"/>
              </a:spcAft>
              <a:buClr>
                <a:schemeClr val="dk2"/>
              </a:buClr>
              <a:buSzPts val="2000"/>
              <a:buNone/>
            </a:pPr>
            <a:r>
              <a:rPr lang="en-US"/>
              <a:t>     Exception: u after j/q/x/y stands for the final </a:t>
            </a:r>
            <a:r>
              <a:rPr lang="en-US">
                <a:solidFill>
                  <a:schemeClr val="dk1"/>
                </a:solidFill>
              </a:rPr>
              <a:t>‘ü’</a:t>
            </a:r>
            <a:endParaRPr/>
          </a:p>
          <a:p>
            <a:pPr indent="0" lvl="0" marL="0" rtl="0" algn="l">
              <a:lnSpc>
                <a:spcPct val="94000"/>
              </a:lnSpc>
              <a:spcBef>
                <a:spcPts val="1200"/>
              </a:spcBef>
              <a:spcAft>
                <a:spcPts val="0"/>
              </a:spcAft>
              <a:buClr>
                <a:srgbClr val="C00000"/>
              </a:buClr>
              <a:buSzPts val="2000"/>
              <a:buNone/>
            </a:pPr>
            <a:r>
              <a:rPr lang="en-US">
                <a:solidFill>
                  <a:srgbClr val="C00000"/>
                </a:solidFill>
              </a:rPr>
              <a:t>ü  </a:t>
            </a:r>
            <a:r>
              <a:rPr lang="en-US">
                <a:solidFill>
                  <a:schemeClr val="dk1"/>
                </a:solidFill>
              </a:rPr>
              <a:t>Made by rounding the lips while saying ee in “see’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272" name="Google Shape;272;p21"/>
          <p:cNvSpPr txBox="1"/>
          <p:nvPr>
            <p:ph idx="1" type="body"/>
          </p:nvPr>
        </p:nvSpPr>
        <p:spPr>
          <a:xfrm>
            <a:off x="1530626" y="1338470"/>
            <a:ext cx="9601200" cy="452893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273" name="Google Shape;273;p21"/>
          <p:cNvGraphicFramePr/>
          <p:nvPr/>
        </p:nvGraphicFramePr>
        <p:xfrm>
          <a:off x="1530626" y="1338470"/>
          <a:ext cx="3000000" cy="3000000"/>
        </p:xfrm>
        <a:graphic>
          <a:graphicData uri="http://schemas.openxmlformats.org/drawingml/2006/table">
            <a:tbl>
              <a:tblPr bandRow="1" firstRow="1">
                <a:noFill/>
                <a:tableStyleId>{04EA08BB-91BC-40CF-88AF-34D070204335}</a:tableStyleId>
              </a:tblPr>
              <a:tblGrid>
                <a:gridCol w="1546100"/>
                <a:gridCol w="1579225"/>
                <a:gridCol w="1579225"/>
                <a:gridCol w="1579225"/>
                <a:gridCol w="1579225"/>
                <a:gridCol w="1579225"/>
              </a:tblGrid>
              <a:tr h="743625">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ü</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3625">
                <a:tc>
                  <a:txBody>
                    <a:bodyPr/>
                    <a:lstStyle/>
                    <a:p>
                      <a:pPr indent="0" lvl="0" marL="0" marR="0" rtl="0" algn="l">
                        <a:spcBef>
                          <a:spcPts val="0"/>
                        </a:spcBef>
                        <a:spcAft>
                          <a:spcPts val="0"/>
                        </a:spcAft>
                        <a:buNone/>
                      </a:pPr>
                      <a:r>
                        <a:rPr b="0" lang="en-US" sz="2400">
                          <a:latin typeface="Arial"/>
                          <a:ea typeface="Arial"/>
                          <a:cs typeface="Arial"/>
                          <a:sym typeface="Arial"/>
                        </a:rPr>
                        <a:t>ba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3625">
                <a:tc>
                  <a:txBody>
                    <a:bodyPr/>
                    <a:lstStyle/>
                    <a:p>
                      <a:pPr indent="0" lvl="0" marL="0" marR="0" rtl="0" algn="l">
                        <a:spcBef>
                          <a:spcPts val="0"/>
                        </a:spcBef>
                        <a:spcAft>
                          <a:spcPts val="0"/>
                        </a:spcAft>
                        <a:buNone/>
                      </a:pPr>
                      <a:r>
                        <a:rPr b="0" lang="en-US" sz="2400">
                          <a:latin typeface="Arial"/>
                          <a:ea typeface="Arial"/>
                          <a:cs typeface="Arial"/>
                          <a:sym typeface="Arial"/>
                        </a:rPr>
                        <a:t>ma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mo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mi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mu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3625">
                <a:tc>
                  <a:txBody>
                    <a:bodyPr/>
                    <a:lstStyle/>
                    <a:p>
                      <a:pPr indent="0" lvl="0" marL="0" marR="0" rtl="0" algn="l">
                        <a:spcBef>
                          <a:spcPts val="0"/>
                        </a:spcBef>
                        <a:spcAft>
                          <a:spcPts val="0"/>
                        </a:spcAft>
                        <a:buNone/>
                      </a:pPr>
                      <a:r>
                        <a:rPr b="0" lang="en-US" sz="2400">
                          <a:latin typeface="Arial"/>
                          <a:ea typeface="Arial"/>
                          <a:cs typeface="Arial"/>
                          <a:sym typeface="Arial"/>
                        </a:rPr>
                        <a:t>ga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ge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gu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3625">
                <a:tc>
                  <a:txBody>
                    <a:bodyPr/>
                    <a:lstStyle/>
                    <a:p>
                      <a:pPr indent="0" lvl="0" marL="0" marR="0" rtl="0" algn="l">
                        <a:spcBef>
                          <a:spcPts val="0"/>
                        </a:spcBef>
                        <a:spcAft>
                          <a:spcPts val="0"/>
                        </a:spcAft>
                        <a:buNone/>
                      </a:pPr>
                      <a:r>
                        <a:rPr b="0" lang="en-US" sz="2400">
                          <a:latin typeface="Arial"/>
                          <a:ea typeface="Arial"/>
                          <a:cs typeface="Arial"/>
                          <a:sym typeface="Arial"/>
                        </a:rPr>
                        <a:t>la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latin typeface="Arial"/>
                          <a:ea typeface="Arial"/>
                          <a:cs typeface="Arial"/>
                          <a:sym typeface="Arial"/>
                        </a:rPr>
                        <a:t>l</a:t>
                      </a:r>
                      <a:r>
                        <a:rPr b="0" lang="en-US" sz="2400">
                          <a:solidFill>
                            <a:schemeClr val="dk1"/>
                          </a:solidFill>
                          <a:latin typeface="Arial"/>
                          <a:ea typeface="Arial"/>
                          <a:cs typeface="Arial"/>
                          <a:sym typeface="Arial"/>
                        </a:rPr>
                        <a:t>ü</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10750">
                <a:tc>
                  <a:txBody>
                    <a:bodyPr/>
                    <a:lstStyle/>
                    <a:p>
                      <a:pPr indent="0" lvl="0" marL="0" marR="0" rtl="0" algn="l">
                        <a:spcBef>
                          <a:spcPts val="0"/>
                        </a:spcBef>
                        <a:spcAft>
                          <a:spcPts val="0"/>
                        </a:spcAft>
                        <a:buNone/>
                      </a:pPr>
                      <a:r>
                        <a:rPr b="0" lang="en-US" sz="2400">
                          <a:latin typeface="Arial"/>
                          <a:ea typeface="Arial"/>
                          <a:cs typeface="Arial"/>
                          <a:sym typeface="Arial"/>
                        </a:rPr>
                        <a:t>na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ne</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ni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nu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nü</a:t>
                      </a:r>
                      <a:endParaRPr/>
                    </a:p>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74" name="Google Shape;274;p21"/>
          <p:cNvPicPr preferRelativeResize="0"/>
          <p:nvPr/>
        </p:nvPicPr>
        <p:blipFill rotWithShape="1">
          <a:blip r:embed="rId3">
            <a:alphaModFix/>
          </a:blip>
          <a:srcRect b="0" l="0" r="0" t="0"/>
          <a:stretch/>
        </p:blipFill>
        <p:spPr>
          <a:xfrm>
            <a:off x="1504122" y="5864087"/>
            <a:ext cx="510208" cy="510208"/>
          </a:xfrm>
          <a:prstGeom prst="rect">
            <a:avLst/>
          </a:prstGeom>
          <a:noFill/>
          <a:ln>
            <a:noFill/>
          </a:ln>
        </p:spPr>
      </p:pic>
      <p:pic>
        <p:nvPicPr>
          <p:cNvPr id="275" name="Google Shape;275;p21"/>
          <p:cNvPicPr preferRelativeResize="0"/>
          <p:nvPr/>
        </p:nvPicPr>
        <p:blipFill rotWithShape="1">
          <a:blip r:embed="rId3">
            <a:alphaModFix/>
          </a:blip>
          <a:srcRect b="0" l="0" r="0" t="0"/>
          <a:stretch/>
        </p:blipFill>
        <p:spPr>
          <a:xfrm>
            <a:off x="3167270" y="5879600"/>
            <a:ext cx="510208" cy="510208"/>
          </a:xfrm>
          <a:prstGeom prst="rect">
            <a:avLst/>
          </a:prstGeom>
          <a:noFill/>
          <a:ln>
            <a:noFill/>
          </a:ln>
        </p:spPr>
      </p:pic>
      <p:pic>
        <p:nvPicPr>
          <p:cNvPr id="276" name="Google Shape;276;p21"/>
          <p:cNvPicPr preferRelativeResize="0"/>
          <p:nvPr/>
        </p:nvPicPr>
        <p:blipFill rotWithShape="1">
          <a:blip r:embed="rId3">
            <a:alphaModFix/>
          </a:blip>
          <a:srcRect b="0" l="0" r="0" t="0"/>
          <a:stretch/>
        </p:blipFill>
        <p:spPr>
          <a:xfrm>
            <a:off x="4697895" y="5910470"/>
            <a:ext cx="510208" cy="510208"/>
          </a:xfrm>
          <a:prstGeom prst="rect">
            <a:avLst/>
          </a:prstGeom>
          <a:noFill/>
          <a:ln>
            <a:noFill/>
          </a:ln>
        </p:spPr>
      </p:pic>
      <p:pic>
        <p:nvPicPr>
          <p:cNvPr id="277" name="Google Shape;277;p21"/>
          <p:cNvPicPr preferRelativeResize="0"/>
          <p:nvPr/>
        </p:nvPicPr>
        <p:blipFill rotWithShape="1">
          <a:blip r:embed="rId3">
            <a:alphaModFix/>
          </a:blip>
          <a:srcRect b="0" l="0" r="0" t="0"/>
          <a:stretch/>
        </p:blipFill>
        <p:spPr>
          <a:xfrm>
            <a:off x="6251713" y="5922670"/>
            <a:ext cx="510208" cy="510208"/>
          </a:xfrm>
          <a:prstGeom prst="rect">
            <a:avLst/>
          </a:prstGeom>
          <a:noFill/>
          <a:ln>
            <a:noFill/>
          </a:ln>
        </p:spPr>
      </p:pic>
      <p:pic>
        <p:nvPicPr>
          <p:cNvPr id="278" name="Google Shape;278;p21"/>
          <p:cNvPicPr preferRelativeResize="0"/>
          <p:nvPr/>
        </p:nvPicPr>
        <p:blipFill rotWithShape="1">
          <a:blip r:embed="rId3">
            <a:alphaModFix/>
          </a:blip>
          <a:srcRect b="0" l="0" r="0" t="0"/>
          <a:stretch/>
        </p:blipFill>
        <p:spPr>
          <a:xfrm>
            <a:off x="7924800" y="5910470"/>
            <a:ext cx="510208" cy="510208"/>
          </a:xfrm>
          <a:prstGeom prst="rect">
            <a:avLst/>
          </a:prstGeom>
          <a:noFill/>
          <a:ln>
            <a:noFill/>
          </a:ln>
        </p:spPr>
      </p:pic>
      <p:pic>
        <p:nvPicPr>
          <p:cNvPr id="279" name="Google Shape;279;p21"/>
          <p:cNvPicPr preferRelativeResize="0"/>
          <p:nvPr/>
        </p:nvPicPr>
        <p:blipFill rotWithShape="1">
          <a:blip r:embed="rId3">
            <a:alphaModFix/>
          </a:blip>
          <a:srcRect b="0" l="0" r="0" t="0"/>
          <a:stretch/>
        </p:blipFill>
        <p:spPr>
          <a:xfrm>
            <a:off x="9478618" y="5922670"/>
            <a:ext cx="510208" cy="510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2"/>
          <p:cNvSpPr txBox="1"/>
          <p:nvPr>
            <p:ph type="title"/>
          </p:nvPr>
        </p:nvSpPr>
        <p:spPr>
          <a:xfrm>
            <a:off x="1371599" y="454855"/>
            <a:ext cx="9760227" cy="711336"/>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Finals: </a:t>
            </a:r>
            <a:r>
              <a:rPr lang="en-US">
                <a:solidFill>
                  <a:srgbClr val="C00000"/>
                </a:solidFill>
                <a:latin typeface="Arial"/>
                <a:ea typeface="Arial"/>
                <a:cs typeface="Arial"/>
                <a:sym typeface="Arial"/>
              </a:rPr>
              <a:t>ai  ei  ao  ou  an  en  ang  eng  ong</a:t>
            </a:r>
            <a:br>
              <a:rPr lang="en-US">
                <a:solidFill>
                  <a:schemeClr val="dk1"/>
                </a:solidFill>
                <a:latin typeface="Arial"/>
                <a:ea typeface="Arial"/>
                <a:cs typeface="Arial"/>
                <a:sym typeface="Arial"/>
              </a:rPr>
            </a:br>
            <a:endParaRPr>
              <a:solidFill>
                <a:srgbClr val="C00000"/>
              </a:solidFill>
              <a:latin typeface="Arial"/>
              <a:ea typeface="Arial"/>
              <a:cs typeface="Arial"/>
              <a:sym typeface="Arial"/>
            </a:endParaRPr>
          </a:p>
        </p:txBody>
      </p:sp>
      <p:sp>
        <p:nvSpPr>
          <p:cNvPr id="285" name="Google Shape;285;p22"/>
          <p:cNvSpPr txBox="1"/>
          <p:nvPr>
            <p:ph idx="1" type="body"/>
          </p:nvPr>
        </p:nvSpPr>
        <p:spPr>
          <a:xfrm>
            <a:off x="1371600" y="1166191"/>
            <a:ext cx="9601200" cy="4701209"/>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4000"/>
              </a:lnSpc>
              <a:spcBef>
                <a:spcPts val="0"/>
              </a:spcBef>
              <a:spcAft>
                <a:spcPts val="0"/>
              </a:spcAft>
              <a:buClr>
                <a:srgbClr val="C00000"/>
              </a:buClr>
              <a:buSzPts val="2400"/>
              <a:buNone/>
            </a:pPr>
            <a:r>
              <a:rPr lang="en-US" sz="2400">
                <a:solidFill>
                  <a:srgbClr val="C00000"/>
                </a:solidFill>
              </a:rPr>
              <a:t>AI</a:t>
            </a:r>
            <a:r>
              <a:rPr lang="en-US" sz="2400"/>
              <a:t>  Like the y in ‘my’ but shorter; pronounce alphabet I and E rapidly</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EI</a:t>
            </a:r>
            <a:r>
              <a:rPr lang="en-US" sz="2400"/>
              <a:t>   Like the ei in ‘sleigh’ but shorter; pronounce alphabet A and E rapidly</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AO  </a:t>
            </a:r>
            <a:r>
              <a:rPr lang="en-US" sz="2400">
                <a:solidFill>
                  <a:schemeClr val="dk1"/>
                </a:solidFill>
              </a:rPr>
              <a:t>Between the ow in ‘cow’ and the aw in ‘caw’</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OU</a:t>
            </a:r>
            <a:r>
              <a:rPr lang="en-US" sz="2400"/>
              <a:t>  Like the o in ‘go’ but shorter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AN</a:t>
            </a:r>
            <a:r>
              <a:rPr lang="en-US" sz="2400"/>
              <a:t>  Like awn in ‘pawn’ but shorter</a:t>
            </a:r>
            <a:endParaRPr/>
          </a:p>
          <a:p>
            <a:pPr indent="0" lvl="0" marL="0" rtl="0" algn="l">
              <a:lnSpc>
                <a:spcPct val="94000"/>
              </a:lnSpc>
              <a:spcBef>
                <a:spcPts val="1200"/>
              </a:spcBef>
              <a:spcAft>
                <a:spcPts val="0"/>
              </a:spcAft>
              <a:buClr>
                <a:schemeClr val="dk2"/>
              </a:buClr>
              <a:buSzPts val="2400"/>
              <a:buNone/>
            </a:pPr>
            <a:r>
              <a:rPr lang="en-US" sz="2400"/>
              <a:t>       Exception: YAN sounds like ‘Yen’</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EN</a:t>
            </a:r>
            <a:r>
              <a:rPr lang="en-US" sz="2400"/>
              <a:t>  Like the en in ‘chicken’</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ANG  </a:t>
            </a:r>
            <a:r>
              <a:rPr lang="en-US" sz="2400">
                <a:solidFill>
                  <a:schemeClr val="dk1"/>
                </a:solidFill>
              </a:rPr>
              <a:t>Between the ong in ‘song’ and the ung in ‘sung’; no g-sound</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ENG</a:t>
            </a:r>
            <a:r>
              <a:rPr lang="en-US" sz="2400">
                <a:solidFill>
                  <a:schemeClr val="dk1"/>
                </a:solidFill>
              </a:rPr>
              <a:t>  Like ung in ‘lung’; no g-sound</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ONG </a:t>
            </a:r>
            <a:r>
              <a:rPr lang="en-US" sz="2400"/>
              <a:t> Like ong in ‘thong’    </a:t>
            </a:r>
            <a:endParaRPr sz="24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291" name="Google Shape;291;p23"/>
          <p:cNvSpPr txBox="1"/>
          <p:nvPr>
            <p:ph idx="1" type="body"/>
          </p:nvPr>
        </p:nvSpPr>
        <p:spPr>
          <a:xfrm>
            <a:off x="1530626" y="1338469"/>
            <a:ext cx="9601200" cy="469126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292" name="Google Shape;292;p23"/>
          <p:cNvGraphicFramePr/>
          <p:nvPr/>
        </p:nvGraphicFramePr>
        <p:xfrm>
          <a:off x="1530626" y="1338470"/>
          <a:ext cx="3000000" cy="3000000"/>
        </p:xfrm>
        <a:graphic>
          <a:graphicData uri="http://schemas.openxmlformats.org/drawingml/2006/table">
            <a:tbl>
              <a:tblPr bandRow="1" firstRow="1">
                <a:noFill/>
                <a:tableStyleId>{04EA08BB-91BC-40CF-88AF-34D070204335}</a:tableStyleId>
              </a:tblPr>
              <a:tblGrid>
                <a:gridCol w="1030250"/>
                <a:gridCol w="1052325"/>
                <a:gridCol w="1052325"/>
                <a:gridCol w="1052325"/>
                <a:gridCol w="1052325"/>
                <a:gridCol w="1052325"/>
                <a:gridCol w="1052325"/>
                <a:gridCol w="1052325"/>
                <a:gridCol w="1052325"/>
              </a:tblGrid>
              <a:tr h="754825">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bai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beng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lai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hai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zhai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zhei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zhen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zhang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zheng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zhong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chai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chou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chen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93" name="Google Shape;293;p23"/>
          <p:cNvPicPr preferRelativeResize="0"/>
          <p:nvPr/>
        </p:nvPicPr>
        <p:blipFill rotWithShape="1">
          <a:blip r:embed="rId3">
            <a:alphaModFix/>
          </a:blip>
          <a:srcRect b="0" l="0" r="0" t="0"/>
          <a:stretch/>
        </p:blipFill>
        <p:spPr>
          <a:xfrm>
            <a:off x="1530626" y="5867402"/>
            <a:ext cx="506894" cy="506894"/>
          </a:xfrm>
          <a:prstGeom prst="rect">
            <a:avLst/>
          </a:prstGeom>
          <a:noFill/>
          <a:ln>
            <a:noFill/>
          </a:ln>
        </p:spPr>
      </p:pic>
      <p:pic>
        <p:nvPicPr>
          <p:cNvPr id="294" name="Google Shape;294;p23"/>
          <p:cNvPicPr preferRelativeResize="0"/>
          <p:nvPr/>
        </p:nvPicPr>
        <p:blipFill rotWithShape="1">
          <a:blip r:embed="rId3">
            <a:alphaModFix/>
          </a:blip>
          <a:srcRect b="0" l="0" r="0" t="0"/>
          <a:stretch/>
        </p:blipFill>
        <p:spPr>
          <a:xfrm>
            <a:off x="2729948" y="5867400"/>
            <a:ext cx="506894" cy="506894"/>
          </a:xfrm>
          <a:prstGeom prst="rect">
            <a:avLst/>
          </a:prstGeom>
          <a:noFill/>
          <a:ln>
            <a:noFill/>
          </a:ln>
        </p:spPr>
      </p:pic>
      <p:pic>
        <p:nvPicPr>
          <p:cNvPr id="295" name="Google Shape;295;p23"/>
          <p:cNvPicPr preferRelativeResize="0"/>
          <p:nvPr/>
        </p:nvPicPr>
        <p:blipFill rotWithShape="1">
          <a:blip r:embed="rId3">
            <a:alphaModFix/>
          </a:blip>
          <a:srcRect b="0" l="0" r="0" t="0"/>
          <a:stretch/>
        </p:blipFill>
        <p:spPr>
          <a:xfrm>
            <a:off x="3803374" y="5867400"/>
            <a:ext cx="506894" cy="506894"/>
          </a:xfrm>
          <a:prstGeom prst="rect">
            <a:avLst/>
          </a:prstGeom>
          <a:noFill/>
          <a:ln>
            <a:noFill/>
          </a:ln>
        </p:spPr>
      </p:pic>
      <p:pic>
        <p:nvPicPr>
          <p:cNvPr id="296" name="Google Shape;296;p23"/>
          <p:cNvPicPr preferRelativeResize="0"/>
          <p:nvPr/>
        </p:nvPicPr>
        <p:blipFill rotWithShape="1">
          <a:blip r:embed="rId3">
            <a:alphaModFix/>
          </a:blip>
          <a:srcRect b="0" l="0" r="0" t="0"/>
          <a:stretch/>
        </p:blipFill>
        <p:spPr>
          <a:xfrm>
            <a:off x="4863548" y="5867400"/>
            <a:ext cx="506894" cy="506894"/>
          </a:xfrm>
          <a:prstGeom prst="rect">
            <a:avLst/>
          </a:prstGeom>
          <a:noFill/>
          <a:ln>
            <a:noFill/>
          </a:ln>
        </p:spPr>
      </p:pic>
      <p:pic>
        <p:nvPicPr>
          <p:cNvPr id="297" name="Google Shape;297;p23"/>
          <p:cNvPicPr preferRelativeResize="0"/>
          <p:nvPr/>
        </p:nvPicPr>
        <p:blipFill rotWithShape="1">
          <a:blip r:embed="rId3">
            <a:alphaModFix/>
          </a:blip>
          <a:srcRect b="0" l="0" r="0" t="0"/>
          <a:stretch/>
        </p:blipFill>
        <p:spPr>
          <a:xfrm>
            <a:off x="5923722" y="5867400"/>
            <a:ext cx="506894" cy="506894"/>
          </a:xfrm>
          <a:prstGeom prst="rect">
            <a:avLst/>
          </a:prstGeom>
          <a:noFill/>
          <a:ln>
            <a:noFill/>
          </a:ln>
        </p:spPr>
      </p:pic>
      <p:pic>
        <p:nvPicPr>
          <p:cNvPr id="298" name="Google Shape;298;p23"/>
          <p:cNvPicPr preferRelativeResize="0"/>
          <p:nvPr/>
        </p:nvPicPr>
        <p:blipFill rotWithShape="1">
          <a:blip r:embed="rId3">
            <a:alphaModFix/>
          </a:blip>
          <a:srcRect b="0" l="0" r="0" t="0"/>
          <a:stretch/>
        </p:blipFill>
        <p:spPr>
          <a:xfrm>
            <a:off x="7063409" y="5867400"/>
            <a:ext cx="506894" cy="506894"/>
          </a:xfrm>
          <a:prstGeom prst="rect">
            <a:avLst/>
          </a:prstGeom>
          <a:noFill/>
          <a:ln>
            <a:noFill/>
          </a:ln>
        </p:spPr>
      </p:pic>
      <p:pic>
        <p:nvPicPr>
          <p:cNvPr id="299" name="Google Shape;299;p23"/>
          <p:cNvPicPr preferRelativeResize="0"/>
          <p:nvPr/>
        </p:nvPicPr>
        <p:blipFill rotWithShape="1">
          <a:blip r:embed="rId3">
            <a:alphaModFix/>
          </a:blip>
          <a:srcRect b="0" l="0" r="0" t="0"/>
          <a:stretch/>
        </p:blipFill>
        <p:spPr>
          <a:xfrm>
            <a:off x="8100393" y="5867400"/>
            <a:ext cx="506894" cy="506894"/>
          </a:xfrm>
          <a:prstGeom prst="rect">
            <a:avLst/>
          </a:prstGeom>
          <a:noFill/>
          <a:ln>
            <a:noFill/>
          </a:ln>
        </p:spPr>
      </p:pic>
      <p:pic>
        <p:nvPicPr>
          <p:cNvPr id="300" name="Google Shape;300;p23"/>
          <p:cNvPicPr preferRelativeResize="0"/>
          <p:nvPr/>
        </p:nvPicPr>
        <p:blipFill rotWithShape="1">
          <a:blip r:embed="rId3">
            <a:alphaModFix/>
          </a:blip>
          <a:srcRect b="0" l="0" r="0" t="0"/>
          <a:stretch/>
        </p:blipFill>
        <p:spPr>
          <a:xfrm>
            <a:off x="9157252" y="5867400"/>
            <a:ext cx="506894" cy="506894"/>
          </a:xfrm>
          <a:prstGeom prst="rect">
            <a:avLst/>
          </a:prstGeom>
          <a:noFill/>
          <a:ln>
            <a:noFill/>
          </a:ln>
        </p:spPr>
      </p:pic>
      <p:pic>
        <p:nvPicPr>
          <p:cNvPr id="301" name="Google Shape;301;p23"/>
          <p:cNvPicPr preferRelativeResize="0"/>
          <p:nvPr/>
        </p:nvPicPr>
        <p:blipFill rotWithShape="1">
          <a:blip r:embed="rId3">
            <a:alphaModFix/>
          </a:blip>
          <a:srcRect b="0" l="0" r="0" t="0"/>
          <a:stretch/>
        </p:blipFill>
        <p:spPr>
          <a:xfrm>
            <a:off x="10247243" y="5867400"/>
            <a:ext cx="506894" cy="5068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4"/>
          <p:cNvSpPr txBox="1"/>
          <p:nvPr>
            <p:ph type="title"/>
          </p:nvPr>
        </p:nvSpPr>
        <p:spPr>
          <a:xfrm>
            <a:off x="1371598" y="454855"/>
            <a:ext cx="10727637" cy="711336"/>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Finals: </a:t>
            </a:r>
            <a:r>
              <a:rPr lang="en-US">
                <a:solidFill>
                  <a:srgbClr val="C00000"/>
                </a:solidFill>
                <a:latin typeface="Arial"/>
                <a:ea typeface="Arial"/>
                <a:cs typeface="Arial"/>
                <a:sym typeface="Arial"/>
              </a:rPr>
              <a:t>ia  iao  ie  iu(iou)  ian  in  iang  ing  iong</a:t>
            </a:r>
            <a:br>
              <a:rPr lang="en-US">
                <a:solidFill>
                  <a:schemeClr val="dk1"/>
                </a:solidFill>
                <a:latin typeface="Arial"/>
                <a:ea typeface="Arial"/>
                <a:cs typeface="Arial"/>
                <a:sym typeface="Arial"/>
              </a:rPr>
            </a:br>
            <a:br>
              <a:rPr lang="en-US">
                <a:solidFill>
                  <a:schemeClr val="dk1"/>
                </a:solidFill>
                <a:latin typeface="Arial"/>
                <a:ea typeface="Arial"/>
                <a:cs typeface="Arial"/>
                <a:sym typeface="Arial"/>
              </a:rPr>
            </a:br>
            <a:endParaRPr>
              <a:solidFill>
                <a:srgbClr val="C00000"/>
              </a:solidFill>
              <a:latin typeface="Arial"/>
              <a:ea typeface="Arial"/>
              <a:cs typeface="Arial"/>
              <a:sym typeface="Arial"/>
            </a:endParaRPr>
          </a:p>
        </p:txBody>
      </p:sp>
      <p:sp>
        <p:nvSpPr>
          <p:cNvPr id="307" name="Google Shape;307;p24"/>
          <p:cNvSpPr txBox="1"/>
          <p:nvPr>
            <p:ph idx="1" type="body"/>
          </p:nvPr>
        </p:nvSpPr>
        <p:spPr>
          <a:xfrm>
            <a:off x="1371600" y="1166191"/>
            <a:ext cx="9601200" cy="470120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400"/>
              <a:buNone/>
            </a:pPr>
            <a:r>
              <a:rPr lang="en-US" sz="2400">
                <a:solidFill>
                  <a:srgbClr val="C00000"/>
                </a:solidFill>
              </a:rPr>
              <a:t>IA</a:t>
            </a:r>
            <a:r>
              <a:rPr lang="en-US" sz="2400"/>
              <a:t>  Like the ya in ‘yacht’ but tenser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IAO  </a:t>
            </a:r>
            <a:r>
              <a:rPr lang="en-US" sz="2400">
                <a:solidFill>
                  <a:schemeClr val="dk1"/>
                </a:solidFill>
              </a:rPr>
              <a:t>Like the yow in ‘yowl’ but shorter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IE</a:t>
            </a:r>
            <a:r>
              <a:rPr lang="en-US" sz="2400"/>
              <a:t>   Like the ye in ‘yet’ but held longer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IU/IOU</a:t>
            </a:r>
            <a:r>
              <a:rPr lang="en-US" sz="2400"/>
              <a:t>  Like ‘you’</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IAN  </a:t>
            </a:r>
            <a:r>
              <a:rPr lang="en-US" sz="2400">
                <a:solidFill>
                  <a:schemeClr val="dk1"/>
                </a:solidFill>
              </a:rPr>
              <a:t>Like ‘Yen’</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IN  </a:t>
            </a:r>
            <a:r>
              <a:rPr lang="en-US" sz="2400">
                <a:solidFill>
                  <a:schemeClr val="dk1"/>
                </a:solidFill>
              </a:rPr>
              <a:t>Like ‘inn’</a:t>
            </a:r>
            <a:endParaRPr sz="2400">
              <a:solidFill>
                <a:srgbClr val="C00000"/>
              </a:solidFill>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IANG  </a:t>
            </a:r>
            <a:r>
              <a:rPr lang="en-US" sz="2400">
                <a:solidFill>
                  <a:schemeClr val="dk1"/>
                </a:solidFill>
              </a:rPr>
              <a:t>Like ‘young’; the ng-sound should be less nasal.</a:t>
            </a:r>
            <a:endParaRPr sz="2400">
              <a:solidFill>
                <a:srgbClr val="C00000"/>
              </a:solidFill>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ING  </a:t>
            </a:r>
            <a:r>
              <a:rPr lang="en-US" sz="2400">
                <a:solidFill>
                  <a:schemeClr val="dk1"/>
                </a:solidFill>
              </a:rPr>
              <a:t>Like ing in ‘sing; the ng-sound should be less nasal.</a:t>
            </a:r>
            <a:endParaRPr sz="2400">
              <a:solidFill>
                <a:srgbClr val="C00000"/>
              </a:solidFill>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IONG  </a:t>
            </a:r>
            <a:r>
              <a:rPr lang="en-US" sz="2400">
                <a:solidFill>
                  <a:schemeClr val="dk1"/>
                </a:solidFill>
              </a:rPr>
              <a:t>(phonics)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5"/>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313" name="Google Shape;313;p25"/>
          <p:cNvSpPr txBox="1"/>
          <p:nvPr>
            <p:ph idx="1" type="body"/>
          </p:nvPr>
        </p:nvSpPr>
        <p:spPr>
          <a:xfrm>
            <a:off x="1530626" y="1338469"/>
            <a:ext cx="9601200" cy="469126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314" name="Google Shape;314;p25"/>
          <p:cNvGraphicFramePr/>
          <p:nvPr/>
        </p:nvGraphicFramePr>
        <p:xfrm>
          <a:off x="1530626" y="1338470"/>
          <a:ext cx="3000000" cy="3000000"/>
        </p:xfrm>
        <a:graphic>
          <a:graphicData uri="http://schemas.openxmlformats.org/drawingml/2006/table">
            <a:tbl>
              <a:tblPr bandRow="1" firstRow="1">
                <a:noFill/>
                <a:tableStyleId>{04EA08BB-91BC-40CF-88AF-34D070204335}</a:tableStyleId>
              </a:tblPr>
              <a:tblGrid>
                <a:gridCol w="1030250"/>
                <a:gridCol w="1052325"/>
                <a:gridCol w="1052325"/>
                <a:gridCol w="1052325"/>
                <a:gridCol w="1052325"/>
                <a:gridCol w="1052325"/>
                <a:gridCol w="1052325"/>
                <a:gridCol w="1052325"/>
                <a:gridCol w="1052325"/>
              </a:tblGrid>
              <a:tr h="754825">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lia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ling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jia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qia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825">
                <a:tc>
                  <a:txBody>
                    <a:bodyPr/>
                    <a:lstStyle/>
                    <a:p>
                      <a:pPr indent="0" lvl="0" marL="0" marR="0" rtl="0" algn="l">
                        <a:spcBef>
                          <a:spcPts val="0"/>
                        </a:spcBef>
                        <a:spcAft>
                          <a:spcPts val="0"/>
                        </a:spcAft>
                        <a:buNone/>
                      </a:pPr>
                      <a:r>
                        <a:rPr b="0" lang="en-US" sz="2400">
                          <a:latin typeface="Arial"/>
                          <a:ea typeface="Arial"/>
                          <a:cs typeface="Arial"/>
                          <a:sym typeface="Arial"/>
                        </a:rPr>
                        <a:t>xia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xiu</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xian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xin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xiang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xing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xiong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315" name="Google Shape;315;p25"/>
          <p:cNvPicPr preferRelativeResize="0"/>
          <p:nvPr/>
        </p:nvPicPr>
        <p:blipFill rotWithShape="1">
          <a:blip r:embed="rId3">
            <a:alphaModFix/>
          </a:blip>
          <a:srcRect b="0" l="0" r="0" t="0"/>
          <a:stretch/>
        </p:blipFill>
        <p:spPr>
          <a:xfrm>
            <a:off x="1641059" y="4886205"/>
            <a:ext cx="442290" cy="442290"/>
          </a:xfrm>
          <a:prstGeom prst="rect">
            <a:avLst/>
          </a:prstGeom>
          <a:noFill/>
          <a:ln>
            <a:noFill/>
          </a:ln>
        </p:spPr>
      </p:pic>
      <p:pic>
        <p:nvPicPr>
          <p:cNvPr id="316" name="Google Shape;316;p25"/>
          <p:cNvPicPr preferRelativeResize="0"/>
          <p:nvPr/>
        </p:nvPicPr>
        <p:blipFill rotWithShape="1">
          <a:blip r:embed="rId3">
            <a:alphaModFix/>
          </a:blip>
          <a:srcRect b="0" l="0" r="0" t="0"/>
          <a:stretch/>
        </p:blipFill>
        <p:spPr>
          <a:xfrm>
            <a:off x="2649879" y="4959621"/>
            <a:ext cx="434008" cy="434008"/>
          </a:xfrm>
          <a:prstGeom prst="rect">
            <a:avLst/>
          </a:prstGeom>
          <a:noFill/>
          <a:ln>
            <a:noFill/>
          </a:ln>
        </p:spPr>
      </p:pic>
      <p:pic>
        <p:nvPicPr>
          <p:cNvPr id="317" name="Google Shape;317;p25"/>
          <p:cNvPicPr preferRelativeResize="0"/>
          <p:nvPr/>
        </p:nvPicPr>
        <p:blipFill rotWithShape="1">
          <a:blip r:embed="rId3">
            <a:alphaModFix/>
          </a:blip>
          <a:srcRect b="0" l="0" r="0" t="0"/>
          <a:stretch/>
        </p:blipFill>
        <p:spPr>
          <a:xfrm>
            <a:off x="3686862" y="4909930"/>
            <a:ext cx="431817" cy="431817"/>
          </a:xfrm>
          <a:prstGeom prst="rect">
            <a:avLst/>
          </a:prstGeom>
          <a:noFill/>
          <a:ln>
            <a:noFill/>
          </a:ln>
        </p:spPr>
      </p:pic>
      <p:pic>
        <p:nvPicPr>
          <p:cNvPr id="318" name="Google Shape;318;p25"/>
          <p:cNvPicPr preferRelativeResize="0"/>
          <p:nvPr/>
        </p:nvPicPr>
        <p:blipFill rotWithShape="1">
          <a:blip r:embed="rId3">
            <a:alphaModFix/>
          </a:blip>
          <a:srcRect b="0" l="0" r="0" t="0"/>
          <a:stretch/>
        </p:blipFill>
        <p:spPr>
          <a:xfrm>
            <a:off x="4767471" y="4899991"/>
            <a:ext cx="434007" cy="434007"/>
          </a:xfrm>
          <a:prstGeom prst="rect">
            <a:avLst/>
          </a:prstGeom>
          <a:noFill/>
          <a:ln>
            <a:noFill/>
          </a:ln>
        </p:spPr>
      </p:pic>
      <p:pic>
        <p:nvPicPr>
          <p:cNvPr id="319" name="Google Shape;319;p25"/>
          <p:cNvPicPr preferRelativeResize="0"/>
          <p:nvPr/>
        </p:nvPicPr>
        <p:blipFill rotWithShape="1">
          <a:blip r:embed="rId3">
            <a:alphaModFix/>
          </a:blip>
          <a:srcRect b="0" l="0" r="0" t="0"/>
          <a:stretch/>
        </p:blipFill>
        <p:spPr>
          <a:xfrm>
            <a:off x="5811079" y="4909931"/>
            <a:ext cx="434008" cy="434008"/>
          </a:xfrm>
          <a:prstGeom prst="rect">
            <a:avLst/>
          </a:prstGeom>
          <a:noFill/>
          <a:ln>
            <a:noFill/>
          </a:ln>
        </p:spPr>
      </p:pic>
      <p:pic>
        <p:nvPicPr>
          <p:cNvPr id="320" name="Google Shape;320;p25"/>
          <p:cNvPicPr preferRelativeResize="0"/>
          <p:nvPr/>
        </p:nvPicPr>
        <p:blipFill rotWithShape="1">
          <a:blip r:embed="rId3">
            <a:alphaModFix/>
          </a:blip>
          <a:srcRect b="0" l="0" r="0" t="0"/>
          <a:stretch/>
        </p:blipFill>
        <p:spPr>
          <a:xfrm>
            <a:off x="6854688" y="4893366"/>
            <a:ext cx="453885" cy="453885"/>
          </a:xfrm>
          <a:prstGeom prst="rect">
            <a:avLst/>
          </a:prstGeom>
          <a:noFill/>
          <a:ln>
            <a:noFill/>
          </a:ln>
        </p:spPr>
      </p:pic>
      <p:pic>
        <p:nvPicPr>
          <p:cNvPr id="321" name="Google Shape;321;p25"/>
          <p:cNvPicPr preferRelativeResize="0"/>
          <p:nvPr/>
        </p:nvPicPr>
        <p:blipFill rotWithShape="1">
          <a:blip r:embed="rId3">
            <a:alphaModFix/>
          </a:blip>
          <a:srcRect b="0" l="0" r="0" t="0"/>
          <a:stretch/>
        </p:blipFill>
        <p:spPr>
          <a:xfrm>
            <a:off x="8030816" y="4903859"/>
            <a:ext cx="447261" cy="447261"/>
          </a:xfrm>
          <a:prstGeom prst="rect">
            <a:avLst/>
          </a:prstGeom>
          <a:noFill/>
          <a:ln>
            <a:noFill/>
          </a:ln>
        </p:spPr>
      </p:pic>
      <p:pic>
        <p:nvPicPr>
          <p:cNvPr id="322" name="Google Shape;322;p25"/>
          <p:cNvPicPr preferRelativeResize="0"/>
          <p:nvPr/>
        </p:nvPicPr>
        <p:blipFill rotWithShape="1">
          <a:blip r:embed="rId3">
            <a:alphaModFix/>
          </a:blip>
          <a:srcRect b="0" l="0" r="0" t="0"/>
          <a:stretch/>
        </p:blipFill>
        <p:spPr>
          <a:xfrm>
            <a:off x="9081052" y="4918767"/>
            <a:ext cx="447261" cy="447261"/>
          </a:xfrm>
          <a:prstGeom prst="rect">
            <a:avLst/>
          </a:prstGeom>
          <a:noFill/>
          <a:ln>
            <a:noFill/>
          </a:ln>
        </p:spPr>
      </p:pic>
      <p:pic>
        <p:nvPicPr>
          <p:cNvPr id="323" name="Google Shape;323;p25"/>
          <p:cNvPicPr preferRelativeResize="0"/>
          <p:nvPr/>
        </p:nvPicPr>
        <p:blipFill rotWithShape="1">
          <a:blip r:embed="rId3">
            <a:alphaModFix/>
          </a:blip>
          <a:srcRect b="0" l="0" r="0" t="0"/>
          <a:stretch/>
        </p:blipFill>
        <p:spPr>
          <a:xfrm>
            <a:off x="10141226" y="4896677"/>
            <a:ext cx="447261" cy="4472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0"/>
                                        <p:tgtEl>
                                          <p:spTgt spid="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6"/>
          <p:cNvSpPr txBox="1"/>
          <p:nvPr>
            <p:ph type="title"/>
          </p:nvPr>
        </p:nvSpPr>
        <p:spPr>
          <a:xfrm>
            <a:off x="1007166" y="454855"/>
            <a:ext cx="9965634" cy="63182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sz="3100">
                <a:solidFill>
                  <a:srgbClr val="C00000"/>
                </a:solidFill>
              </a:rPr>
              <a:t>Finals: </a:t>
            </a:r>
            <a:r>
              <a:rPr lang="en-US" sz="3100">
                <a:solidFill>
                  <a:srgbClr val="C00000"/>
                </a:solidFill>
                <a:latin typeface="Arial"/>
                <a:ea typeface="Arial"/>
                <a:cs typeface="Arial"/>
                <a:sym typeface="Arial"/>
              </a:rPr>
              <a:t>ua  uo  uai  ui(uei)  uan  un(uen)  uang  ueng</a:t>
            </a:r>
            <a:br>
              <a:rPr lang="en-US">
                <a:solidFill>
                  <a:schemeClr val="dk1"/>
                </a:solidFill>
                <a:latin typeface="Arial"/>
                <a:ea typeface="Arial"/>
                <a:cs typeface="Arial"/>
                <a:sym typeface="Arial"/>
              </a:rPr>
            </a:br>
            <a:br>
              <a:rPr lang="en-US">
                <a:solidFill>
                  <a:schemeClr val="dk1"/>
                </a:solidFill>
                <a:latin typeface="Arial"/>
                <a:ea typeface="Arial"/>
                <a:cs typeface="Arial"/>
                <a:sym typeface="Arial"/>
              </a:rPr>
            </a:br>
            <a:br>
              <a:rPr lang="en-US">
                <a:solidFill>
                  <a:schemeClr val="dk1"/>
                </a:solidFill>
                <a:latin typeface="Arial"/>
                <a:ea typeface="Arial"/>
                <a:cs typeface="Arial"/>
                <a:sym typeface="Arial"/>
              </a:rPr>
            </a:br>
            <a:endParaRPr>
              <a:solidFill>
                <a:srgbClr val="C00000"/>
              </a:solidFill>
              <a:latin typeface="Arial"/>
              <a:ea typeface="Arial"/>
              <a:cs typeface="Arial"/>
              <a:sym typeface="Arial"/>
            </a:endParaRPr>
          </a:p>
        </p:txBody>
      </p:sp>
      <p:sp>
        <p:nvSpPr>
          <p:cNvPr id="329" name="Google Shape;329;p26"/>
          <p:cNvSpPr txBox="1"/>
          <p:nvPr>
            <p:ph idx="1" type="body"/>
          </p:nvPr>
        </p:nvSpPr>
        <p:spPr>
          <a:xfrm>
            <a:off x="1295400" y="1086678"/>
            <a:ext cx="9601200" cy="5088835"/>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400"/>
              <a:buNone/>
            </a:pPr>
            <a:r>
              <a:rPr lang="en-US" sz="2400">
                <a:solidFill>
                  <a:srgbClr val="C00000"/>
                </a:solidFill>
              </a:rPr>
              <a:t>UA</a:t>
            </a:r>
            <a:r>
              <a:rPr lang="en-US" sz="2400">
                <a:solidFill>
                  <a:schemeClr val="dk1"/>
                </a:solidFill>
              </a:rPr>
              <a:t>  Like the wa in ‘wash’ with the mouth open widerly</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UO</a:t>
            </a:r>
            <a:r>
              <a:rPr lang="en-US" sz="2400">
                <a:solidFill>
                  <a:schemeClr val="dk1"/>
                </a:solidFill>
              </a:rPr>
              <a:t>  Begin with u, move to o, then end with e; pronounce u-o-e rapidly</a:t>
            </a:r>
            <a:endParaRPr/>
          </a:p>
          <a:p>
            <a:pPr indent="0" lvl="0" marL="0" rtl="0" algn="l">
              <a:lnSpc>
                <a:spcPct val="94000"/>
              </a:lnSpc>
              <a:spcBef>
                <a:spcPts val="1200"/>
              </a:spcBef>
              <a:spcAft>
                <a:spcPts val="0"/>
              </a:spcAft>
              <a:buClr>
                <a:schemeClr val="dk1"/>
              </a:buClr>
              <a:buSzPts val="2400"/>
              <a:buNone/>
            </a:pPr>
            <a:r>
              <a:rPr lang="en-US" sz="2400">
                <a:solidFill>
                  <a:schemeClr val="dk1"/>
                </a:solidFill>
              </a:rPr>
              <a:t>       Attention： o in ‘bo/po/mo/fo’ stands for ‘uo’</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UAI</a:t>
            </a:r>
            <a:r>
              <a:rPr lang="en-US" sz="2400">
                <a:solidFill>
                  <a:schemeClr val="dk1"/>
                </a:solidFill>
              </a:rPr>
              <a:t>  Like the wy in ‘Wyoming’ but shorter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UI(UEI)  </a:t>
            </a:r>
            <a:r>
              <a:rPr lang="en-US" sz="2400">
                <a:solidFill>
                  <a:schemeClr val="dk1"/>
                </a:solidFill>
              </a:rPr>
              <a:t>Like ‘way’ but shorter</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rPr>
              <a:t>UAN</a:t>
            </a:r>
            <a:r>
              <a:rPr lang="en-US" sz="2400">
                <a:solidFill>
                  <a:schemeClr val="dk1"/>
                </a:solidFill>
              </a:rPr>
              <a:t>  Like wan in ‘swan’</a:t>
            </a:r>
            <a:endParaRPr/>
          </a:p>
          <a:p>
            <a:pPr indent="0" lvl="0" marL="0" rtl="0" algn="l">
              <a:lnSpc>
                <a:spcPct val="94000"/>
              </a:lnSpc>
              <a:spcBef>
                <a:spcPts val="1200"/>
              </a:spcBef>
              <a:spcAft>
                <a:spcPts val="0"/>
              </a:spcAft>
              <a:buClr>
                <a:schemeClr val="dk1"/>
              </a:buClr>
              <a:buSzPts val="2400"/>
              <a:buNone/>
            </a:pPr>
            <a:r>
              <a:rPr lang="en-US" sz="2400">
                <a:solidFill>
                  <a:schemeClr val="dk1"/>
                </a:solidFill>
              </a:rPr>
              <a:t>        Attention: uan in ‘juan/quan/xuan’ stands for ‘</a:t>
            </a:r>
            <a:r>
              <a:rPr lang="en-US" sz="2400">
                <a:solidFill>
                  <a:schemeClr val="dk1"/>
                </a:solidFill>
                <a:latin typeface="Arial"/>
                <a:ea typeface="Arial"/>
                <a:cs typeface="Arial"/>
                <a:sym typeface="Arial"/>
              </a:rPr>
              <a:t>üan’, not ‘uan’</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UN(UEN)  </a:t>
            </a:r>
            <a:r>
              <a:rPr lang="en-US" sz="2400">
                <a:solidFill>
                  <a:schemeClr val="dk1"/>
                </a:solidFill>
                <a:latin typeface="Arial"/>
                <a:ea typeface="Arial"/>
                <a:cs typeface="Arial"/>
                <a:sym typeface="Arial"/>
              </a:rPr>
              <a:t>Like wen in ‘went’</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UANG</a:t>
            </a:r>
            <a:r>
              <a:rPr lang="en-US" sz="2400">
                <a:solidFill>
                  <a:schemeClr val="dk1"/>
                </a:solidFill>
                <a:latin typeface="Arial"/>
                <a:ea typeface="Arial"/>
                <a:cs typeface="Arial"/>
                <a:sym typeface="Arial"/>
              </a:rPr>
              <a:t>  Like won in ‘wonky’</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UENG</a:t>
            </a:r>
            <a:r>
              <a:rPr lang="en-US" sz="2400">
                <a:solidFill>
                  <a:schemeClr val="dk1"/>
                </a:solidFill>
                <a:latin typeface="Arial"/>
                <a:ea typeface="Arial"/>
                <a:cs typeface="Arial"/>
                <a:sym typeface="Arial"/>
              </a:rPr>
              <a:t>  (phonics) </a:t>
            </a:r>
            <a:endParaRPr/>
          </a:p>
          <a:p>
            <a:pPr indent="0" lvl="0" marL="0" rtl="0" algn="l">
              <a:lnSpc>
                <a:spcPct val="94000"/>
              </a:lnSpc>
              <a:spcBef>
                <a:spcPts val="1200"/>
              </a:spcBef>
              <a:spcAft>
                <a:spcPts val="0"/>
              </a:spcAft>
              <a:buClr>
                <a:schemeClr val="dk2"/>
              </a:buClr>
              <a:buSzPts val="2400"/>
              <a:buNone/>
            </a:pPr>
            <a:r>
              <a:t/>
            </a:r>
            <a:endParaRPr sz="24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335" name="Google Shape;335;p27"/>
          <p:cNvSpPr txBox="1"/>
          <p:nvPr>
            <p:ph idx="1" type="body"/>
          </p:nvPr>
        </p:nvSpPr>
        <p:spPr>
          <a:xfrm>
            <a:off x="1530626" y="1338469"/>
            <a:ext cx="9601200" cy="469126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336" name="Google Shape;336;p27"/>
          <p:cNvGraphicFramePr/>
          <p:nvPr/>
        </p:nvGraphicFramePr>
        <p:xfrm>
          <a:off x="1530625" y="1338469"/>
          <a:ext cx="3000000" cy="3000000"/>
        </p:xfrm>
        <a:graphic>
          <a:graphicData uri="http://schemas.openxmlformats.org/drawingml/2006/table">
            <a:tbl>
              <a:tblPr bandRow="1" firstRow="1">
                <a:noFill/>
                <a:tableStyleId>{04EA08BB-91BC-40CF-88AF-34D070204335}</a:tableStyleId>
              </a:tblPr>
              <a:tblGrid>
                <a:gridCol w="1178075"/>
                <a:gridCol w="1203300"/>
                <a:gridCol w="1203300"/>
                <a:gridCol w="1203300"/>
                <a:gridCol w="1203300"/>
                <a:gridCol w="1203300"/>
                <a:gridCol w="1203300"/>
                <a:gridCol w="1203300"/>
              </a:tblGrid>
              <a:tr h="689125">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ueng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zhua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zhuang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chua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chuang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shua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shuai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shuang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rua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ruo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24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rui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ruan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a:solidFill>
                            <a:schemeClr val="dk1"/>
                          </a:solidFill>
                          <a:latin typeface="Arial"/>
                          <a:ea typeface="Arial"/>
                          <a:cs typeface="Arial"/>
                          <a:sym typeface="Arial"/>
                        </a:rPr>
                        <a:t>run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Libre Franklin"/>
                        <a:buNone/>
                      </a:pPr>
                      <a:r>
                        <a:t/>
                      </a:r>
                      <a:endParaRPr b="0" sz="2400">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Libre Franklin"/>
                        <a:buNone/>
                      </a:pPr>
                      <a:r>
                        <a:t/>
                      </a:r>
                      <a:endParaRPr b="0" sz="2400">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337" name="Google Shape;337;p27"/>
          <p:cNvPicPr preferRelativeResize="0"/>
          <p:nvPr/>
        </p:nvPicPr>
        <p:blipFill rotWithShape="1">
          <a:blip r:embed="rId3">
            <a:alphaModFix/>
          </a:blip>
          <a:srcRect b="0" l="0" r="0" t="0"/>
          <a:stretch/>
        </p:blipFill>
        <p:spPr>
          <a:xfrm>
            <a:off x="1697929" y="5319091"/>
            <a:ext cx="440636" cy="440636"/>
          </a:xfrm>
          <a:prstGeom prst="rect">
            <a:avLst/>
          </a:prstGeom>
          <a:noFill/>
          <a:ln>
            <a:noFill/>
          </a:ln>
        </p:spPr>
      </p:pic>
      <p:pic>
        <p:nvPicPr>
          <p:cNvPr id="338" name="Google Shape;338;p27"/>
          <p:cNvPicPr preferRelativeResize="0"/>
          <p:nvPr/>
        </p:nvPicPr>
        <p:blipFill rotWithShape="1">
          <a:blip r:embed="rId3">
            <a:alphaModFix/>
          </a:blip>
          <a:srcRect b="0" l="0" r="0" t="0"/>
          <a:stretch/>
        </p:blipFill>
        <p:spPr>
          <a:xfrm>
            <a:off x="2776319" y="5319091"/>
            <a:ext cx="440637" cy="440637"/>
          </a:xfrm>
          <a:prstGeom prst="rect">
            <a:avLst/>
          </a:prstGeom>
          <a:noFill/>
          <a:ln>
            <a:noFill/>
          </a:ln>
        </p:spPr>
      </p:pic>
      <p:pic>
        <p:nvPicPr>
          <p:cNvPr id="339" name="Google Shape;339;p27"/>
          <p:cNvPicPr preferRelativeResize="0"/>
          <p:nvPr/>
        </p:nvPicPr>
        <p:blipFill rotWithShape="1">
          <a:blip r:embed="rId3">
            <a:alphaModFix/>
          </a:blip>
          <a:srcRect b="0" l="0" r="0" t="0"/>
          <a:stretch/>
        </p:blipFill>
        <p:spPr>
          <a:xfrm>
            <a:off x="4013733" y="5319091"/>
            <a:ext cx="440638" cy="440638"/>
          </a:xfrm>
          <a:prstGeom prst="rect">
            <a:avLst/>
          </a:prstGeom>
          <a:noFill/>
          <a:ln>
            <a:noFill/>
          </a:ln>
        </p:spPr>
      </p:pic>
      <p:pic>
        <p:nvPicPr>
          <p:cNvPr id="340" name="Google Shape;340;p27"/>
          <p:cNvPicPr preferRelativeResize="0"/>
          <p:nvPr/>
        </p:nvPicPr>
        <p:blipFill rotWithShape="1">
          <a:blip r:embed="rId3">
            <a:alphaModFix/>
          </a:blip>
          <a:srcRect b="0" l="0" r="0" t="0"/>
          <a:stretch/>
        </p:blipFill>
        <p:spPr>
          <a:xfrm>
            <a:off x="5229623" y="5319088"/>
            <a:ext cx="440639" cy="440639"/>
          </a:xfrm>
          <a:prstGeom prst="rect">
            <a:avLst/>
          </a:prstGeom>
          <a:noFill/>
          <a:ln>
            <a:noFill/>
          </a:ln>
        </p:spPr>
      </p:pic>
      <p:pic>
        <p:nvPicPr>
          <p:cNvPr id="341" name="Google Shape;341;p27"/>
          <p:cNvPicPr preferRelativeResize="0"/>
          <p:nvPr/>
        </p:nvPicPr>
        <p:blipFill rotWithShape="1">
          <a:blip r:embed="rId3">
            <a:alphaModFix/>
          </a:blip>
          <a:srcRect b="0" l="0" r="0" t="0"/>
          <a:stretch/>
        </p:blipFill>
        <p:spPr>
          <a:xfrm>
            <a:off x="6506821" y="5314117"/>
            <a:ext cx="440640" cy="440640"/>
          </a:xfrm>
          <a:prstGeom prst="rect">
            <a:avLst/>
          </a:prstGeom>
          <a:noFill/>
          <a:ln>
            <a:noFill/>
          </a:ln>
        </p:spPr>
      </p:pic>
      <p:pic>
        <p:nvPicPr>
          <p:cNvPr id="342" name="Google Shape;342;p27"/>
          <p:cNvPicPr preferRelativeResize="0"/>
          <p:nvPr/>
        </p:nvPicPr>
        <p:blipFill rotWithShape="1">
          <a:blip r:embed="rId3">
            <a:alphaModFix/>
          </a:blip>
          <a:srcRect b="0" l="0" r="0" t="0"/>
          <a:stretch/>
        </p:blipFill>
        <p:spPr>
          <a:xfrm>
            <a:off x="7648149" y="5314117"/>
            <a:ext cx="440641" cy="440641"/>
          </a:xfrm>
          <a:prstGeom prst="rect">
            <a:avLst/>
          </a:prstGeom>
          <a:noFill/>
          <a:ln>
            <a:noFill/>
          </a:ln>
        </p:spPr>
      </p:pic>
      <p:pic>
        <p:nvPicPr>
          <p:cNvPr id="343" name="Google Shape;343;p27"/>
          <p:cNvPicPr preferRelativeResize="0"/>
          <p:nvPr/>
        </p:nvPicPr>
        <p:blipFill rotWithShape="1">
          <a:blip r:embed="rId3">
            <a:alphaModFix/>
          </a:blip>
          <a:srcRect b="0" l="0" r="0" t="0"/>
          <a:stretch/>
        </p:blipFill>
        <p:spPr>
          <a:xfrm>
            <a:off x="9064488" y="5314115"/>
            <a:ext cx="440642" cy="440642"/>
          </a:xfrm>
          <a:prstGeom prst="rect">
            <a:avLst/>
          </a:prstGeom>
          <a:noFill/>
          <a:ln>
            <a:noFill/>
          </a:ln>
        </p:spPr>
      </p:pic>
      <p:pic>
        <p:nvPicPr>
          <p:cNvPr id="344" name="Google Shape;344;p27"/>
          <p:cNvPicPr preferRelativeResize="0"/>
          <p:nvPr/>
        </p:nvPicPr>
        <p:blipFill rotWithShape="1">
          <a:blip r:embed="rId3">
            <a:alphaModFix/>
          </a:blip>
          <a:srcRect b="0" l="0" r="0" t="0"/>
          <a:stretch/>
        </p:blipFill>
        <p:spPr>
          <a:xfrm>
            <a:off x="10341687" y="5314115"/>
            <a:ext cx="440643" cy="4406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254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ph type="title"/>
          </p:nvPr>
        </p:nvSpPr>
        <p:spPr>
          <a:xfrm>
            <a:off x="1007166" y="454855"/>
            <a:ext cx="9965634" cy="63182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Finals: </a:t>
            </a:r>
            <a:r>
              <a:rPr lang="en-US">
                <a:solidFill>
                  <a:srgbClr val="C00000"/>
                </a:solidFill>
                <a:latin typeface="Arial"/>
                <a:ea typeface="Arial"/>
                <a:cs typeface="Arial"/>
                <a:sym typeface="Arial"/>
              </a:rPr>
              <a:t>üe  üan  ün(üen) and er</a:t>
            </a:r>
            <a:br>
              <a:rPr lang="en-US" sz="3200">
                <a:solidFill>
                  <a:schemeClr val="dk1"/>
                </a:solidFill>
                <a:latin typeface="Arial"/>
                <a:ea typeface="Arial"/>
                <a:cs typeface="Arial"/>
                <a:sym typeface="Arial"/>
              </a:rPr>
            </a:br>
            <a:br>
              <a:rPr lang="en-US">
                <a:solidFill>
                  <a:schemeClr val="dk1"/>
                </a:solidFill>
                <a:latin typeface="Arial"/>
                <a:ea typeface="Arial"/>
                <a:cs typeface="Arial"/>
                <a:sym typeface="Arial"/>
              </a:rPr>
            </a:br>
            <a:br>
              <a:rPr lang="en-US">
                <a:solidFill>
                  <a:schemeClr val="dk1"/>
                </a:solidFill>
                <a:latin typeface="Arial"/>
                <a:ea typeface="Arial"/>
                <a:cs typeface="Arial"/>
                <a:sym typeface="Arial"/>
              </a:rPr>
            </a:br>
            <a:br>
              <a:rPr lang="en-US">
                <a:solidFill>
                  <a:schemeClr val="dk1"/>
                </a:solidFill>
                <a:latin typeface="Arial"/>
                <a:ea typeface="Arial"/>
                <a:cs typeface="Arial"/>
                <a:sym typeface="Arial"/>
              </a:rPr>
            </a:br>
            <a:endParaRPr>
              <a:solidFill>
                <a:srgbClr val="C00000"/>
              </a:solidFill>
              <a:latin typeface="Arial"/>
              <a:ea typeface="Arial"/>
              <a:cs typeface="Arial"/>
              <a:sym typeface="Arial"/>
            </a:endParaRPr>
          </a:p>
        </p:txBody>
      </p:sp>
      <p:sp>
        <p:nvSpPr>
          <p:cNvPr id="350" name="Google Shape;350;p28"/>
          <p:cNvSpPr txBox="1"/>
          <p:nvPr>
            <p:ph idx="1" type="body"/>
          </p:nvPr>
        </p:nvSpPr>
        <p:spPr>
          <a:xfrm>
            <a:off x="1007166" y="1314310"/>
            <a:ext cx="9601200" cy="5088835"/>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rgbClr val="C00000"/>
              </a:buClr>
              <a:buSzPts val="2400"/>
              <a:buNone/>
            </a:pPr>
            <a:r>
              <a:rPr lang="en-US" sz="2400">
                <a:solidFill>
                  <a:srgbClr val="C00000"/>
                </a:solidFill>
                <a:latin typeface="Arial"/>
                <a:ea typeface="Arial"/>
                <a:cs typeface="Arial"/>
                <a:sym typeface="Arial"/>
              </a:rPr>
              <a:t>ÜE  </a:t>
            </a:r>
            <a:r>
              <a:rPr lang="en-US" sz="2400">
                <a:solidFill>
                  <a:schemeClr val="dk1"/>
                </a:solidFill>
                <a:latin typeface="Arial"/>
                <a:ea typeface="Arial"/>
                <a:cs typeface="Arial"/>
                <a:sym typeface="Arial"/>
              </a:rPr>
              <a:t>Ü followed immediately by e as in ‘met’</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ÜAN  </a:t>
            </a:r>
            <a:r>
              <a:rPr lang="en-US" sz="2400">
                <a:solidFill>
                  <a:schemeClr val="dk1"/>
                </a:solidFill>
                <a:latin typeface="Arial"/>
                <a:ea typeface="Arial"/>
                <a:cs typeface="Arial"/>
                <a:sym typeface="Arial"/>
              </a:rPr>
              <a:t>Ü followed immediately by an as in ‘pawn’</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ÜN(ÜEN)  </a:t>
            </a:r>
            <a:r>
              <a:rPr lang="en-US" sz="2400">
                <a:solidFill>
                  <a:schemeClr val="dk1"/>
                </a:solidFill>
                <a:latin typeface="Arial"/>
                <a:ea typeface="Arial"/>
                <a:cs typeface="Arial"/>
                <a:sym typeface="Arial"/>
              </a:rPr>
              <a:t>Ü followed immediately by en as in ‘chicken’</a:t>
            </a:r>
            <a:endParaRPr/>
          </a:p>
          <a:p>
            <a:pPr indent="0" lvl="0" marL="0" rtl="0" algn="l">
              <a:lnSpc>
                <a:spcPct val="94000"/>
              </a:lnSpc>
              <a:spcBef>
                <a:spcPts val="1200"/>
              </a:spcBef>
              <a:spcAft>
                <a:spcPts val="0"/>
              </a:spcAft>
              <a:buClr>
                <a:schemeClr val="dk1"/>
              </a:buClr>
              <a:buSzPts val="2400"/>
              <a:buNone/>
            </a:pPr>
            <a:r>
              <a:rPr lang="en-US" sz="2400">
                <a:solidFill>
                  <a:schemeClr val="dk1"/>
                </a:solidFill>
                <a:latin typeface="Arial"/>
                <a:ea typeface="Arial"/>
                <a:cs typeface="Arial"/>
                <a:sym typeface="Arial"/>
              </a:rPr>
              <a:t>and</a:t>
            </a:r>
            <a:endParaRPr/>
          </a:p>
          <a:p>
            <a:pPr indent="0" lvl="0" marL="0" rtl="0" algn="l">
              <a:lnSpc>
                <a:spcPct val="94000"/>
              </a:lnSpc>
              <a:spcBef>
                <a:spcPts val="1200"/>
              </a:spcBef>
              <a:spcAft>
                <a:spcPts val="0"/>
              </a:spcAft>
              <a:buClr>
                <a:srgbClr val="C00000"/>
              </a:buClr>
              <a:buSzPts val="2400"/>
              <a:buNone/>
            </a:pPr>
            <a:r>
              <a:rPr lang="en-US" sz="2400">
                <a:solidFill>
                  <a:srgbClr val="C00000"/>
                </a:solidFill>
                <a:latin typeface="Arial"/>
                <a:ea typeface="Arial"/>
                <a:cs typeface="Arial"/>
                <a:sym typeface="Arial"/>
              </a:rPr>
              <a:t>ER</a:t>
            </a:r>
            <a:r>
              <a:rPr lang="en-US" sz="2400">
                <a:solidFill>
                  <a:schemeClr val="dk1"/>
                </a:solidFill>
                <a:latin typeface="Arial"/>
                <a:ea typeface="Arial"/>
                <a:cs typeface="Arial"/>
                <a:sym typeface="Arial"/>
              </a:rPr>
              <a:t>  between ‘are’ and ‘err’ with the tongue curled even further back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9"/>
          <p:cNvSpPr txBox="1"/>
          <p:nvPr>
            <p:ph type="title"/>
          </p:nvPr>
        </p:nvSpPr>
        <p:spPr>
          <a:xfrm>
            <a:off x="1371600" y="685800"/>
            <a:ext cx="9601200" cy="65267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Exercise:</a:t>
            </a:r>
            <a:endParaRPr/>
          </a:p>
        </p:txBody>
      </p:sp>
      <p:sp>
        <p:nvSpPr>
          <p:cNvPr id="356" name="Google Shape;356;p29"/>
          <p:cNvSpPr txBox="1"/>
          <p:nvPr>
            <p:ph idx="1" type="body"/>
          </p:nvPr>
        </p:nvSpPr>
        <p:spPr>
          <a:xfrm>
            <a:off x="1530626" y="1338469"/>
            <a:ext cx="9601200" cy="4691269"/>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t/>
            </a:r>
            <a:endParaRPr sz="2800">
              <a:latin typeface="Arial"/>
              <a:ea typeface="Arial"/>
              <a:cs typeface="Arial"/>
              <a:sym typeface="Arial"/>
            </a:endParaRPr>
          </a:p>
        </p:txBody>
      </p:sp>
      <p:graphicFrame>
        <p:nvGraphicFramePr>
          <p:cNvPr id="357" name="Google Shape;357;p29"/>
          <p:cNvGraphicFramePr/>
          <p:nvPr/>
        </p:nvGraphicFramePr>
        <p:xfrm>
          <a:off x="1530625" y="1338469"/>
          <a:ext cx="3000000" cy="3000000"/>
        </p:xfrm>
        <a:graphic>
          <a:graphicData uri="http://schemas.openxmlformats.org/drawingml/2006/table">
            <a:tbl>
              <a:tblPr bandRow="1" firstRow="1">
                <a:noFill/>
                <a:tableStyleId>{04EA08BB-91BC-40CF-88AF-34D070204335}</a:tableStyleId>
              </a:tblPr>
              <a:tblGrid>
                <a:gridCol w="1178075"/>
                <a:gridCol w="1203300"/>
                <a:gridCol w="1203300"/>
              </a:tblGrid>
              <a:tr h="689125">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üe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üan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rgbClr val="C00000"/>
                          </a:solidFill>
                          <a:latin typeface="Arial"/>
                          <a:ea typeface="Arial"/>
                          <a:cs typeface="Arial"/>
                          <a:sym typeface="Arial"/>
                        </a:rPr>
                        <a:t>ün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jue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jun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que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qun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1150">
                <a:tc>
                  <a:txBody>
                    <a:bodyPr/>
                    <a:lstStyle/>
                    <a:p>
                      <a:pPr indent="0" lvl="0" marL="0" marR="0" rtl="0" algn="l">
                        <a:spcBef>
                          <a:spcPts val="0"/>
                        </a:spcBef>
                        <a:spcAft>
                          <a:spcPts val="0"/>
                        </a:spcAft>
                        <a:buNone/>
                      </a:pPr>
                      <a:r>
                        <a:rPr b="0" lang="en-US" sz="2400">
                          <a:latin typeface="Arial"/>
                          <a:ea typeface="Arial"/>
                          <a:cs typeface="Arial"/>
                          <a:sym typeface="Arial"/>
                        </a:rPr>
                        <a:t>xue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xuan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latin typeface="Arial"/>
                          <a:ea typeface="Arial"/>
                          <a:cs typeface="Arial"/>
                          <a:sym typeface="Arial"/>
                        </a:rPr>
                        <a:t>xun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358" name="Google Shape;358;p29"/>
          <p:cNvPicPr preferRelativeResize="0"/>
          <p:nvPr/>
        </p:nvPicPr>
        <p:blipFill rotWithShape="1">
          <a:blip r:embed="rId3">
            <a:alphaModFix/>
          </a:blip>
          <a:srcRect b="0" l="0" r="0" t="0"/>
          <a:stretch/>
        </p:blipFill>
        <p:spPr>
          <a:xfrm>
            <a:off x="1683026" y="4817166"/>
            <a:ext cx="417442" cy="417442"/>
          </a:xfrm>
          <a:prstGeom prst="rect">
            <a:avLst/>
          </a:prstGeom>
          <a:noFill/>
          <a:ln>
            <a:noFill/>
          </a:ln>
        </p:spPr>
      </p:pic>
      <p:pic>
        <p:nvPicPr>
          <p:cNvPr id="359" name="Google Shape;359;p29"/>
          <p:cNvPicPr preferRelativeResize="0"/>
          <p:nvPr/>
        </p:nvPicPr>
        <p:blipFill rotWithShape="1">
          <a:blip r:embed="rId3">
            <a:alphaModFix/>
          </a:blip>
          <a:srcRect b="0" l="0" r="0" t="0"/>
          <a:stretch/>
        </p:blipFill>
        <p:spPr>
          <a:xfrm>
            <a:off x="2905521" y="4817165"/>
            <a:ext cx="417443" cy="417443"/>
          </a:xfrm>
          <a:prstGeom prst="rect">
            <a:avLst/>
          </a:prstGeom>
          <a:noFill/>
          <a:ln>
            <a:noFill/>
          </a:ln>
        </p:spPr>
      </p:pic>
      <p:pic>
        <p:nvPicPr>
          <p:cNvPr id="360" name="Google Shape;360;p29"/>
          <p:cNvPicPr preferRelativeResize="0"/>
          <p:nvPr/>
        </p:nvPicPr>
        <p:blipFill rotWithShape="1">
          <a:blip r:embed="rId3">
            <a:alphaModFix/>
          </a:blip>
          <a:srcRect b="0" l="0" r="0" t="0"/>
          <a:stretch/>
        </p:blipFill>
        <p:spPr>
          <a:xfrm>
            <a:off x="4128011" y="4817165"/>
            <a:ext cx="417447" cy="4174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0"/>
          <p:cNvSpPr txBox="1"/>
          <p:nvPr>
            <p:ph type="title"/>
          </p:nvPr>
        </p:nvSpPr>
        <p:spPr>
          <a:xfrm>
            <a:off x="838200" y="327418"/>
            <a:ext cx="10515600" cy="1133738"/>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Tones</a:t>
            </a:r>
            <a:endParaRPr/>
          </a:p>
        </p:txBody>
      </p:sp>
      <p:sp>
        <p:nvSpPr>
          <p:cNvPr id="366" name="Google Shape;366;p30"/>
          <p:cNvSpPr txBox="1"/>
          <p:nvPr>
            <p:ph idx="1" type="body"/>
          </p:nvPr>
        </p:nvSpPr>
        <p:spPr>
          <a:xfrm>
            <a:off x="838200" y="1571223"/>
            <a:ext cx="10515600" cy="460574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800"/>
              <a:buNone/>
            </a:pPr>
            <a:r>
              <a:rPr lang="en-US" sz="2800"/>
              <a:t>Tones in Chinese refer to the pitch patterns which accompany the pronunciation of the whole syllables. The tone is combined with the initial and the final to generate a Chinese syllable. The syllables with exactly the same initials and finals likely have different meanings if the tones are different.  </a:t>
            </a:r>
            <a:endParaRPr/>
          </a:p>
          <a:p>
            <a:pPr indent="0" lvl="0" marL="0" rtl="0" algn="l">
              <a:lnSpc>
                <a:spcPct val="94000"/>
              </a:lnSpc>
              <a:spcBef>
                <a:spcPts val="1200"/>
              </a:spcBef>
              <a:spcAft>
                <a:spcPts val="0"/>
              </a:spcAft>
              <a:buClr>
                <a:schemeClr val="dk2"/>
              </a:buClr>
              <a:buSzPts val="2800"/>
              <a:buNone/>
            </a:pPr>
            <a:r>
              <a:rPr lang="en-US" sz="2800"/>
              <a:t>Tone marks are written over the main vowels of a syllable. The main vowels can be identified  according the sequence: a-o-e-i-u-ü.</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1"/>
          <p:cNvSpPr txBox="1"/>
          <p:nvPr>
            <p:ph type="title"/>
          </p:nvPr>
        </p:nvSpPr>
        <p:spPr>
          <a:xfrm>
            <a:off x="774111" y="410818"/>
            <a:ext cx="8596668" cy="677917"/>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2800"/>
              <a:buFont typeface="Libre Franklin"/>
              <a:buNone/>
            </a:pPr>
            <a:r>
              <a:rPr lang="en-US" sz="2800">
                <a:solidFill>
                  <a:srgbClr val="C00000"/>
                </a:solidFill>
              </a:rPr>
              <a:t>Hanyu Pinyin Chart (1/4)</a:t>
            </a:r>
            <a:endParaRPr/>
          </a:p>
        </p:txBody>
      </p:sp>
      <p:pic>
        <p:nvPicPr>
          <p:cNvPr id="372" name="Google Shape;372;p31"/>
          <p:cNvPicPr preferRelativeResize="0"/>
          <p:nvPr>
            <p:ph idx="1" type="body"/>
          </p:nvPr>
        </p:nvPicPr>
        <p:blipFill rotWithShape="1">
          <a:blip r:embed="rId3">
            <a:alphaModFix/>
          </a:blip>
          <a:srcRect b="0" l="0" r="0" t="0"/>
          <a:stretch/>
        </p:blipFill>
        <p:spPr>
          <a:xfrm>
            <a:off x="774111" y="863447"/>
            <a:ext cx="10410724" cy="58819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2"/>
          <p:cNvSpPr txBox="1"/>
          <p:nvPr>
            <p:ph type="title"/>
          </p:nvPr>
        </p:nvSpPr>
        <p:spPr>
          <a:xfrm>
            <a:off x="838200" y="365125"/>
            <a:ext cx="10515600" cy="416753"/>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sz="2800">
                <a:solidFill>
                  <a:srgbClr val="C00000"/>
                </a:solidFill>
              </a:rPr>
              <a:t>Hanyu Pinyin Chart (2/4)</a:t>
            </a:r>
            <a:endParaRPr/>
          </a:p>
        </p:txBody>
      </p:sp>
      <p:pic>
        <p:nvPicPr>
          <p:cNvPr id="378" name="Google Shape;378;p32"/>
          <p:cNvPicPr preferRelativeResize="0"/>
          <p:nvPr>
            <p:ph idx="1" type="body"/>
          </p:nvPr>
        </p:nvPicPr>
        <p:blipFill rotWithShape="1">
          <a:blip r:embed="rId3">
            <a:alphaModFix/>
          </a:blip>
          <a:srcRect b="0" l="0" r="0" t="0"/>
          <a:stretch/>
        </p:blipFill>
        <p:spPr>
          <a:xfrm>
            <a:off x="838200" y="781877"/>
            <a:ext cx="9405730" cy="595022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3"/>
          <p:cNvSpPr txBox="1"/>
          <p:nvPr>
            <p:ph type="title"/>
          </p:nvPr>
        </p:nvSpPr>
        <p:spPr>
          <a:xfrm>
            <a:off x="838200" y="365126"/>
            <a:ext cx="10515600" cy="45651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sz="2800">
                <a:solidFill>
                  <a:srgbClr val="C00000"/>
                </a:solidFill>
              </a:rPr>
              <a:t>Hanyu Pinyin Chart (3/4)</a:t>
            </a:r>
            <a:endParaRPr/>
          </a:p>
        </p:txBody>
      </p:sp>
      <p:pic>
        <p:nvPicPr>
          <p:cNvPr id="384" name="Google Shape;384;p33"/>
          <p:cNvPicPr preferRelativeResize="0"/>
          <p:nvPr>
            <p:ph idx="1" type="body"/>
          </p:nvPr>
        </p:nvPicPr>
        <p:blipFill rotWithShape="1">
          <a:blip r:embed="rId3">
            <a:alphaModFix/>
          </a:blip>
          <a:srcRect b="0" l="0" r="0" t="0"/>
          <a:stretch/>
        </p:blipFill>
        <p:spPr>
          <a:xfrm>
            <a:off x="838200" y="821636"/>
            <a:ext cx="9034670" cy="567123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txBox="1"/>
          <p:nvPr>
            <p:ph type="title"/>
          </p:nvPr>
        </p:nvSpPr>
        <p:spPr>
          <a:xfrm>
            <a:off x="838200" y="365126"/>
            <a:ext cx="10515600" cy="443258"/>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sz="2800">
                <a:solidFill>
                  <a:srgbClr val="C00000"/>
                </a:solidFill>
              </a:rPr>
              <a:t>Hanyu Pinyin Chart (4/4)</a:t>
            </a:r>
            <a:endParaRPr/>
          </a:p>
        </p:txBody>
      </p:sp>
      <p:pic>
        <p:nvPicPr>
          <p:cNvPr id="390" name="Google Shape;390;p34"/>
          <p:cNvPicPr preferRelativeResize="0"/>
          <p:nvPr>
            <p:ph idx="1" type="body"/>
          </p:nvPr>
        </p:nvPicPr>
        <p:blipFill rotWithShape="1">
          <a:blip r:embed="rId3">
            <a:alphaModFix/>
          </a:blip>
          <a:srcRect b="0" l="0" r="0" t="0"/>
          <a:stretch/>
        </p:blipFill>
        <p:spPr>
          <a:xfrm>
            <a:off x="838200" y="808384"/>
            <a:ext cx="5257800" cy="568449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rgbClr val="C00000"/>
              </a:buClr>
              <a:buSzPts val="4400"/>
              <a:buFont typeface="Libre Franklin"/>
              <a:buNone/>
            </a:pPr>
            <a:r>
              <a:rPr lang="en-US">
                <a:solidFill>
                  <a:srgbClr val="C00000"/>
                </a:solidFill>
              </a:rPr>
              <a:t>Tones</a:t>
            </a:r>
            <a:endParaRPr/>
          </a:p>
        </p:txBody>
      </p:sp>
      <p:sp>
        <p:nvSpPr>
          <p:cNvPr id="396" name="Google Shape;396;p35"/>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dk2"/>
              </a:buClr>
              <a:buSzPts val="2000"/>
              <a:buNone/>
            </a:pPr>
            <a:r>
              <a:rPr lang="en-US"/>
              <a:t>The first tone is a high-level tone with a pitch value of "5-5" ; </a:t>
            </a:r>
            <a:endParaRPr/>
          </a:p>
          <a:p>
            <a:pPr indent="0" lvl="0" marL="0" rtl="0" algn="l">
              <a:lnSpc>
                <a:spcPct val="94000"/>
              </a:lnSpc>
              <a:spcBef>
                <a:spcPts val="1200"/>
              </a:spcBef>
              <a:spcAft>
                <a:spcPts val="0"/>
              </a:spcAft>
              <a:buClr>
                <a:schemeClr val="dk2"/>
              </a:buClr>
              <a:buSzPts val="2000"/>
              <a:buNone/>
            </a:pPr>
            <a:r>
              <a:rPr lang="en-US"/>
              <a:t>The second tone is a mid-rising tone with a pitch value of "3-5"; </a:t>
            </a:r>
            <a:endParaRPr/>
          </a:p>
          <a:p>
            <a:pPr indent="0" lvl="0" marL="0" rtl="0" algn="l">
              <a:lnSpc>
                <a:spcPct val="94000"/>
              </a:lnSpc>
              <a:spcBef>
                <a:spcPts val="1200"/>
              </a:spcBef>
              <a:spcAft>
                <a:spcPts val="0"/>
              </a:spcAft>
              <a:buClr>
                <a:schemeClr val="dk2"/>
              </a:buClr>
              <a:buSzPts val="2000"/>
              <a:buNone/>
            </a:pPr>
            <a:r>
              <a:rPr lang="en-US"/>
              <a:t>The third tone is a low-curve tone with a pitch value of "2-1-1-4 "; and The fourth tone is a high-falling tone with a pitch value of "5-1". </a:t>
            </a:r>
            <a:endParaRPr/>
          </a:p>
          <a:p>
            <a:pPr indent="0" lvl="0" marL="0" rtl="0" algn="l">
              <a:lnSpc>
                <a:spcPct val="94000"/>
              </a:lnSpc>
              <a:spcBef>
                <a:spcPts val="1200"/>
              </a:spcBef>
              <a:spcAft>
                <a:spcPts val="0"/>
              </a:spcAft>
              <a:buClr>
                <a:schemeClr val="dk2"/>
              </a:buClr>
              <a:buSzPts val="2000"/>
              <a:buNone/>
            </a:pPr>
            <a:r>
              <a:t/>
            </a:r>
            <a:endParaRPr/>
          </a:p>
        </p:txBody>
      </p:sp>
      <p:pic>
        <p:nvPicPr>
          <p:cNvPr id="397" name="Google Shape;397;p35"/>
          <p:cNvPicPr preferRelativeResize="0"/>
          <p:nvPr/>
        </p:nvPicPr>
        <p:blipFill rotWithShape="1">
          <a:blip r:embed="rId3">
            <a:alphaModFix/>
          </a:blip>
          <a:srcRect b="0" l="0" r="0" t="0"/>
          <a:stretch/>
        </p:blipFill>
        <p:spPr>
          <a:xfrm>
            <a:off x="838200" y="3832594"/>
            <a:ext cx="10540247" cy="205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6"/>
          <p:cNvSpPr txBox="1"/>
          <p:nvPr>
            <p:ph type="title"/>
          </p:nvPr>
        </p:nvSpPr>
        <p:spPr>
          <a:xfrm>
            <a:off x="1066800" y="407505"/>
            <a:ext cx="9601200" cy="57315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89000"/>
              </a:lnSpc>
              <a:spcBef>
                <a:spcPts val="0"/>
              </a:spcBef>
              <a:spcAft>
                <a:spcPts val="0"/>
              </a:spcAft>
              <a:buClr>
                <a:srgbClr val="C00000"/>
              </a:buClr>
              <a:buSzPct val="100000"/>
              <a:buFont typeface="Libre Franklin"/>
              <a:buNone/>
            </a:pPr>
            <a:r>
              <a:rPr lang="en-US">
                <a:solidFill>
                  <a:srgbClr val="C00000"/>
                </a:solidFill>
              </a:rPr>
              <a:t>Useful Classroom Expressions</a:t>
            </a:r>
            <a:endParaRPr/>
          </a:p>
        </p:txBody>
      </p:sp>
      <p:graphicFrame>
        <p:nvGraphicFramePr>
          <p:cNvPr id="403" name="Google Shape;403;p36"/>
          <p:cNvGraphicFramePr/>
          <p:nvPr/>
        </p:nvGraphicFramePr>
        <p:xfrm>
          <a:off x="1066801" y="980662"/>
          <a:ext cx="3000000" cy="3000000"/>
        </p:xfrm>
        <a:graphic>
          <a:graphicData uri="http://schemas.openxmlformats.org/drawingml/2006/table">
            <a:tbl>
              <a:tblPr bandRow="1" firstCol="1" firstRow="1">
                <a:noFill/>
                <a:tableStyleId>{B6BFDDE6-8D38-44A2-92BD-6159FD400C31}</a:tableStyleId>
              </a:tblPr>
              <a:tblGrid>
                <a:gridCol w="4691575"/>
                <a:gridCol w="4909625"/>
              </a:tblGrid>
              <a:tr h="513350">
                <a:tc>
                  <a:txBody>
                    <a:bodyPr/>
                    <a:lstStyle/>
                    <a:p>
                      <a:pPr indent="0" lvl="0" marL="0" marR="0" rtl="0" algn="l">
                        <a:lnSpc>
                          <a:spcPct val="107000"/>
                        </a:lnSpc>
                        <a:spcBef>
                          <a:spcPts val="0"/>
                        </a:spcBef>
                        <a:spcAft>
                          <a:spcPts val="0"/>
                        </a:spcAft>
                        <a:buNone/>
                      </a:pPr>
                      <a:r>
                        <a:rPr b="0" lang="en-US" sz="3200">
                          <a:solidFill>
                            <a:srgbClr val="D8D8D8"/>
                          </a:solidFill>
                        </a:rPr>
                        <a:t>Let's begin the class.</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b="0" lang="en-US" sz="3200">
                          <a:solidFill>
                            <a:schemeClr val="dk1"/>
                          </a:solidFill>
                        </a:rPr>
                        <a:t>Shàngkè.</a:t>
                      </a:r>
                      <a:endParaRPr b="0" sz="2400">
                        <a:solidFill>
                          <a:schemeClr val="dk1"/>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Hello, teacher.</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Lǎoshī hǎo.</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Hello everyone.</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Dàjiā hǎo.</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Please sit down.</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Qǐng zuò.</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Repeat after me.</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Gēn wǒ shuō.</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Say it again.</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Zàishuō yībiàn.</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Very good.</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Hěn hǎo.</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The class is over.</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Xiàkè.</a:t>
                      </a:r>
                      <a:endParaRPr sz="2400">
                        <a:solidFill>
                          <a:srgbClr val="000000"/>
                        </a:solidFill>
                        <a:latin typeface="Calibri"/>
                        <a:ea typeface="Calibri"/>
                        <a:cs typeface="Calibri"/>
                        <a:sym typeface="Calibri"/>
                      </a:endParaRPr>
                    </a:p>
                  </a:txBody>
                  <a:tcPr marT="0" marB="0" marR="68575" marL="68575">
                    <a:solidFill>
                      <a:srgbClr val="BFBFBF"/>
                    </a:solidFill>
                  </a:tcPr>
                </a:tc>
              </a:tr>
              <a:tr h="518950">
                <a:tc>
                  <a:txBody>
                    <a:bodyPr/>
                    <a:lstStyle/>
                    <a:p>
                      <a:pPr indent="0" lvl="0" marL="0" marR="0" rtl="0" algn="l">
                        <a:lnSpc>
                          <a:spcPct val="107000"/>
                        </a:lnSpc>
                        <a:spcBef>
                          <a:spcPts val="0"/>
                        </a:spcBef>
                        <a:spcAft>
                          <a:spcPts val="0"/>
                        </a:spcAft>
                        <a:buNone/>
                      </a:pPr>
                      <a:r>
                        <a:rPr b="0" lang="en-US" sz="3200">
                          <a:solidFill>
                            <a:srgbClr val="D8D8D8"/>
                          </a:solidFill>
                        </a:rPr>
                        <a:t>Thank you, teacher.</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Xièxiè lǎoshī.</a:t>
                      </a:r>
                      <a:endParaRPr sz="2400">
                        <a:solidFill>
                          <a:srgbClr val="000000"/>
                        </a:solidFill>
                        <a:latin typeface="Calibri"/>
                        <a:ea typeface="Calibri"/>
                        <a:cs typeface="Calibri"/>
                        <a:sym typeface="Calibri"/>
                      </a:endParaRPr>
                    </a:p>
                  </a:txBody>
                  <a:tcPr marT="0" marB="0" marR="68575" marL="68575">
                    <a:solidFill>
                      <a:srgbClr val="BFBFBF"/>
                    </a:solidFill>
                  </a:tcPr>
                </a:tc>
              </a:tr>
              <a:tr h="397475">
                <a:tc>
                  <a:txBody>
                    <a:bodyPr/>
                    <a:lstStyle/>
                    <a:p>
                      <a:pPr indent="0" lvl="0" marL="0" marR="0" rtl="0" algn="l">
                        <a:lnSpc>
                          <a:spcPct val="107000"/>
                        </a:lnSpc>
                        <a:spcBef>
                          <a:spcPts val="0"/>
                        </a:spcBef>
                        <a:spcAft>
                          <a:spcPts val="0"/>
                        </a:spcAft>
                        <a:buNone/>
                      </a:pPr>
                      <a:r>
                        <a:rPr b="0" lang="en-US" sz="3200">
                          <a:solidFill>
                            <a:srgbClr val="D8D8D8"/>
                          </a:solidFill>
                        </a:rPr>
                        <a:t>Goodbye!</a:t>
                      </a:r>
                      <a:endParaRPr b="0" sz="2400">
                        <a:solidFill>
                          <a:srgbClr val="D8D8D8"/>
                        </a:solidFill>
                        <a:latin typeface="Calibri"/>
                        <a:ea typeface="Calibri"/>
                        <a:cs typeface="Calibri"/>
                        <a:sym typeface="Calibri"/>
                      </a:endParaRPr>
                    </a:p>
                  </a:txBody>
                  <a:tcPr marT="0" marB="0" marR="68575" marL="68575">
                    <a:solidFill>
                      <a:srgbClr val="7F7F7F"/>
                    </a:solidFill>
                  </a:tcPr>
                </a:tc>
                <a:tc>
                  <a:txBody>
                    <a:bodyPr/>
                    <a:lstStyle/>
                    <a:p>
                      <a:pPr indent="0" lvl="0" marL="0" marR="0" rtl="0" algn="l">
                        <a:lnSpc>
                          <a:spcPct val="107000"/>
                        </a:lnSpc>
                        <a:spcBef>
                          <a:spcPts val="0"/>
                        </a:spcBef>
                        <a:spcAft>
                          <a:spcPts val="0"/>
                        </a:spcAft>
                        <a:buNone/>
                      </a:pPr>
                      <a:r>
                        <a:rPr lang="en-US" sz="3200"/>
                        <a:t>Zàijiàn.</a:t>
                      </a:r>
                      <a:endParaRPr sz="2400">
                        <a:solidFill>
                          <a:srgbClr val="000000"/>
                        </a:solidFill>
                        <a:latin typeface="Calibri"/>
                        <a:ea typeface="Calibri"/>
                        <a:cs typeface="Calibri"/>
                        <a:sym typeface="Calibri"/>
                      </a:endParaRPr>
                    </a:p>
                  </a:txBody>
                  <a:tcPr marT="0" marB="0" marR="68575" marL="68575">
                    <a:solidFill>
                      <a:srgbClr val="BFBFBF"/>
                    </a:solidFill>
                  </a:tcPr>
                </a:tc>
              </a:tr>
            </a:tbl>
          </a:graphicData>
        </a:graphic>
      </p:graphicFrame>
      <p:sp>
        <p:nvSpPr>
          <p:cNvPr id="404" name="Google Shape;404;p36"/>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--End--</a:t>
            </a:r>
            <a:endParaRPr/>
          </a:p>
        </p:txBody>
      </p:sp>
      <p:pic>
        <p:nvPicPr>
          <p:cNvPr id="405" name="Google Shape;405;p36"/>
          <p:cNvPicPr preferRelativeResize="0"/>
          <p:nvPr/>
        </p:nvPicPr>
        <p:blipFill rotWithShape="1">
          <a:blip r:embed="rId3">
            <a:alphaModFix/>
          </a:blip>
          <a:srcRect b="0" l="0" r="0" t="0"/>
          <a:stretch/>
        </p:blipFill>
        <p:spPr>
          <a:xfrm>
            <a:off x="10796925" y="1005231"/>
            <a:ext cx="378254" cy="378254"/>
          </a:xfrm>
          <a:prstGeom prst="rect">
            <a:avLst/>
          </a:prstGeom>
          <a:noFill/>
          <a:ln>
            <a:noFill/>
          </a:ln>
        </p:spPr>
      </p:pic>
      <p:pic>
        <p:nvPicPr>
          <p:cNvPr id="406" name="Google Shape;406;p36"/>
          <p:cNvPicPr preferRelativeResize="0"/>
          <p:nvPr/>
        </p:nvPicPr>
        <p:blipFill rotWithShape="1">
          <a:blip r:embed="rId3">
            <a:alphaModFix/>
          </a:blip>
          <a:srcRect b="0" l="0" r="0" t="0"/>
          <a:stretch/>
        </p:blipFill>
        <p:spPr>
          <a:xfrm>
            <a:off x="10799953" y="1565979"/>
            <a:ext cx="378254" cy="378254"/>
          </a:xfrm>
          <a:prstGeom prst="rect">
            <a:avLst/>
          </a:prstGeom>
          <a:noFill/>
          <a:ln>
            <a:noFill/>
          </a:ln>
        </p:spPr>
      </p:pic>
      <p:pic>
        <p:nvPicPr>
          <p:cNvPr id="407" name="Google Shape;407;p36"/>
          <p:cNvPicPr preferRelativeResize="0"/>
          <p:nvPr/>
        </p:nvPicPr>
        <p:blipFill rotWithShape="1">
          <a:blip r:embed="rId3">
            <a:alphaModFix/>
          </a:blip>
          <a:srcRect b="0" l="0" r="0" t="0"/>
          <a:stretch/>
        </p:blipFill>
        <p:spPr>
          <a:xfrm>
            <a:off x="10796925" y="2030055"/>
            <a:ext cx="378254" cy="378254"/>
          </a:xfrm>
          <a:prstGeom prst="rect">
            <a:avLst/>
          </a:prstGeom>
          <a:noFill/>
          <a:ln>
            <a:noFill/>
          </a:ln>
        </p:spPr>
      </p:pic>
      <p:pic>
        <p:nvPicPr>
          <p:cNvPr id="408" name="Google Shape;408;p36"/>
          <p:cNvPicPr preferRelativeResize="0"/>
          <p:nvPr/>
        </p:nvPicPr>
        <p:blipFill rotWithShape="1">
          <a:blip r:embed="rId3">
            <a:alphaModFix/>
          </a:blip>
          <a:srcRect b="0" l="0" r="0" t="0"/>
          <a:stretch/>
        </p:blipFill>
        <p:spPr>
          <a:xfrm>
            <a:off x="10801731" y="2573102"/>
            <a:ext cx="378255" cy="378255"/>
          </a:xfrm>
          <a:prstGeom prst="rect">
            <a:avLst/>
          </a:prstGeom>
          <a:noFill/>
          <a:ln>
            <a:noFill/>
          </a:ln>
        </p:spPr>
      </p:pic>
      <p:pic>
        <p:nvPicPr>
          <p:cNvPr id="409" name="Google Shape;409;p36"/>
          <p:cNvPicPr preferRelativeResize="0"/>
          <p:nvPr/>
        </p:nvPicPr>
        <p:blipFill rotWithShape="1">
          <a:blip r:embed="rId3">
            <a:alphaModFix/>
          </a:blip>
          <a:srcRect b="0" l="0" r="0" t="0"/>
          <a:stretch/>
        </p:blipFill>
        <p:spPr>
          <a:xfrm>
            <a:off x="10796924" y="3107633"/>
            <a:ext cx="378255" cy="378255"/>
          </a:xfrm>
          <a:prstGeom prst="rect">
            <a:avLst/>
          </a:prstGeom>
          <a:noFill/>
          <a:ln>
            <a:noFill/>
          </a:ln>
        </p:spPr>
      </p:pic>
      <p:pic>
        <p:nvPicPr>
          <p:cNvPr id="410" name="Google Shape;410;p36"/>
          <p:cNvPicPr preferRelativeResize="0"/>
          <p:nvPr/>
        </p:nvPicPr>
        <p:blipFill rotWithShape="1">
          <a:blip r:embed="rId3">
            <a:alphaModFix/>
          </a:blip>
          <a:srcRect b="0" l="0" r="0" t="0"/>
          <a:stretch/>
        </p:blipFill>
        <p:spPr>
          <a:xfrm>
            <a:off x="10796924" y="3607655"/>
            <a:ext cx="378256" cy="378256"/>
          </a:xfrm>
          <a:prstGeom prst="rect">
            <a:avLst/>
          </a:prstGeom>
          <a:noFill/>
          <a:ln>
            <a:noFill/>
          </a:ln>
        </p:spPr>
      </p:pic>
      <p:pic>
        <p:nvPicPr>
          <p:cNvPr id="411" name="Google Shape;411;p36"/>
          <p:cNvPicPr preferRelativeResize="0"/>
          <p:nvPr/>
        </p:nvPicPr>
        <p:blipFill rotWithShape="1">
          <a:blip r:embed="rId3">
            <a:alphaModFix/>
          </a:blip>
          <a:srcRect b="0" l="0" r="0" t="0"/>
          <a:stretch/>
        </p:blipFill>
        <p:spPr>
          <a:xfrm>
            <a:off x="10797491" y="4140974"/>
            <a:ext cx="378257" cy="378257"/>
          </a:xfrm>
          <a:prstGeom prst="rect">
            <a:avLst/>
          </a:prstGeom>
          <a:noFill/>
          <a:ln>
            <a:noFill/>
          </a:ln>
        </p:spPr>
      </p:pic>
      <p:pic>
        <p:nvPicPr>
          <p:cNvPr id="412" name="Google Shape;412;p36"/>
          <p:cNvPicPr preferRelativeResize="0"/>
          <p:nvPr/>
        </p:nvPicPr>
        <p:blipFill rotWithShape="1">
          <a:blip r:embed="rId3">
            <a:alphaModFix/>
          </a:blip>
          <a:srcRect b="0" l="0" r="0" t="0"/>
          <a:stretch/>
        </p:blipFill>
        <p:spPr>
          <a:xfrm>
            <a:off x="10796924" y="4724639"/>
            <a:ext cx="378257" cy="378257"/>
          </a:xfrm>
          <a:prstGeom prst="rect">
            <a:avLst/>
          </a:prstGeom>
          <a:noFill/>
          <a:ln>
            <a:noFill/>
          </a:ln>
        </p:spPr>
      </p:pic>
      <p:pic>
        <p:nvPicPr>
          <p:cNvPr id="413" name="Google Shape;413;p36"/>
          <p:cNvPicPr preferRelativeResize="0"/>
          <p:nvPr/>
        </p:nvPicPr>
        <p:blipFill rotWithShape="1">
          <a:blip r:embed="rId3">
            <a:alphaModFix/>
          </a:blip>
          <a:srcRect b="0" l="0" r="0" t="0"/>
          <a:stretch/>
        </p:blipFill>
        <p:spPr>
          <a:xfrm>
            <a:off x="10796922" y="5210036"/>
            <a:ext cx="378257" cy="378257"/>
          </a:xfrm>
          <a:prstGeom prst="rect">
            <a:avLst/>
          </a:prstGeom>
          <a:noFill/>
          <a:ln>
            <a:noFill/>
          </a:ln>
        </p:spPr>
      </p:pic>
      <p:pic>
        <p:nvPicPr>
          <p:cNvPr id="414" name="Google Shape;414;p36"/>
          <p:cNvPicPr preferRelativeResize="0"/>
          <p:nvPr/>
        </p:nvPicPr>
        <p:blipFill rotWithShape="1">
          <a:blip r:embed="rId3">
            <a:alphaModFix/>
          </a:blip>
          <a:srcRect b="0" l="0" r="0" t="0"/>
          <a:stretch/>
        </p:blipFill>
        <p:spPr>
          <a:xfrm>
            <a:off x="10796922" y="5743356"/>
            <a:ext cx="378257" cy="3782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268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3005"/>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2912"/>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2355"/>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326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3051"/>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2471"/>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3376"/>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2866"/>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2018-09-24T04:15:41Z</dcterms:created>
  <dc:creator>checkout</dc:creator>
</cp:coreProperties>
</file>