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9" r:id="rId5"/>
    <p:sldId id="270" r:id="rId6"/>
    <p:sldId id="271" r:id="rId7"/>
    <p:sldId id="268" r:id="rId8"/>
    <p:sldId id="272" r:id="rId9"/>
    <p:sldId id="273" r:id="rId10"/>
    <p:sldId id="274" r:id="rId11"/>
    <p:sldId id="275" r:id="rId12"/>
    <p:sldId id="276" r:id="rId13"/>
    <p:sldId id="278" r:id="rId14"/>
    <p:sldId id="279" r:id="rId15"/>
    <p:sldId id="277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tiris" initials="a" lastIdx="41" clrIdx="0">
    <p:extLst>
      <p:ext uri="{19B8F6BF-5375-455C-9EA6-DF929625EA0E}">
        <p15:presenceInfo xmlns:p15="http://schemas.microsoft.com/office/powerpoint/2012/main" userId="altir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FFFFFF"/>
    <a:srgbClr val="FFCCFF"/>
    <a:srgbClr val="000066"/>
    <a:srgbClr val="CC00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61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4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1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29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9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78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5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4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1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1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A784-AEF9-45FE-B2AC-C2F1C79E3413}" type="datetimeFigureOut">
              <a:rPr lang="en-US" smtClean="0"/>
              <a:t>4/23/2020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52891-5488-4EF6-9B3B-A3B1E889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01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Unit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Colors</a:t>
            </a:r>
          </a:p>
          <a:p>
            <a:r>
              <a:rPr lang="zh-CN" altLang="en-US" sz="3600" dirty="0">
                <a:solidFill>
                  <a:srgbClr val="C00000"/>
                </a:solidFill>
              </a:rPr>
              <a:t>颜色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58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863C-2F43-4DAA-8214-58EF3C1B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COMMUNICATION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4E2-B52E-4077-81B9-AB9B50F50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3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Once I have mastered this unit, I will be able to: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in my own and Chinese culture, identify some traditional practices and tell how and why they are globalized, such as the way people dress;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name the colors that I like or dislike;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exchange advices to choose and outfit for an event; and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ask for merchandise in a different color or size.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1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3DB1-87D1-45A9-9E41-987AECA9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368"/>
            <a:ext cx="10515600" cy="8693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M1.1: Colors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EAF8F5-E79E-4536-B903-BA594708E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448659"/>
              </p:ext>
            </p:extLst>
          </p:nvPr>
        </p:nvGraphicFramePr>
        <p:xfrm>
          <a:off x="569843" y="1722117"/>
          <a:ext cx="5208105" cy="3344094"/>
        </p:xfrm>
        <a:graphic>
          <a:graphicData uri="http://schemas.openxmlformats.org/drawingml/2006/table">
            <a:tbl>
              <a:tblPr firstRow="1" firstCol="1" bandRow="1"/>
              <a:tblGrid>
                <a:gridCol w="1535388">
                  <a:extLst>
                    <a:ext uri="{9D8B030D-6E8A-4147-A177-3AD203B41FA5}">
                      <a16:colId xmlns:a16="http://schemas.microsoft.com/office/drawing/2014/main" val="154409508"/>
                    </a:ext>
                  </a:extLst>
                </a:gridCol>
                <a:gridCol w="1650251">
                  <a:extLst>
                    <a:ext uri="{9D8B030D-6E8A-4147-A177-3AD203B41FA5}">
                      <a16:colId xmlns:a16="http://schemas.microsoft.com/office/drawing/2014/main" val="1848343298"/>
                    </a:ext>
                  </a:extLst>
                </a:gridCol>
                <a:gridCol w="2022466">
                  <a:extLst>
                    <a:ext uri="{9D8B030D-6E8A-4147-A177-3AD203B41FA5}">
                      <a16:colId xmlns:a16="http://schemas.microsoft.com/office/drawing/2014/main" val="2619419114"/>
                    </a:ext>
                  </a:extLst>
                </a:gridCol>
              </a:tblGrid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朋友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péngyǒu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friend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787205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彩虹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cǎihóng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rainbow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54722287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种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zhǒng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kind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97437685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颜色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yánsè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23872460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红色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hóngsè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16828728"/>
                  </a:ext>
                </a:extLst>
              </a:tr>
              <a:tr h="55734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橙色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chéngsè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264890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8FB8F2-1130-4FCD-A2DD-28DA75DA8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700136"/>
              </p:ext>
            </p:extLst>
          </p:nvPr>
        </p:nvGraphicFramePr>
        <p:xfrm>
          <a:off x="6414052" y="1722783"/>
          <a:ext cx="5208105" cy="2995610"/>
        </p:xfrm>
        <a:graphic>
          <a:graphicData uri="http://schemas.openxmlformats.org/drawingml/2006/table">
            <a:tbl>
              <a:tblPr firstRow="1" firstCol="1" bandRow="1"/>
              <a:tblGrid>
                <a:gridCol w="1513560">
                  <a:extLst>
                    <a:ext uri="{9D8B030D-6E8A-4147-A177-3AD203B41FA5}">
                      <a16:colId xmlns:a16="http://schemas.microsoft.com/office/drawing/2014/main" val="3924702324"/>
                    </a:ext>
                  </a:extLst>
                </a:gridCol>
                <a:gridCol w="1660059">
                  <a:extLst>
                    <a:ext uri="{9D8B030D-6E8A-4147-A177-3AD203B41FA5}">
                      <a16:colId xmlns:a16="http://schemas.microsoft.com/office/drawing/2014/main" val="2145116451"/>
                    </a:ext>
                  </a:extLst>
                </a:gridCol>
                <a:gridCol w="2034486">
                  <a:extLst>
                    <a:ext uri="{9D8B030D-6E8A-4147-A177-3AD203B41FA5}">
                      <a16:colId xmlns:a16="http://schemas.microsoft.com/office/drawing/2014/main" val="1063069412"/>
                    </a:ext>
                  </a:extLst>
                </a:gridCol>
              </a:tblGrid>
              <a:tr h="57963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黄色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huángsè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yellow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52556284"/>
                  </a:ext>
                </a:extLst>
              </a:tr>
              <a:tr h="58029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绿色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lǜsè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green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96451676"/>
                  </a:ext>
                </a:extLst>
              </a:tr>
              <a:tr h="58029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蓝色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lán sè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blue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0818750"/>
                  </a:ext>
                </a:extLst>
              </a:tr>
              <a:tr h="63192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青色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qīngsè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indigo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0094039"/>
                  </a:ext>
                </a:extLst>
              </a:tr>
              <a:tr h="6234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紫色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zǐsè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purple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7767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200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F709-AA9F-476B-A714-F93E759B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M1.1: Colors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32A9-31C9-4F18-B018-09F9052D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4944511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1.1: </a:t>
            </a:r>
            <a:r>
              <a:rPr lang="en-US" sz="2400" dirty="0">
                <a:solidFill>
                  <a:srgbClr val="00206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kindergarten teacher teaches students to draw a rainbow.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6419CA-A122-45CA-AFC1-DE547BCF0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62817"/>
              </p:ext>
            </p:extLst>
          </p:nvPr>
        </p:nvGraphicFramePr>
        <p:xfrm>
          <a:off x="838200" y="1746892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556">
                  <a:extLst>
                    <a:ext uri="{9D8B030D-6E8A-4147-A177-3AD203B41FA5}">
                      <a16:colId xmlns:a16="http://schemas.microsoft.com/office/drawing/2014/main" val="2942274489"/>
                    </a:ext>
                  </a:extLst>
                </a:gridCol>
                <a:gridCol w="9409044">
                  <a:extLst>
                    <a:ext uri="{9D8B030D-6E8A-4147-A177-3AD203B41FA5}">
                      <a16:colId xmlns:a16="http://schemas.microsoft.com/office/drawing/2014/main" val="2815134514"/>
                    </a:ext>
                  </a:extLst>
                </a:gridCol>
              </a:tblGrid>
              <a:tr h="606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小朋友，彩虹有几种颜色啊？</a:t>
                      </a:r>
                      <a:endParaRPr lang="en-US" sz="36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29686198"/>
                  </a:ext>
                </a:extLst>
              </a:tr>
              <a:tr h="606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七种。红色、橙色、黄色、绿色、蓝色、青色，紫色。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18000"/>
                            <a:lumOff val="82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2131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95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DECD-4720-4B99-8B5F-7A73A3F0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082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M1.2: Colors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BD6FEA-A0B5-48F7-83E2-740527460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33886"/>
              </p:ext>
            </p:extLst>
          </p:nvPr>
        </p:nvGraphicFramePr>
        <p:xfrm>
          <a:off x="1209260" y="1563756"/>
          <a:ext cx="8517835" cy="1741479"/>
        </p:xfrm>
        <a:graphic>
          <a:graphicData uri="http://schemas.openxmlformats.org/drawingml/2006/table">
            <a:tbl>
              <a:tblPr firstRow="1" firstCol="1" bandRow="1"/>
              <a:tblGrid>
                <a:gridCol w="2299684">
                  <a:extLst>
                    <a:ext uri="{9D8B030D-6E8A-4147-A177-3AD203B41FA5}">
                      <a16:colId xmlns:a16="http://schemas.microsoft.com/office/drawing/2014/main" val="3479380105"/>
                    </a:ext>
                  </a:extLst>
                </a:gridCol>
                <a:gridCol w="3270515">
                  <a:extLst>
                    <a:ext uri="{9D8B030D-6E8A-4147-A177-3AD203B41FA5}">
                      <a16:colId xmlns:a16="http://schemas.microsoft.com/office/drawing/2014/main" val="341450608"/>
                    </a:ext>
                  </a:extLst>
                </a:gridCol>
                <a:gridCol w="2947636">
                  <a:extLst>
                    <a:ext uri="{9D8B030D-6E8A-4147-A177-3AD203B41FA5}">
                      <a16:colId xmlns:a16="http://schemas.microsoft.com/office/drawing/2014/main" val="3787708526"/>
                    </a:ext>
                  </a:extLst>
                </a:gridCol>
              </a:tblGrid>
              <a:tr h="58049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黑色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hēisè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black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04562501"/>
                  </a:ext>
                </a:extLst>
              </a:tr>
              <a:tr h="58049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白色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báisè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white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8411135"/>
                  </a:ext>
                </a:extLst>
              </a:tr>
              <a:tr h="58049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灰色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huīsè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gray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7207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83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E4AE-478D-4876-BCEC-A16CF537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M1.2: Colors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EAAC-22B6-4C0E-A329-26F90CC55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112"/>
            <a:ext cx="10515600" cy="4957763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1.2: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and Li Ming talk about their favorite colors.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769EB8-9677-423F-9D15-BE5553270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6690"/>
              </p:ext>
            </p:extLst>
          </p:nvPr>
        </p:nvGraphicFramePr>
        <p:xfrm>
          <a:off x="838200" y="2389441"/>
          <a:ext cx="10515600" cy="2169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896">
                  <a:extLst>
                    <a:ext uri="{9D8B030D-6E8A-4147-A177-3AD203B41FA5}">
                      <a16:colId xmlns:a16="http://schemas.microsoft.com/office/drawing/2014/main" val="3972983188"/>
                    </a:ext>
                  </a:extLst>
                </a:gridCol>
                <a:gridCol w="9246704">
                  <a:extLst>
                    <a:ext uri="{9D8B030D-6E8A-4147-A177-3AD203B41FA5}">
                      <a16:colId xmlns:a16="http://schemas.microsoft.com/office/drawing/2014/main" val="54849605"/>
                    </a:ext>
                  </a:extLst>
                </a:gridCol>
              </a:tblGrid>
              <a:tr h="751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李明，你喜欢什么颜色？</a:t>
                      </a:r>
                      <a:endParaRPr lang="en-US" sz="36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78905774"/>
                  </a:ext>
                </a:extLst>
              </a:tr>
              <a:tr h="7156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我喜欢黑色、白色和灰色。你呢？</a:t>
                      </a:r>
                      <a:endParaRPr lang="en-US" sz="36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13787334"/>
                  </a:ext>
                </a:extLst>
              </a:tr>
              <a:tr h="702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我什么颜色都喜欢。</a:t>
                      </a:r>
                      <a:endParaRPr lang="en-US" sz="36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3933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86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BFFE-42D1-45C2-9B1C-D2FC777D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09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M2.1: </a:t>
            </a:r>
            <a:r>
              <a:rPr lang="en-US" altLang="zh-CN" dirty="0">
                <a:solidFill>
                  <a:srgbClr val="C00000"/>
                </a:solidFill>
              </a:rPr>
              <a:t>Clothing</a:t>
            </a:r>
            <a:r>
              <a:rPr lang="en-US" dirty="0">
                <a:solidFill>
                  <a:srgbClr val="C00000"/>
                </a:solidFill>
              </a:rPr>
              <a:t> _ New Words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A7F07F-AC25-4A09-AB07-41B03E1DA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353662"/>
              </p:ext>
            </p:extLst>
          </p:nvPr>
        </p:nvGraphicFramePr>
        <p:xfrm>
          <a:off x="838200" y="1338662"/>
          <a:ext cx="8799444" cy="4180675"/>
        </p:xfrm>
        <a:graphic>
          <a:graphicData uri="http://schemas.openxmlformats.org/drawingml/2006/table">
            <a:tbl>
              <a:tblPr firstRow="1" firstCol="1" bandRow="1"/>
              <a:tblGrid>
                <a:gridCol w="2463476">
                  <a:extLst>
                    <a:ext uri="{9D8B030D-6E8A-4147-A177-3AD203B41FA5}">
                      <a16:colId xmlns:a16="http://schemas.microsoft.com/office/drawing/2014/main" val="1952033597"/>
                    </a:ext>
                  </a:extLst>
                </a:gridCol>
                <a:gridCol w="3075892">
                  <a:extLst>
                    <a:ext uri="{9D8B030D-6E8A-4147-A177-3AD203B41FA5}">
                      <a16:colId xmlns:a16="http://schemas.microsoft.com/office/drawing/2014/main" val="1089783359"/>
                    </a:ext>
                  </a:extLst>
                </a:gridCol>
                <a:gridCol w="3260076">
                  <a:extLst>
                    <a:ext uri="{9D8B030D-6E8A-4147-A177-3AD203B41FA5}">
                      <a16:colId xmlns:a16="http://schemas.microsoft.com/office/drawing/2014/main" val="967837888"/>
                    </a:ext>
                  </a:extLst>
                </a:gridCol>
              </a:tblGrid>
              <a:tr h="5361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衣服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yīfú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clothes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2276159"/>
                  </a:ext>
                </a:extLst>
              </a:tr>
              <a:tr h="56378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装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zhuāng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pack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6271871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带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dài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bring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93734018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件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jiàn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[M] for clothes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36688555"/>
                  </a:ext>
                </a:extLst>
              </a:tr>
              <a:tr h="50178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毛衣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máoyī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sweater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1231662"/>
                  </a:ext>
                </a:extLst>
              </a:tr>
              <a:tr h="49033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羽绒服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yǔróngfú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down coat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71671737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雨衣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yǔyī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rain coat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9163504"/>
                  </a:ext>
                </a:extLst>
              </a:tr>
              <a:tr h="52215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忘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wàng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forget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1202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79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14B2-A7CE-4C83-AEF3-61B0F4FC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M2.1: Clothing_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C2EB-3D15-45CB-9EE7-A0E9C3EA1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174"/>
            <a:ext cx="10515600" cy="511678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2.1: </a:t>
            </a:r>
            <a:r>
              <a:rPr lang="en-US" dirty="0">
                <a:solidFill>
                  <a:srgbClr val="002060"/>
                </a:solidFill>
              </a:rPr>
              <a:t>A mom asks her daughter if she has packed clothes for her field trip.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B44EF1-7783-446C-B75B-4A111EA01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57122"/>
              </p:ext>
            </p:extLst>
          </p:nvPr>
        </p:nvGraphicFramePr>
        <p:xfrm>
          <a:off x="838200" y="1984698"/>
          <a:ext cx="10306878" cy="255119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24331">
                  <a:extLst>
                    <a:ext uri="{9D8B030D-6E8A-4147-A177-3AD203B41FA5}">
                      <a16:colId xmlns:a16="http://schemas.microsoft.com/office/drawing/2014/main" val="254566538"/>
                    </a:ext>
                  </a:extLst>
                </a:gridCol>
                <a:gridCol w="9182547">
                  <a:extLst>
                    <a:ext uri="{9D8B030D-6E8A-4147-A177-3AD203B41FA5}">
                      <a16:colId xmlns:a16="http://schemas.microsoft.com/office/drawing/2014/main" val="2485622894"/>
                    </a:ext>
                  </a:extLst>
                </a:gridCol>
              </a:tblGrid>
              <a:tr h="606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你的衣服装好了吗？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65208785"/>
                  </a:ext>
                </a:extLst>
              </a:tr>
              <a:tr h="606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装好了，我带了两件毛衣和一件羽绒服。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52901079"/>
                  </a:ext>
                </a:extLst>
              </a:tr>
              <a:tr h="617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雨衣带了吗？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93097277"/>
                  </a:ext>
                </a:extLst>
              </a:tr>
              <a:tr h="647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啊，我忘了。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791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95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0A79-ED0E-4D1E-A0A7-E082FCFB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M2.2: Colors _ New Words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1CF865-4942-4433-B1E2-32767E76F1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20788"/>
              </p:ext>
            </p:extLst>
          </p:nvPr>
        </p:nvGraphicFramePr>
        <p:xfrm>
          <a:off x="838200" y="1139686"/>
          <a:ext cx="8464826" cy="975360"/>
        </p:xfrm>
        <a:graphic>
          <a:graphicData uri="http://schemas.openxmlformats.org/drawingml/2006/table">
            <a:tbl>
              <a:tblPr firstRow="1" firstCol="1" bandRow="1"/>
              <a:tblGrid>
                <a:gridCol w="2223052">
                  <a:extLst>
                    <a:ext uri="{9D8B030D-6E8A-4147-A177-3AD203B41FA5}">
                      <a16:colId xmlns:a16="http://schemas.microsoft.com/office/drawing/2014/main" val="4023504009"/>
                    </a:ext>
                  </a:extLst>
                </a:gridCol>
                <a:gridCol w="2532617">
                  <a:extLst>
                    <a:ext uri="{9D8B030D-6E8A-4147-A177-3AD203B41FA5}">
                      <a16:colId xmlns:a16="http://schemas.microsoft.com/office/drawing/2014/main" val="2654797205"/>
                    </a:ext>
                  </a:extLst>
                </a:gridCol>
                <a:gridCol w="3709157">
                  <a:extLst>
                    <a:ext uri="{9D8B030D-6E8A-4147-A177-3AD203B41FA5}">
                      <a16:colId xmlns:a16="http://schemas.microsoft.com/office/drawing/2014/main" val="3130982734"/>
                    </a:ext>
                  </a:extLst>
                </a:gridCol>
              </a:tblGrid>
              <a:tr h="437322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平时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píngshí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normally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59841561"/>
                  </a:ext>
                </a:extLst>
              </a:tr>
              <a:tr h="42591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不常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bùcháng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infrequently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57242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922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95A4-7051-4529-B2D8-3BCE9746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5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M2.2: Colors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3F03B-FCD8-495D-8A28-39905813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739"/>
            <a:ext cx="10717696" cy="4351338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2.2: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and Li Ming talk about their favorite colors for clothes.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82E5B5-1A1E-4022-8E21-2B3AF52F3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09502"/>
              </p:ext>
            </p:extLst>
          </p:nvPr>
        </p:nvGraphicFramePr>
        <p:xfrm>
          <a:off x="737152" y="2077196"/>
          <a:ext cx="10717696" cy="266483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44657">
                  <a:extLst>
                    <a:ext uri="{9D8B030D-6E8A-4147-A177-3AD203B41FA5}">
                      <a16:colId xmlns:a16="http://schemas.microsoft.com/office/drawing/2014/main" val="560778999"/>
                    </a:ext>
                  </a:extLst>
                </a:gridCol>
                <a:gridCol w="9573039">
                  <a:extLst>
                    <a:ext uri="{9D8B030D-6E8A-4147-A177-3AD203B41FA5}">
                      <a16:colId xmlns:a16="http://schemas.microsoft.com/office/drawing/2014/main" val="2490249309"/>
                    </a:ext>
                  </a:extLst>
                </a:gridCol>
              </a:tblGrid>
              <a:tr h="652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你什么颜色的衣服最多？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24413521"/>
                  </a:ext>
                </a:extLst>
              </a:tr>
              <a:tr h="6228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灰色的和白色的。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48780793"/>
                  </a:ext>
                </a:extLst>
              </a:tr>
              <a:tr h="632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你不喜欢红色吗？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51549144"/>
                  </a:ext>
                </a:extLst>
              </a:tr>
              <a:tr h="6603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中国人是喜欢红色，可是我们平时不常穿红色的衣服。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8291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78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5C9B6-6CEB-4887-9B8C-C4266378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082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M3.1: Shopping for clothes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A3A0579-0D09-42F1-94E1-8F127D0B73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332739"/>
              </p:ext>
            </p:extLst>
          </p:nvPr>
        </p:nvGraphicFramePr>
        <p:xfrm>
          <a:off x="838200" y="1461687"/>
          <a:ext cx="9631017" cy="1967313"/>
        </p:xfrm>
        <a:graphic>
          <a:graphicData uri="http://schemas.openxmlformats.org/drawingml/2006/table">
            <a:tbl>
              <a:tblPr firstRow="1" firstCol="1" bandRow="1"/>
              <a:tblGrid>
                <a:gridCol w="2873343">
                  <a:extLst>
                    <a:ext uri="{9D8B030D-6E8A-4147-A177-3AD203B41FA5}">
                      <a16:colId xmlns:a16="http://schemas.microsoft.com/office/drawing/2014/main" val="3987041667"/>
                    </a:ext>
                  </a:extLst>
                </a:gridCol>
                <a:gridCol w="3352232">
                  <a:extLst>
                    <a:ext uri="{9D8B030D-6E8A-4147-A177-3AD203B41FA5}">
                      <a16:colId xmlns:a16="http://schemas.microsoft.com/office/drawing/2014/main" val="2151708187"/>
                    </a:ext>
                  </a:extLst>
                </a:gridCol>
                <a:gridCol w="3405442">
                  <a:extLst>
                    <a:ext uri="{9D8B030D-6E8A-4147-A177-3AD203B41FA5}">
                      <a16:colId xmlns:a16="http://schemas.microsoft.com/office/drawing/2014/main" val="2549868767"/>
                    </a:ext>
                  </a:extLst>
                </a:gridCol>
              </a:tblGrid>
              <a:tr h="29713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</a:t>
                      </a: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恤衫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tīxùshān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T-shirt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6444295"/>
                  </a:ext>
                </a:extLst>
              </a:tr>
              <a:tr h="454752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大号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 hào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large size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38137153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合适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héshì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fit, suitable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4180658"/>
                  </a:ext>
                </a:extLst>
              </a:tr>
              <a:tr h="504273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打折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dǎzhé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give a discount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25411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8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40F3-76AD-4FA5-A528-510ED6AE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M3.1: Shopping for clothes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ACE50-DD40-4C74-A0B0-B58A57111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184"/>
            <a:ext cx="10515600" cy="5063779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3.1: </a:t>
            </a:r>
            <a:r>
              <a:rPr lang="en-US" dirty="0">
                <a:solidFill>
                  <a:srgbClr val="002060"/>
                </a:solidFill>
              </a:rPr>
              <a:t>Li Ming asks the salesperson for a white T-shirt to try on.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D5B666-A43D-4BCB-8576-6D528D601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114146"/>
              </p:ext>
            </p:extLst>
          </p:nvPr>
        </p:nvGraphicFramePr>
        <p:xfrm>
          <a:off x="967409" y="1715162"/>
          <a:ext cx="9833113" cy="407033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40407">
                  <a:extLst>
                    <a:ext uri="{9D8B030D-6E8A-4147-A177-3AD203B41FA5}">
                      <a16:colId xmlns:a16="http://schemas.microsoft.com/office/drawing/2014/main" val="1412967722"/>
                    </a:ext>
                  </a:extLst>
                </a:gridCol>
                <a:gridCol w="8792706">
                  <a:extLst>
                    <a:ext uri="{9D8B030D-6E8A-4147-A177-3AD203B41FA5}">
                      <a16:colId xmlns:a16="http://schemas.microsoft.com/office/drawing/2014/main" val="1396273291"/>
                    </a:ext>
                  </a:extLst>
                </a:gridCol>
              </a:tblGrid>
              <a:tr h="763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这种</a:t>
                      </a:r>
                      <a:r>
                        <a:rPr lang="en-US" altLang="zh-CN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恤衫有白色的吗？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95249929"/>
                  </a:ext>
                </a:extLst>
              </a:tr>
              <a:tr h="687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有，您穿多大的？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94738375"/>
                  </a:ext>
                </a:extLst>
              </a:tr>
              <a:tr h="754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我穿大号的。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1181522"/>
                  </a:ext>
                </a:extLst>
              </a:tr>
              <a:tr h="6831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你穿大号很合适。 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1182476"/>
                  </a:ext>
                </a:extLst>
              </a:tr>
              <a:tr h="590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LM: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好的，我要两件，一件白色的，一件灰色的。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01869661"/>
                  </a:ext>
                </a:extLst>
              </a:tr>
              <a:tr h="590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两件可以九五折。一共一百六十七块二。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94931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596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03BD-91A3-4E59-8959-404C3B21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31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M3.2: Shopping for clothes _ New Words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21390C-7D4C-4E41-8337-142DAEE27F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153466"/>
              </p:ext>
            </p:extLst>
          </p:nvPr>
        </p:nvGraphicFramePr>
        <p:xfrm>
          <a:off x="838200" y="1484243"/>
          <a:ext cx="7832035" cy="2968487"/>
        </p:xfrm>
        <a:graphic>
          <a:graphicData uri="http://schemas.openxmlformats.org/drawingml/2006/table">
            <a:tbl>
              <a:tblPr firstRow="1" firstCol="1" bandRow="1"/>
              <a:tblGrid>
                <a:gridCol w="2125276">
                  <a:extLst>
                    <a:ext uri="{9D8B030D-6E8A-4147-A177-3AD203B41FA5}">
                      <a16:colId xmlns:a16="http://schemas.microsoft.com/office/drawing/2014/main" val="3471383844"/>
                    </a:ext>
                  </a:extLst>
                </a:gridCol>
                <a:gridCol w="2125276">
                  <a:extLst>
                    <a:ext uri="{9D8B030D-6E8A-4147-A177-3AD203B41FA5}">
                      <a16:colId xmlns:a16="http://schemas.microsoft.com/office/drawing/2014/main" val="212984761"/>
                    </a:ext>
                  </a:extLst>
                </a:gridCol>
                <a:gridCol w="3581483">
                  <a:extLst>
                    <a:ext uri="{9D8B030D-6E8A-4147-A177-3AD203B41FA5}">
                      <a16:colId xmlns:a16="http://schemas.microsoft.com/office/drawing/2014/main" val="3801752556"/>
                    </a:ext>
                  </a:extLst>
                </a:gridCol>
              </a:tblGrid>
              <a:tr h="59634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退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tuì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return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35171290"/>
                  </a:ext>
                </a:extLst>
              </a:tr>
              <a:tr h="59634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裤子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kùzi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pants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83217029"/>
                  </a:ext>
                </a:extLst>
              </a:tr>
              <a:tr h="64935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应该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yīnggāi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should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09498102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别的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biéde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other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97407456"/>
                  </a:ext>
                </a:extLst>
              </a:tr>
              <a:tr h="5698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褐色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hésè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brown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0484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03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46C8-10EA-4B4A-BF2F-E76DBF09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M3.2: Shopping for clothes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3C730-0DA0-49A8-B2B8-40E7FBC22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957"/>
            <a:ext cx="10515600" cy="491800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3.2: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wants to return the pants he bought last month.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8431C9-68C2-4AA0-B8D1-A5C620081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500911"/>
              </p:ext>
            </p:extLst>
          </p:nvPr>
        </p:nvGraphicFramePr>
        <p:xfrm>
          <a:off x="896730" y="1885860"/>
          <a:ext cx="9837531" cy="4445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927">
                  <a:extLst>
                    <a:ext uri="{9D8B030D-6E8A-4147-A177-3AD203B41FA5}">
                      <a16:colId xmlns:a16="http://schemas.microsoft.com/office/drawing/2014/main" val="1545023308"/>
                    </a:ext>
                  </a:extLst>
                </a:gridCol>
                <a:gridCol w="8696604">
                  <a:extLst>
                    <a:ext uri="{9D8B030D-6E8A-4147-A177-3AD203B41FA5}">
                      <a16:colId xmlns:a16="http://schemas.microsoft.com/office/drawing/2014/main" val="2964179061"/>
                    </a:ext>
                  </a:extLst>
                </a:gridCol>
              </a:tblGrid>
              <a:tr h="615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你好，我想退这条裤子。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5470711"/>
                  </a:ext>
                </a:extLst>
              </a:tr>
              <a:tr h="609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你是什么时候买的？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2971401"/>
                  </a:ext>
                </a:extLst>
              </a:tr>
              <a:tr h="609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上个月买的。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45364680"/>
                  </a:ext>
                </a:extLst>
              </a:tr>
              <a:tr h="609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哦，你为什么要退啊？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72307908"/>
                  </a:ext>
                </a:extLst>
              </a:tr>
              <a:tr h="667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我的黑裤子太多了，我应该买别的颜色的裤子。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65320898"/>
                  </a:ext>
                </a:extLst>
              </a:tr>
              <a:tr h="667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这个裤子还有蓝色和褐色，你要不要看看？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4379627"/>
                  </a:ext>
                </a:extLst>
              </a:tr>
              <a:tr h="667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好的。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32678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018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D021-2575-469A-8B2F-331864E0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3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M4.1: Clothing Culture _ New Words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CC5B36-3A70-48DE-A31E-88ABFA26DD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463455"/>
              </p:ext>
            </p:extLst>
          </p:nvPr>
        </p:nvGraphicFramePr>
        <p:xfrm>
          <a:off x="930966" y="1073426"/>
          <a:ext cx="9193696" cy="5274365"/>
        </p:xfrm>
        <a:graphic>
          <a:graphicData uri="http://schemas.openxmlformats.org/drawingml/2006/table">
            <a:tbl>
              <a:tblPr firstRow="1" firstCol="1" bandRow="1"/>
              <a:tblGrid>
                <a:gridCol w="1521689">
                  <a:extLst>
                    <a:ext uri="{9D8B030D-6E8A-4147-A177-3AD203B41FA5}">
                      <a16:colId xmlns:a16="http://schemas.microsoft.com/office/drawing/2014/main" val="3694055280"/>
                    </a:ext>
                  </a:extLst>
                </a:gridCol>
                <a:gridCol w="3113930">
                  <a:extLst>
                    <a:ext uri="{9D8B030D-6E8A-4147-A177-3AD203B41FA5}">
                      <a16:colId xmlns:a16="http://schemas.microsoft.com/office/drawing/2014/main" val="4200327111"/>
                    </a:ext>
                  </a:extLst>
                </a:gridCol>
                <a:gridCol w="4558077">
                  <a:extLst>
                    <a:ext uri="{9D8B030D-6E8A-4147-A177-3AD203B41FA5}">
                      <a16:colId xmlns:a16="http://schemas.microsoft.com/office/drawing/2014/main" val="1588950134"/>
                    </a:ext>
                  </a:extLst>
                </a:gridCol>
              </a:tblGrid>
              <a:tr h="5323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身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shēn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[M] for clothes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17082776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参加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cānjiā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attend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1617227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婚礼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hūnlǐ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wedding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81884684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怎么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zěnme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how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10414911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能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néng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can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3737455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衬衫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chènshān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shirt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58161884"/>
                  </a:ext>
                </a:extLst>
              </a:tr>
              <a:tr h="50138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套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tào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[M] set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0792386"/>
                  </a:ext>
                </a:extLst>
              </a:tr>
              <a:tr h="54831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西服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xīfú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suit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28208535"/>
                  </a:ext>
                </a:extLst>
              </a:tr>
              <a:tr h="545652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不行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bùxíng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not okay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9086108"/>
                  </a:ext>
                </a:extLst>
              </a:tr>
              <a:tr h="63975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米色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mǐsè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beige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4408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45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0554-19D5-47E4-9A09-6CB2B3D6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M4.1: Clothing Culture _ Text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CDDB-90AD-439F-8C84-EBF995292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940"/>
            <a:ext cx="10515600" cy="5024023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4.1: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asks Ma Xiaoqing what clothes he should wear to attend a Chinese wedding</a:t>
            </a:r>
            <a:r>
              <a:rPr lang="en-US" sz="2400" dirty="0">
                <a:solidFill>
                  <a:srgbClr val="002060"/>
                </a:solidFill>
                <a:latin typeface="Helvetica" panose="020B0604020202020204" pitchFamily="34" charset="0"/>
                <a:ea typeface="Helvetica Neue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964130-0CAD-409E-A47A-19954973A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76511"/>
              </p:ext>
            </p:extLst>
          </p:nvPr>
        </p:nvGraphicFramePr>
        <p:xfrm>
          <a:off x="907774" y="2070775"/>
          <a:ext cx="10807148" cy="2859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322">
                  <a:extLst>
                    <a:ext uri="{9D8B030D-6E8A-4147-A177-3AD203B41FA5}">
                      <a16:colId xmlns:a16="http://schemas.microsoft.com/office/drawing/2014/main" val="2702686739"/>
                    </a:ext>
                  </a:extLst>
                </a:gridCol>
                <a:gridCol w="9282826">
                  <a:extLst>
                    <a:ext uri="{9D8B030D-6E8A-4147-A177-3AD203B41FA5}">
                      <a16:colId xmlns:a16="http://schemas.microsoft.com/office/drawing/2014/main" val="1987086730"/>
                    </a:ext>
                  </a:extLst>
                </a:gridCol>
              </a:tblGrid>
              <a:tr h="7389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小青，你觉得我穿这身衣服去参加婚礼怎么样？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8817704"/>
                  </a:ext>
                </a:extLst>
              </a:tr>
              <a:tr h="756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不怎么样。你怎么能穿白衬衫白裤子去参加婚礼呢？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5521135"/>
                  </a:ext>
                </a:extLst>
              </a:tr>
              <a:tr h="7425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那我穿那套黑西服，可以吗？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71089737"/>
                  </a:ext>
                </a:extLst>
              </a:tr>
              <a:tr h="621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也不行。你就穿那条米色的裤子和蓝色的衬衫吧。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2309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98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497D-7698-490F-A706-D12835F7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51" y="381346"/>
            <a:ext cx="10515600" cy="6420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M4.2: Clothing Culture _ New Words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1845F5-1EBA-4C56-A42B-F15051B13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199682"/>
              </p:ext>
            </p:extLst>
          </p:nvPr>
        </p:nvGraphicFramePr>
        <p:xfrm>
          <a:off x="826603" y="1169159"/>
          <a:ext cx="8133521" cy="3403065"/>
        </p:xfrm>
        <a:graphic>
          <a:graphicData uri="http://schemas.openxmlformats.org/drawingml/2006/table">
            <a:tbl>
              <a:tblPr firstRow="1" firstCol="1" bandRow="1"/>
              <a:tblGrid>
                <a:gridCol w="1665558">
                  <a:extLst>
                    <a:ext uri="{9D8B030D-6E8A-4147-A177-3AD203B41FA5}">
                      <a16:colId xmlns:a16="http://schemas.microsoft.com/office/drawing/2014/main" val="793002320"/>
                    </a:ext>
                  </a:extLst>
                </a:gridCol>
                <a:gridCol w="2136942">
                  <a:extLst>
                    <a:ext uri="{9D8B030D-6E8A-4147-A177-3AD203B41FA5}">
                      <a16:colId xmlns:a16="http://schemas.microsoft.com/office/drawing/2014/main" val="292465103"/>
                    </a:ext>
                  </a:extLst>
                </a:gridCol>
                <a:gridCol w="4331021">
                  <a:extLst>
                    <a:ext uri="{9D8B030D-6E8A-4147-A177-3AD203B41FA5}">
                      <a16:colId xmlns:a16="http://schemas.microsoft.com/office/drawing/2014/main" val="835163185"/>
                    </a:ext>
                  </a:extLst>
                </a:gridCol>
              </a:tblGrid>
              <a:tr h="57153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以后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yǐhòu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from now 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00209913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别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bié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do not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6877186"/>
                  </a:ext>
                </a:extLst>
              </a:tr>
              <a:tr h="63685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戴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to wear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86915285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帽子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màozi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hat, cap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35863573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大学</a:t>
                      </a:r>
                      <a:endParaRPr lang="en-US" sz="3200" kern="120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dàxué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university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66770767"/>
                  </a:ext>
                </a:extLst>
              </a:tr>
              <a:tr h="54867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好看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hǎokàn</a:t>
                      </a:r>
                      <a:endParaRPr lang="en-US" sz="320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good-looking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233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171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287D-5B52-4CFD-B4C7-1D72FB0F6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M4.2: Clothing Culture _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F84EC-42E1-477D-BCD3-52CA1FB86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4864998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  <a:latin typeface="Helvetica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Scenario 4.2: </a:t>
            </a:r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dirty="0" err="1">
                <a:solidFill>
                  <a:srgbClr val="002060"/>
                </a:solidFill>
              </a:rPr>
              <a:t>Dawei</a:t>
            </a:r>
            <a:r>
              <a:rPr lang="en-US" dirty="0">
                <a:solidFill>
                  <a:srgbClr val="002060"/>
                </a:solidFill>
              </a:rPr>
              <a:t> and Ma Xiaoqing walk to the movie theater.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9D9C50-7D1B-4901-8344-A92B20A63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275403"/>
              </p:ext>
            </p:extLst>
          </p:nvPr>
        </p:nvGraphicFramePr>
        <p:xfrm>
          <a:off x="1077843" y="1846101"/>
          <a:ext cx="9696174" cy="3574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46">
                  <a:extLst>
                    <a:ext uri="{9D8B030D-6E8A-4147-A177-3AD203B41FA5}">
                      <a16:colId xmlns:a16="http://schemas.microsoft.com/office/drawing/2014/main" val="1393260810"/>
                    </a:ext>
                  </a:extLst>
                </a:gridCol>
                <a:gridCol w="8482928">
                  <a:extLst>
                    <a:ext uri="{9D8B030D-6E8A-4147-A177-3AD203B41FA5}">
                      <a16:colId xmlns:a16="http://schemas.microsoft.com/office/drawing/2014/main" val="1309760456"/>
                    </a:ext>
                  </a:extLst>
                </a:gridCol>
              </a:tblGrid>
              <a:tr h="716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大为，以后你别带这个帽子了。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9749193"/>
                  </a:ext>
                </a:extLst>
              </a:tr>
              <a:tr h="705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这是我大学的帽子，不好看吗？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4369488"/>
                  </a:ext>
                </a:extLst>
              </a:tr>
              <a:tr h="7262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好看是好看，可是在中国没有人带绿色的帽子。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21254793"/>
                  </a:ext>
                </a:extLst>
              </a:tr>
              <a:tr h="712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AD: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为什么？</a:t>
                      </a:r>
                      <a:endParaRPr lang="en-US" sz="3100" b="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39405610"/>
                  </a:ext>
                </a:extLst>
              </a:tr>
              <a:tr h="7127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100" b="0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MX:</a:t>
                      </a: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100" b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你问问李明吧。</a:t>
                      </a:r>
                      <a:endParaRPr lang="en-US" sz="3100" b="0" kern="12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3">
                            <a:lumMod val="5000"/>
                            <a:lumOff val="95000"/>
                          </a:schemeClr>
                        </a:gs>
                        <a:gs pos="74000">
                          <a:schemeClr val="accent3">
                            <a:lumMod val="45000"/>
                            <a:lumOff val="55000"/>
                          </a:schemeClr>
                        </a:gs>
                        <a:gs pos="49000">
                          <a:schemeClr val="accent3">
                            <a:lumMod val="45000"/>
                            <a:lumOff val="55000"/>
                          </a:schemeClr>
                        </a:gs>
                        <a:gs pos="100000">
                          <a:schemeClr val="accent3">
                            <a:lumMod val="30000"/>
                            <a:lumOff val="70000"/>
                          </a:schemeClr>
                        </a:gs>
                      </a:gsLst>
                      <a:lin ang="162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6821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15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1042</Words>
  <Application>Microsoft Office PowerPoint</Application>
  <PresentationFormat>Widescreen</PresentationFormat>
  <Paragraphs>250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等线</vt:lpstr>
      <vt:lpstr>等线</vt:lpstr>
      <vt:lpstr>等线 Light</vt:lpstr>
      <vt:lpstr>Helvetica Neue</vt:lpstr>
      <vt:lpstr>SimSun</vt:lpstr>
      <vt:lpstr>Arial</vt:lpstr>
      <vt:lpstr>Calibri</vt:lpstr>
      <vt:lpstr>Calibri Light</vt:lpstr>
      <vt:lpstr>Helvetica</vt:lpstr>
      <vt:lpstr>Times New Roman</vt:lpstr>
      <vt:lpstr>Office Theme</vt:lpstr>
      <vt:lpstr>Unit 7</vt:lpstr>
      <vt:lpstr>COMMUNICATION OBJECTIVES</vt:lpstr>
      <vt:lpstr>M1.1: Colors _ New Words</vt:lpstr>
      <vt:lpstr>M1.1: Colors _ Text</vt:lpstr>
      <vt:lpstr>M1.2: Colors _ New Words</vt:lpstr>
      <vt:lpstr>M1.2: Colors _ Text</vt:lpstr>
      <vt:lpstr>M2.1: Clothing _ New Words</vt:lpstr>
      <vt:lpstr>M2.1: Clothing_ Text</vt:lpstr>
      <vt:lpstr>M2.2: Colors _ New Words</vt:lpstr>
      <vt:lpstr>M2.2: Colors _ Text</vt:lpstr>
      <vt:lpstr>M3.1: Shopping for clothes _ New Words</vt:lpstr>
      <vt:lpstr>M3.1: Shopping for clothes _ Text</vt:lpstr>
      <vt:lpstr>M3.2: Shopping for clothes _ New Words</vt:lpstr>
      <vt:lpstr>M3.2: Shopping for clothes _ Text</vt:lpstr>
      <vt:lpstr>M4.1: Clothing Culture _ New Words</vt:lpstr>
      <vt:lpstr>M4.1: Clothing Culture _ Text</vt:lpstr>
      <vt:lpstr>M4.2: Clothing Culture _ New Words</vt:lpstr>
      <vt:lpstr>M4.2: Clothing Culture _ Text</vt:lpstr>
    </vt:vector>
  </TitlesOfParts>
  <Company>College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</dc:title>
  <dc:creator>Lin Hong</dc:creator>
  <cp:lastModifiedBy>altiris</cp:lastModifiedBy>
  <cp:revision>79</cp:revision>
  <dcterms:created xsi:type="dcterms:W3CDTF">2019-04-01T18:56:15Z</dcterms:created>
  <dcterms:modified xsi:type="dcterms:W3CDTF">2020-04-24T05:24:00Z</dcterms:modified>
</cp:coreProperties>
</file>