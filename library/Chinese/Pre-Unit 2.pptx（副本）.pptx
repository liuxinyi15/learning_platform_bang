
<file path=[Content_Types].xml><?xml version="1.0" encoding="utf-8"?>
<Types xmlns="http://schemas.openxmlformats.org/package/2006/content-types">
  <Default Extension="PNG" ContentType="image/png"/>
  <Default Extension="m4a" ContentType="audio/mp4"/>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8" r:id="rId1"/>
  </p:sldMasterIdLst>
  <p:notesMasterIdLst>
    <p:notesMasterId r:id="rId19"/>
  </p:notesMasterIdLst>
  <p:sldIdLst>
    <p:sldId id="256" r:id="rId2"/>
    <p:sldId id="257" r:id="rId3"/>
    <p:sldId id="258" r:id="rId4"/>
    <p:sldId id="271" r:id="rId5"/>
    <p:sldId id="272" r:id="rId6"/>
    <p:sldId id="273" r:id="rId7"/>
    <p:sldId id="274" r:id="rId8"/>
    <p:sldId id="275" r:id="rId9"/>
    <p:sldId id="276" r:id="rId10"/>
    <p:sldId id="277" r:id="rId11"/>
    <p:sldId id="278" r:id="rId12"/>
    <p:sldId id="279" r:id="rId13"/>
    <p:sldId id="280" r:id="rId14"/>
    <p:sldId id="281" r:id="rId15"/>
    <p:sldId id="282" r:id="rId16"/>
    <p:sldId id="283" r:id="rId17"/>
    <p:sldId id="284"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07" autoAdjust="0"/>
    <p:restoredTop sz="94660"/>
  </p:normalViewPr>
  <p:slideViewPr>
    <p:cSldViewPr snapToGrid="0">
      <p:cViewPr varScale="1">
        <p:scale>
          <a:sx n="91" d="100"/>
          <a:sy n="91" d="100"/>
        </p:scale>
        <p:origin x="63" y="6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ink/ink1.xml><?xml version="1.0" encoding="utf-8"?>
<inkml:ink xmlns:inkml="http://www.w3.org/2003/InkML">
  <inkml:definitions/>
</inkml:ink>
</file>

<file path=ppt/ink/ink2.xml><?xml version="1.0" encoding="utf-8"?>
<inkml:ink xmlns:inkml="http://www.w3.org/2003/InkML">
  <inkml:definitions/>
</inkml:ink>
</file>

<file path=ppt/ink/ink3.xml><?xml version="1.0" encoding="utf-8"?>
<inkml:ink xmlns:inkml="http://www.w3.org/2003/InkML">
  <inkml:definitions/>
</inkml:ink>
</file>

<file path=ppt/ink/ink4.xml><?xml version="1.0" encoding="utf-8"?>
<inkml:ink xmlns:inkml="http://www.w3.org/2003/InkML">
  <inkml:definitions/>
</inkml:ink>
</file>

<file path=ppt/ink/ink5.xml><?xml version="1.0" encoding="utf-8"?>
<inkml:ink xmlns:inkml="http://www.w3.org/2003/InkML">
  <inkml:definitions/>
</inkml:ink>
</file>

<file path=ppt/ink/ink6.xml><?xml version="1.0" encoding="utf-8"?>
<inkml:ink xmlns:inkml="http://www.w3.org/2003/InkML">
  <inkml:definitions/>
</inkml:ink>
</file>

<file path=ppt/ink/ink7.xml><?xml version="1.0" encoding="utf-8"?>
<inkml:ink xmlns:inkml="http://www.w3.org/2003/InkML">
  <inkml:definitions/>
</inkml:ink>
</file>

<file path=ppt/ink/ink8.xml><?xml version="1.0" encoding="utf-8"?>
<inkml:ink xmlns:inkml="http://www.w3.org/2003/InkML">
  <inkml:definitions/>
</inkml:ink>
</file>

<file path=ppt/ink/ink9.xml><?xml version="1.0" encoding="utf-8"?>
<inkml:ink xmlns:inkml="http://www.w3.org/2003/InkML">
  <inkml:definitions/>
</inkml:ink>
</file>

<file path=ppt/ink/ink10.xml><?xml version="1.0" encoding="utf-8"?>
<inkml:ink xmlns:inkml="http://www.w3.org/2003/InkML">
  <inkml:definitions/>
</inkml:ink>
</file>

<file path=ppt/ink/ink11.xml><?xml version="1.0" encoding="utf-8"?>
<inkml:ink xmlns:inkml="http://www.w3.org/2003/InkML">
  <inkml:definitions/>
</inkml:ink>
</file>

<file path=ppt/ink/ink12.xml><?xml version="1.0" encoding="utf-8"?>
<inkml:ink xmlns:inkml="http://www.w3.org/2003/InkML">
  <inkml:definitions/>
</inkml:ink>
</file>

<file path=ppt/ink/ink13.xml><?xml version="1.0" encoding="utf-8"?>
<inkml:ink xmlns:inkml="http://www.w3.org/2003/InkML">
  <inkml:definitions/>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EA516F7-6A60-4578-9626-6757DDE094E5}" type="datetimeFigureOut">
              <a:rPr lang="en-US" smtClean="0"/>
              <a:t>9/17/2019</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6B12188-433E-4C82-A4D7-8900883476DF}" type="slidenum">
              <a:rPr lang="en-US" smtClean="0"/>
              <a:t>‹#›</a:t>
            </a:fld>
            <a:endParaRPr lang="en-US" dirty="0"/>
          </a:p>
        </p:txBody>
      </p:sp>
    </p:spTree>
    <p:extLst>
      <p:ext uri="{BB962C8B-B14F-4D97-AF65-F5344CB8AC3E}">
        <p14:creationId xmlns:p14="http://schemas.microsoft.com/office/powerpoint/2010/main" val="24900726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B61BEF0D-F0BB-DE4B-95CE-6DB70DBA9567}" type="datetimeFigureOut">
              <a:rPr lang="en-US" smtClean="0"/>
              <a:pPr/>
              <a:t>9/17/2019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293248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61BEF0D-F0BB-DE4B-95CE-6DB70DBA9567}" type="datetimeFigureOut">
              <a:rPr lang="en-US" smtClean="0"/>
              <a:pPr/>
              <a:t>9/17/2019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3933567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9/17/2019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3346343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EB712588-04B1-427B-82EE-E8DB90309F08}" type="datetimeFigureOut">
              <a:rPr lang="en-US" smtClean="0"/>
              <a:t>9/17/2019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19010357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61BEF0D-F0BB-DE4B-95CE-6DB70DBA9567}" type="datetimeFigureOut">
              <a:rPr lang="en-US" smtClean="0"/>
              <a:pPr/>
              <a:t>9/17/2019</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321860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61BEF0D-F0BB-DE4B-95CE-6DB70DBA9567}" type="datetimeFigureOut">
              <a:rPr lang="en-US" smtClean="0"/>
              <a:pPr/>
              <a:t>9/17/2019</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880419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9/17/2019</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272569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9/17/2019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2178391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9/17/2019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398344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5C6B4A9-1611-4792-9094-5F34BCA07E0B}" type="datetimeFigureOut">
              <a:rPr lang="en-US" smtClean="0"/>
              <a:t>9/17/2019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19636036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61BEF0D-F0BB-DE4B-95CE-6DB70DBA9567}" type="datetimeFigureOut">
              <a:rPr lang="en-US" smtClean="0"/>
              <a:pPr/>
              <a:t>9/17/2019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2681140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1BEF0D-F0BB-DE4B-95CE-6DB70DBA9567}" type="datetimeFigureOut">
              <a:rPr lang="en-US" smtClean="0"/>
              <a:pPr/>
              <a:t>9/17/2019</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16149416"/>
      </p:ext>
    </p:extLst>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www.gotcharacters.com/wp/a-radical-view/"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customXml" Target="../ink/ink6.xml"/><Relationship Id="rId13" Type="http://schemas.openxmlformats.org/officeDocument/2006/relationships/customXml" Target="../ink/ink11.xml"/><Relationship Id="rId3" Type="http://schemas.openxmlformats.org/officeDocument/2006/relationships/customXml" Target="../ink/ink1.xml"/><Relationship Id="rId7" Type="http://schemas.openxmlformats.org/officeDocument/2006/relationships/customXml" Target="../ink/ink5.xml"/><Relationship Id="rId12" Type="http://schemas.openxmlformats.org/officeDocument/2006/relationships/customXml" Target="../ink/ink10.xml"/><Relationship Id="rId2" Type="http://schemas.openxmlformats.org/officeDocument/2006/relationships/image" Target="../media/image6.png"/><Relationship Id="rId1" Type="http://schemas.openxmlformats.org/officeDocument/2006/relationships/slideLayout" Target="../slideLayouts/slideLayout4.xml"/><Relationship Id="rId6" Type="http://schemas.openxmlformats.org/officeDocument/2006/relationships/customXml" Target="../ink/ink4.xml"/><Relationship Id="rId11" Type="http://schemas.openxmlformats.org/officeDocument/2006/relationships/customXml" Target="../ink/ink9.xml"/><Relationship Id="rId5" Type="http://schemas.openxmlformats.org/officeDocument/2006/relationships/customXml" Target="../ink/ink3.xml"/><Relationship Id="rId15" Type="http://schemas.openxmlformats.org/officeDocument/2006/relationships/customXml" Target="../ink/ink13.xml"/><Relationship Id="rId10" Type="http://schemas.openxmlformats.org/officeDocument/2006/relationships/customXml" Target="../ink/ink8.xml"/><Relationship Id="rId4" Type="http://schemas.openxmlformats.org/officeDocument/2006/relationships/customXml" Target="../ink/ink2.xml"/><Relationship Id="rId9" Type="http://schemas.openxmlformats.org/officeDocument/2006/relationships/customXml" Target="../ink/ink7.xml"/><Relationship Id="rId14" Type="http://schemas.openxmlformats.org/officeDocument/2006/relationships/customXml" Target="../ink/ink1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4a"/><Relationship Id="rId1" Type="http://schemas.microsoft.com/office/2007/relationships/media" Target="../media/media1.m4a"/><Relationship Id="rId5" Type="http://schemas.openxmlformats.org/officeDocument/2006/relationships/image" Target="../media/image9.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m4a"/><Relationship Id="rId1" Type="http://schemas.microsoft.com/office/2007/relationships/media" Target="../media/media2.m4a"/><Relationship Id="rId5" Type="http://schemas.openxmlformats.org/officeDocument/2006/relationships/image" Target="../media/image9.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44510" y="1376855"/>
            <a:ext cx="5323490" cy="2133108"/>
          </a:xfrm>
        </p:spPr>
        <p:txBody>
          <a:bodyPr/>
          <a:lstStyle/>
          <a:p>
            <a:r>
              <a:rPr lang="en-US" dirty="0" smtClean="0"/>
              <a:t>Pre-Unit 2</a:t>
            </a:r>
            <a:endParaRPr lang="en-US" dirty="0"/>
          </a:p>
        </p:txBody>
      </p:sp>
      <p:sp>
        <p:nvSpPr>
          <p:cNvPr id="3" name="Subtitle 2"/>
          <p:cNvSpPr>
            <a:spLocks noGrp="1"/>
          </p:cNvSpPr>
          <p:nvPr>
            <p:ph type="subTitle" idx="1"/>
          </p:nvPr>
        </p:nvSpPr>
        <p:spPr>
          <a:xfrm>
            <a:off x="6006663" y="3586272"/>
            <a:ext cx="4661337" cy="1655762"/>
          </a:xfrm>
        </p:spPr>
        <p:txBody>
          <a:bodyPr/>
          <a:lstStyle/>
          <a:p>
            <a:r>
              <a:rPr lang="en-US" dirty="0" smtClean="0"/>
              <a:t>OER Beginning Chinese Textbook</a:t>
            </a:r>
          </a:p>
          <a:p>
            <a:endParaRPr lang="en-US" dirty="0"/>
          </a:p>
          <a:p>
            <a:r>
              <a:rPr lang="en-US" dirty="0" smtClean="0"/>
              <a:t>By Lin Hong</a:t>
            </a: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9015" y="840562"/>
            <a:ext cx="4192391" cy="5371052"/>
          </a:xfrm>
          <a:prstGeom prst="rect">
            <a:avLst/>
          </a:prstGeom>
        </p:spPr>
      </p:pic>
    </p:spTree>
    <p:extLst>
      <p:ext uri="{BB962C8B-B14F-4D97-AF65-F5344CB8AC3E}">
        <p14:creationId xmlns:p14="http://schemas.microsoft.com/office/powerpoint/2010/main" val="80032531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7334" y="1529255"/>
            <a:ext cx="8596668" cy="4512107"/>
          </a:xfrm>
        </p:spPr>
        <p:txBody>
          <a:bodyPr/>
          <a:lstStyle/>
          <a:p>
            <a:pPr marL="0" indent="0">
              <a:buNone/>
            </a:pPr>
            <a:r>
              <a:rPr lang="en-US" dirty="0" smtClean="0"/>
              <a:t> </a:t>
            </a:r>
            <a:endParaRPr lang="en-US" dirty="0"/>
          </a:p>
        </p:txBody>
      </p:sp>
      <p:sp>
        <p:nvSpPr>
          <p:cNvPr id="4" name="Title 3"/>
          <p:cNvSpPr>
            <a:spLocks noGrp="1"/>
          </p:cNvSpPr>
          <p:nvPr>
            <p:ph type="title"/>
          </p:nvPr>
        </p:nvSpPr>
        <p:spPr/>
        <p:txBody>
          <a:bodyPr/>
          <a:lstStyle/>
          <a:p>
            <a:endParaRPr lang="en-US" dirty="0"/>
          </a:p>
        </p:txBody>
      </p:sp>
      <p:pic>
        <p:nvPicPr>
          <p:cNvPr id="5" name="Picture 4"/>
          <p:cNvPicPr>
            <a:picLocks noChangeAspect="1"/>
          </p:cNvPicPr>
          <p:nvPr/>
        </p:nvPicPr>
        <p:blipFill>
          <a:blip r:embed="rId2"/>
          <a:stretch>
            <a:fillRect/>
          </a:stretch>
        </p:blipFill>
        <p:spPr>
          <a:xfrm>
            <a:off x="838200" y="365125"/>
            <a:ext cx="10515600" cy="5766459"/>
          </a:xfrm>
          <a:prstGeom prst="rect">
            <a:avLst/>
          </a:prstGeom>
        </p:spPr>
      </p:pic>
    </p:spTree>
    <p:extLst>
      <p:ext uri="{BB962C8B-B14F-4D97-AF65-F5344CB8AC3E}">
        <p14:creationId xmlns:p14="http://schemas.microsoft.com/office/powerpoint/2010/main" val="73238186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12763"/>
          </a:xfrm>
        </p:spPr>
        <p:txBody>
          <a:bodyPr>
            <a:normAutofit fontScale="90000"/>
          </a:bodyPr>
          <a:lstStyle/>
          <a:p>
            <a:r>
              <a:rPr lang="en-US" dirty="0" smtClean="0">
                <a:solidFill>
                  <a:srgbClr val="C00000"/>
                </a:solidFill>
              </a:rPr>
              <a:t>Mandarin Phonology (Sound System) II</a:t>
            </a:r>
            <a:endParaRPr lang="en-US" dirty="0">
              <a:solidFill>
                <a:srgbClr val="C00000"/>
              </a:solidFill>
            </a:endParaRPr>
          </a:p>
        </p:txBody>
      </p:sp>
      <p:pic>
        <p:nvPicPr>
          <p:cNvPr id="5" name="Content Placeholder 4"/>
          <p:cNvPicPr>
            <a:picLocks noGrp="1" noChangeAspect="1"/>
          </p:cNvPicPr>
          <p:nvPr>
            <p:ph idx="1"/>
          </p:nvPr>
        </p:nvPicPr>
        <p:blipFill>
          <a:blip r:embed="rId2"/>
          <a:stretch>
            <a:fillRect/>
          </a:stretch>
        </p:blipFill>
        <p:spPr>
          <a:xfrm>
            <a:off x="724071" y="1322363"/>
            <a:ext cx="7829044" cy="4719637"/>
          </a:xfrm>
          <a:prstGeom prst="rect">
            <a:avLst/>
          </a:prstGeom>
        </p:spPr>
      </p:pic>
    </p:spTree>
    <p:extLst>
      <p:ext uri="{BB962C8B-B14F-4D97-AF65-F5344CB8AC3E}">
        <p14:creationId xmlns:p14="http://schemas.microsoft.com/office/powerpoint/2010/main" val="377968373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978340"/>
          </a:xfrm>
        </p:spPr>
        <p:txBody>
          <a:bodyPr/>
          <a:lstStyle/>
          <a:p>
            <a:r>
              <a:rPr lang="en-US" dirty="0" smtClean="0">
                <a:solidFill>
                  <a:srgbClr val="C00000"/>
                </a:solidFill>
              </a:rPr>
              <a:t>Mandarin Phonology (Sound System) II</a:t>
            </a:r>
            <a:endParaRPr lang="en-US" dirty="0"/>
          </a:p>
        </p:txBody>
      </p:sp>
      <p:pic>
        <p:nvPicPr>
          <p:cNvPr id="4" name="Content Placeholder 3"/>
          <p:cNvPicPr>
            <a:picLocks noGrp="1" noChangeAspect="1"/>
          </p:cNvPicPr>
          <p:nvPr>
            <p:ph idx="1"/>
          </p:nvPr>
        </p:nvPicPr>
        <p:blipFill>
          <a:blip r:embed="rId2"/>
          <a:stretch>
            <a:fillRect/>
          </a:stretch>
        </p:blipFill>
        <p:spPr>
          <a:xfrm>
            <a:off x="838200" y="1343466"/>
            <a:ext cx="6398172" cy="908226"/>
          </a:xfrm>
          <a:prstGeom prst="rect">
            <a:avLst/>
          </a:prstGeom>
        </p:spPr>
      </p:pic>
    </p:spTree>
    <p:extLst>
      <p:ext uri="{BB962C8B-B14F-4D97-AF65-F5344CB8AC3E}">
        <p14:creationId xmlns:p14="http://schemas.microsoft.com/office/powerpoint/2010/main" val="381490603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69841"/>
          </a:xfrm>
        </p:spPr>
        <p:txBody>
          <a:bodyPr>
            <a:normAutofit/>
          </a:bodyPr>
          <a:lstStyle/>
          <a:p>
            <a:r>
              <a:rPr lang="en-US" sz="4000" b="1" dirty="0">
                <a:solidFill>
                  <a:srgbClr val="C00000"/>
                </a:solidFill>
              </a:rPr>
              <a:t>Chinese Writing </a:t>
            </a:r>
            <a:r>
              <a:rPr lang="en-US" sz="4000" b="1" dirty="0" smtClean="0">
                <a:solidFill>
                  <a:srgbClr val="C00000"/>
                </a:solidFill>
              </a:rPr>
              <a:t>System </a:t>
            </a:r>
            <a:endParaRPr lang="en-US" sz="4000" dirty="0"/>
          </a:p>
        </p:txBody>
      </p:sp>
      <p:pic>
        <p:nvPicPr>
          <p:cNvPr id="4" name="Content Placeholder 3"/>
          <p:cNvPicPr>
            <a:picLocks noGrp="1" noChangeAspect="1"/>
          </p:cNvPicPr>
          <p:nvPr>
            <p:ph idx="1"/>
          </p:nvPr>
        </p:nvPicPr>
        <p:blipFill>
          <a:blip r:embed="rId2"/>
          <a:stretch>
            <a:fillRect/>
          </a:stretch>
        </p:blipFill>
        <p:spPr>
          <a:xfrm>
            <a:off x="838200" y="1234965"/>
            <a:ext cx="7313970" cy="5297213"/>
          </a:xfrm>
          <a:prstGeom prst="rect">
            <a:avLst/>
          </a:prstGeom>
        </p:spPr>
      </p:pic>
    </p:spTree>
    <p:extLst>
      <p:ext uri="{BB962C8B-B14F-4D97-AF65-F5344CB8AC3E}">
        <p14:creationId xmlns:p14="http://schemas.microsoft.com/office/powerpoint/2010/main" val="297988403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69992"/>
          </a:xfrm>
        </p:spPr>
        <p:txBody>
          <a:bodyPr>
            <a:normAutofit/>
          </a:bodyPr>
          <a:lstStyle/>
          <a:p>
            <a:r>
              <a:rPr lang="en-US" sz="4000" b="1" dirty="0">
                <a:solidFill>
                  <a:srgbClr val="C00000"/>
                </a:solidFill>
              </a:rPr>
              <a:t>Chinese Writing </a:t>
            </a:r>
            <a:r>
              <a:rPr lang="en-US" sz="4000" b="1" dirty="0" smtClean="0">
                <a:solidFill>
                  <a:srgbClr val="C00000"/>
                </a:solidFill>
              </a:rPr>
              <a:t>System (Cont.) </a:t>
            </a:r>
            <a:endParaRPr lang="en-US" sz="4000" dirty="0"/>
          </a:p>
        </p:txBody>
      </p:sp>
      <p:sp>
        <p:nvSpPr>
          <p:cNvPr id="3" name="Content Placeholder 2"/>
          <p:cNvSpPr>
            <a:spLocks noGrp="1"/>
          </p:cNvSpPr>
          <p:nvPr>
            <p:ph idx="1"/>
          </p:nvPr>
        </p:nvSpPr>
        <p:spPr>
          <a:xfrm>
            <a:off x="838200" y="1221280"/>
            <a:ext cx="10515600" cy="4351338"/>
          </a:xfrm>
        </p:spPr>
        <p:txBody>
          <a:bodyPr/>
          <a:lstStyle/>
          <a:p>
            <a:pPr marL="0" indent="0">
              <a:buNone/>
            </a:pPr>
            <a:r>
              <a:rPr lang="en-US" dirty="0"/>
              <a:t>The word “radical” in </a:t>
            </a:r>
            <a:r>
              <a:rPr lang="en-US" dirty="0" smtClean="0"/>
              <a:t>Chinese </a:t>
            </a:r>
            <a:r>
              <a:rPr lang="zh-CN" altLang="en-US" dirty="0" smtClean="0"/>
              <a:t>部</a:t>
            </a:r>
            <a:r>
              <a:rPr lang="zh-CN" altLang="en-US" dirty="0"/>
              <a:t>首 </a:t>
            </a:r>
            <a:r>
              <a:rPr lang="en-US" dirty="0"/>
              <a:t>(bùshǒu) literally means "section header." Traditionally Chinese characters are grouped according to their radicals in a Chinese dictionary. These radicals are often also semantic indicators that tell the meanings of the characters. Even though in some cases the original semantic connection has become obscure over time, it is a very efficient way to learn characters if you learn a good amount of basic radicals. </a:t>
            </a:r>
          </a:p>
          <a:p>
            <a:pPr marL="0" indent="0">
              <a:buNone/>
            </a:pPr>
            <a:r>
              <a:rPr lang="en-US" dirty="0"/>
              <a:t>Here </a:t>
            </a:r>
            <a:r>
              <a:rPr lang="en-US" dirty="0" smtClean="0"/>
              <a:t>is: </a:t>
            </a:r>
            <a:r>
              <a:rPr lang="en-US" u="sng" dirty="0" smtClean="0">
                <a:hlinkClick r:id="rId2"/>
              </a:rPr>
              <a:t>A </a:t>
            </a:r>
            <a:r>
              <a:rPr lang="en-US" u="sng" dirty="0">
                <a:hlinkClick r:id="rId2"/>
              </a:rPr>
              <a:t>View of Radicals</a:t>
            </a:r>
            <a:endParaRPr lang="en-US" dirty="0"/>
          </a:p>
          <a:p>
            <a:pPr marL="0" indent="0">
              <a:buNone/>
            </a:pPr>
            <a:r>
              <a:rPr lang="en-US" dirty="0"/>
              <a:t>(https://www.gotcharacters.com/wp/a-radical-view/)</a:t>
            </a:r>
          </a:p>
          <a:p>
            <a:pPr marL="0" indent="0">
              <a:buNone/>
            </a:pPr>
            <a:endParaRPr lang="en-US" dirty="0"/>
          </a:p>
        </p:txBody>
      </p:sp>
    </p:spTree>
    <p:extLst>
      <p:ext uri="{BB962C8B-B14F-4D97-AF65-F5344CB8AC3E}">
        <p14:creationId xmlns:p14="http://schemas.microsoft.com/office/powerpoint/2010/main" val="99738096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91554"/>
            <a:ext cx="10515600" cy="769992"/>
          </a:xfrm>
        </p:spPr>
        <p:txBody>
          <a:bodyPr/>
          <a:lstStyle/>
          <a:p>
            <a:r>
              <a:rPr lang="en-US" b="1" dirty="0">
                <a:solidFill>
                  <a:srgbClr val="C00000"/>
                </a:solidFill>
              </a:rPr>
              <a:t>Chinese Writing System (Cont.) </a:t>
            </a:r>
            <a:endParaRPr lang="en-US" dirty="0"/>
          </a:p>
        </p:txBody>
      </p:sp>
      <p:sp>
        <p:nvSpPr>
          <p:cNvPr id="3" name="Content Placeholder 2"/>
          <p:cNvSpPr>
            <a:spLocks noGrp="1"/>
          </p:cNvSpPr>
          <p:nvPr>
            <p:ph idx="1"/>
          </p:nvPr>
        </p:nvSpPr>
        <p:spPr>
          <a:xfrm>
            <a:off x="959069" y="1252811"/>
            <a:ext cx="10515600" cy="4351338"/>
          </a:xfrm>
        </p:spPr>
        <p:txBody>
          <a:bodyPr/>
          <a:lstStyle/>
          <a:p>
            <a:pPr marL="0" indent="0">
              <a:buNone/>
            </a:pPr>
            <a:r>
              <a:rPr lang="en-US" dirty="0">
                <a:solidFill>
                  <a:srgbClr val="C00000"/>
                </a:solidFill>
              </a:rPr>
              <a:t>Phonetic Components</a:t>
            </a:r>
          </a:p>
          <a:p>
            <a:pPr marL="0" indent="0">
              <a:buNone/>
            </a:pPr>
            <a:r>
              <a:rPr lang="en-US" dirty="0"/>
              <a:t>A phonetic component gives the pronunciation of a Chinese character. Almost 80% of modern Chinese characters are pictophonetic characters, with one semantic indicator (radical) and one phonetic component. For instance, the phonetic component </a:t>
            </a:r>
            <a:r>
              <a:rPr lang="zh-CN" altLang="en-US" dirty="0"/>
              <a:t>青 </a:t>
            </a:r>
            <a:r>
              <a:rPr lang="en-US" dirty="0"/>
              <a:t>(qīng) indicates the pronunciations of </a:t>
            </a:r>
            <a:r>
              <a:rPr lang="zh-CN" altLang="en-US" dirty="0"/>
              <a:t>请（</a:t>
            </a:r>
            <a:r>
              <a:rPr lang="en-US" dirty="0"/>
              <a:t>qǐng</a:t>
            </a:r>
            <a:r>
              <a:rPr lang="zh-CN" altLang="en-US" dirty="0"/>
              <a:t>）</a:t>
            </a:r>
            <a:r>
              <a:rPr lang="en-US" dirty="0"/>
              <a:t>/</a:t>
            </a:r>
            <a:r>
              <a:rPr lang="zh-CN" altLang="en-US" dirty="0"/>
              <a:t>晴（</a:t>
            </a:r>
            <a:r>
              <a:rPr lang="en-US" dirty="0"/>
              <a:t>qíng</a:t>
            </a:r>
            <a:r>
              <a:rPr lang="zh-CN" altLang="en-US" dirty="0"/>
              <a:t>）</a:t>
            </a:r>
            <a:r>
              <a:rPr lang="en-US" dirty="0"/>
              <a:t>/</a:t>
            </a:r>
            <a:r>
              <a:rPr lang="zh-CN" altLang="en-US" dirty="0"/>
              <a:t>清（</a:t>
            </a:r>
            <a:r>
              <a:rPr lang="en-US" dirty="0"/>
              <a:t>qīng</a:t>
            </a:r>
            <a:r>
              <a:rPr lang="zh-CN" altLang="en-US" dirty="0"/>
              <a:t>）</a:t>
            </a:r>
            <a:r>
              <a:rPr lang="en-US" dirty="0"/>
              <a:t>/</a:t>
            </a:r>
            <a:r>
              <a:rPr lang="zh-CN" altLang="en-US" dirty="0"/>
              <a:t>情（</a:t>
            </a:r>
            <a:r>
              <a:rPr lang="en-US" dirty="0"/>
              <a:t>qíng</a:t>
            </a:r>
            <a:r>
              <a:rPr lang="zh-CN" altLang="en-US" dirty="0"/>
              <a:t>）</a:t>
            </a:r>
            <a:r>
              <a:rPr lang="en-US" dirty="0"/>
              <a:t>. Usually the right side of a pictophonetic character is the phonetic component, and the left side is the semantic indicator (radical). </a:t>
            </a:r>
          </a:p>
        </p:txBody>
      </p:sp>
    </p:spTree>
    <p:extLst>
      <p:ext uri="{BB962C8B-B14F-4D97-AF65-F5344CB8AC3E}">
        <p14:creationId xmlns:p14="http://schemas.microsoft.com/office/powerpoint/2010/main" val="335961356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80241" y="342297"/>
            <a:ext cx="10515600" cy="822544"/>
          </a:xfrm>
        </p:spPr>
        <p:txBody>
          <a:bodyPr/>
          <a:lstStyle/>
          <a:p>
            <a:r>
              <a:rPr lang="en-US" b="1" dirty="0">
                <a:solidFill>
                  <a:srgbClr val="C00000"/>
                </a:solidFill>
              </a:rPr>
              <a:t>Chinese Writing System (Cont.) </a:t>
            </a:r>
            <a:endParaRPr lang="en-US" dirty="0"/>
          </a:p>
        </p:txBody>
      </p:sp>
      <p:sp>
        <p:nvSpPr>
          <p:cNvPr id="5" name="Content Placeholder 4"/>
          <p:cNvSpPr>
            <a:spLocks noGrp="1"/>
          </p:cNvSpPr>
          <p:nvPr>
            <p:ph sz="half" idx="1"/>
          </p:nvPr>
        </p:nvSpPr>
        <p:spPr>
          <a:xfrm>
            <a:off x="880240" y="1279087"/>
            <a:ext cx="5199993" cy="4622472"/>
          </a:xfrm>
        </p:spPr>
        <p:txBody>
          <a:bodyPr>
            <a:normAutofit/>
          </a:bodyPr>
          <a:lstStyle/>
          <a:p>
            <a:pPr marL="0" indent="0">
              <a:buNone/>
            </a:pPr>
            <a:r>
              <a:rPr lang="en-US" dirty="0">
                <a:solidFill>
                  <a:srgbClr val="C00000"/>
                </a:solidFill>
              </a:rPr>
              <a:t>Character Composition</a:t>
            </a:r>
          </a:p>
          <a:p>
            <a:pPr marL="0" indent="0">
              <a:buNone/>
            </a:pPr>
            <a:r>
              <a:rPr lang="en-US" dirty="0"/>
              <a:t>There are 9 kinds of common compositions of characters. By knowing the composition of characters, you will find it becomes easier to memorize characters by some components than by individual strokes. There are some less common compositions that are not included here. </a:t>
            </a:r>
          </a:p>
        </p:txBody>
      </p:sp>
      <p:pic>
        <p:nvPicPr>
          <p:cNvPr id="3088" name="Content Placeholder 3087"/>
          <p:cNvPicPr>
            <a:picLocks noGrp="1" noChangeAspect="1"/>
          </p:cNvPicPr>
          <p:nvPr>
            <p:ph sz="half" idx="2"/>
          </p:nvPr>
        </p:nvPicPr>
        <p:blipFill>
          <a:blip r:embed="rId2"/>
          <a:stretch>
            <a:fillRect/>
          </a:stretch>
        </p:blipFill>
        <p:spPr>
          <a:xfrm>
            <a:off x="7167265" y="1164841"/>
            <a:ext cx="3570309" cy="5310900"/>
          </a:xfrm>
          <a:prstGeom prst="rect">
            <a:avLst/>
          </a:prstGeom>
        </p:spPr>
      </p:pic>
      <mc:AlternateContent xmlns:mc="http://schemas.openxmlformats.org/markup-compatibility/2006" xmlns:p14="http://schemas.microsoft.com/office/powerpoint/2010/main">
        <mc:Choice Requires="p14">
          <p:contentPart p14:bwMode="auto" r:id="rId3">
            <p14:nvContentPartPr>
              <p14:cNvPr id="3078" name="Ink 569"/>
              <p14:cNvContentPartPr>
                <a14:cpLocks xmlns:a14="http://schemas.microsoft.com/office/drawing/2010/main" noRot="1" noChangeAspect="1" noEditPoints="1" noChangeArrowheads="1" noChangeShapeType="1"/>
              </p14:cNvContentPartPr>
              <p14:nvPr/>
            </p14:nvContentPartPr>
            <p14:xfrm>
              <a:off x="15875" y="142875"/>
              <a:ext cx="104775" cy="23813"/>
            </p14:xfrm>
          </p:contentPart>
        </mc:Choice>
        <mc:Fallback xmlns="">
          <p:pic>
            <p:nvPicPr>
              <p:cNvPr id="3078" name="Ink 569"/>
              <p:cNvPicPr>
                <a:picLocks noRot="1" noChangeAspect="1" noEditPoints="1" noChangeArrowheads="1" noChangeShapeType="1"/>
              </p:cNvPicPr>
              <p:nvPr/>
            </p:nvPicPr>
            <p:blipFill>
              <a:blip/>
              <a:stretch>
                <a:fillRect/>
              </a:stretch>
            </p:blipFill>
            <p:spPr>
              <a:xfrm>
                <a:off x="0" y="0"/>
                <a:ext cx="0" cy="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082" name="Ink 571"/>
              <p14:cNvContentPartPr>
                <a14:cpLocks xmlns:a14="http://schemas.microsoft.com/office/drawing/2010/main" noRot="1" noChangeAspect="1" noEditPoints="1" noChangeArrowheads="1" noChangeShapeType="1"/>
              </p14:cNvContentPartPr>
              <p14:nvPr/>
            </p14:nvContentPartPr>
            <p14:xfrm>
              <a:off x="147638" y="82550"/>
              <a:ext cx="231775" cy="206375"/>
            </p14:xfrm>
          </p:contentPart>
        </mc:Choice>
        <mc:Fallback xmlns="">
          <p:pic>
            <p:nvPicPr>
              <p:cNvPr id="3082" name="Ink 571"/>
              <p:cNvPicPr>
                <a:picLocks noRot="1" noChangeAspect="1" noEditPoints="1" noChangeArrowheads="1" noChangeShapeType="1"/>
              </p:cNvPicPr>
              <p:nvPr/>
            </p:nvPicPr>
            <p:blipFill>
              <a:blip/>
              <a:stretch>
                <a:fillRect/>
              </a:stretch>
            </p:blipFill>
            <p:spPr>
              <a:xfrm>
                <a:off x="0" y="0"/>
                <a:ext cx="0" cy="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3076" name="Ink 575"/>
              <p14:cNvContentPartPr>
                <a14:cpLocks xmlns:a14="http://schemas.microsoft.com/office/drawing/2010/main" noRot="1" noChangeAspect="1" noEditPoints="1" noChangeArrowheads="1" noChangeShapeType="1"/>
              </p14:cNvContentPartPr>
              <p14:nvPr/>
            </p14:nvContentPartPr>
            <p14:xfrm>
              <a:off x="44450" y="53975"/>
              <a:ext cx="339725" cy="338138"/>
            </p14:xfrm>
          </p:contentPart>
        </mc:Choice>
        <mc:Fallback xmlns="">
          <p:pic>
            <p:nvPicPr>
              <p:cNvPr id="3076" name="Ink 575"/>
              <p:cNvPicPr>
                <a:picLocks noRot="1" noChangeAspect="1" noEditPoints="1" noChangeArrowheads="1" noChangeShapeType="1"/>
              </p:cNvPicPr>
              <p:nvPr/>
            </p:nvPicPr>
            <p:blipFill>
              <a:blip/>
              <a:stretch>
                <a:fillRect/>
              </a:stretch>
            </p:blipFill>
            <p:spPr>
              <a:xfrm>
                <a:off x="0" y="0"/>
                <a:ext cx="0" cy="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3073" name="Ink 576"/>
              <p14:cNvContentPartPr>
                <a14:cpLocks xmlns:a14="http://schemas.microsoft.com/office/drawing/2010/main" noRot="1" noChangeAspect="1" noEditPoints="1" noChangeArrowheads="1" noChangeShapeType="1"/>
              </p14:cNvContentPartPr>
              <p14:nvPr/>
            </p14:nvContentPartPr>
            <p14:xfrm>
              <a:off x="23813" y="133350"/>
              <a:ext cx="358775" cy="42863"/>
            </p14:xfrm>
          </p:contentPart>
        </mc:Choice>
        <mc:Fallback xmlns="">
          <p:pic>
            <p:nvPicPr>
              <p:cNvPr id="3073" name="Ink 576"/>
              <p:cNvPicPr>
                <a:picLocks noRot="1" noChangeAspect="1" noEditPoints="1" noChangeArrowheads="1" noChangeShapeType="1"/>
              </p:cNvPicPr>
              <p:nvPr/>
            </p:nvPicPr>
            <p:blipFill>
              <a:blip/>
              <a:stretch>
                <a:fillRect/>
              </a:stretch>
            </p:blipFill>
            <p:spPr>
              <a:xfrm>
                <a:off x="0" y="0"/>
                <a:ext cx="0" cy="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074" name="Ink 578"/>
              <p14:cNvContentPartPr>
                <a14:cpLocks xmlns:a14="http://schemas.microsoft.com/office/drawing/2010/main" noRot="1" noChangeAspect="1" noEditPoints="1" noChangeArrowheads="1" noChangeShapeType="1"/>
              </p14:cNvContentPartPr>
              <p14:nvPr/>
            </p14:nvContentPartPr>
            <p14:xfrm>
              <a:off x="128588" y="-71438"/>
              <a:ext cx="44450" cy="239713"/>
            </p14:xfrm>
          </p:contentPart>
        </mc:Choice>
        <mc:Fallback xmlns="">
          <p:pic>
            <p:nvPicPr>
              <p:cNvPr id="3074" name="Ink 578"/>
              <p:cNvPicPr>
                <a:picLocks noRot="1" noChangeAspect="1" noEditPoints="1" noChangeArrowheads="1" noChangeShapeType="1"/>
              </p:cNvPicPr>
              <p:nvPr/>
            </p:nvPicPr>
            <p:blipFill>
              <a:blip/>
              <a:stretch>
                <a:fillRect/>
              </a:stretch>
            </p:blipFill>
            <p:spPr>
              <a:xfrm>
                <a:off x="0" y="0"/>
                <a:ext cx="0" cy="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100" name="Ink 580"/>
              <p14:cNvContentPartPr>
                <a14:cpLocks xmlns:a14="http://schemas.microsoft.com/office/drawing/2010/main" noRot="1" noChangeAspect="1" noEditPoints="1" noChangeArrowheads="1" noChangeShapeType="1"/>
              </p14:cNvContentPartPr>
              <p14:nvPr/>
            </p14:nvContentPartPr>
            <p14:xfrm>
              <a:off x="19050" y="-141288"/>
              <a:ext cx="357188" cy="354013"/>
            </p14:xfrm>
          </p:contentPart>
        </mc:Choice>
        <mc:Fallback xmlns="">
          <p:pic>
            <p:nvPicPr>
              <p:cNvPr id="3100" name="Ink 580"/>
              <p:cNvPicPr>
                <a:picLocks noRot="1" noChangeAspect="1" noEditPoints="1" noChangeArrowheads="1" noChangeShapeType="1"/>
              </p:cNvPicPr>
              <p:nvPr/>
            </p:nvPicPr>
            <p:blipFill>
              <a:blip/>
              <a:stretch>
                <a:fillRect/>
              </a:stretch>
            </p:blipFill>
            <p:spPr>
              <a:xfrm>
                <a:off x="0" y="0"/>
                <a:ext cx="0" cy="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104" name="Ink 585"/>
              <p14:cNvContentPartPr>
                <a14:cpLocks xmlns:a14="http://schemas.microsoft.com/office/drawing/2010/main" noRot="1" noChangeAspect="1" noEditPoints="1" noChangeArrowheads="1" noChangeShapeType="1"/>
              </p14:cNvContentPartPr>
              <p14:nvPr/>
            </p14:nvContentPartPr>
            <p14:xfrm>
              <a:off x="120650" y="84138"/>
              <a:ext cx="144463" cy="28575"/>
            </p14:xfrm>
          </p:contentPart>
        </mc:Choice>
        <mc:Fallback xmlns="">
          <p:pic>
            <p:nvPicPr>
              <p:cNvPr id="3104" name="Ink 585"/>
              <p:cNvPicPr>
                <a:picLocks noRot="1" noChangeAspect="1" noEditPoints="1" noChangeArrowheads="1" noChangeShapeType="1"/>
              </p:cNvPicPr>
              <p:nvPr/>
            </p:nvPicPr>
            <p:blipFill>
              <a:blip/>
              <a:stretch>
                <a:fillRect/>
              </a:stretch>
            </p:blipFill>
            <p:spPr>
              <a:xfrm>
                <a:off x="0" y="0"/>
                <a:ext cx="0" cy="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3108" name="Ink 622"/>
              <p14:cNvContentPartPr>
                <a14:cpLocks xmlns:a14="http://schemas.microsoft.com/office/drawing/2010/main" noRot="1" noChangeAspect="1" noEditPoints="1" noChangeArrowheads="1" noChangeShapeType="1"/>
              </p14:cNvContentPartPr>
              <p14:nvPr/>
            </p14:nvContentPartPr>
            <p14:xfrm>
              <a:off x="38100" y="57150"/>
              <a:ext cx="342900" cy="350838"/>
            </p14:xfrm>
          </p:contentPart>
        </mc:Choice>
        <mc:Fallback xmlns="">
          <p:pic>
            <p:nvPicPr>
              <p:cNvPr id="3108" name="Ink 622"/>
              <p:cNvPicPr>
                <a:picLocks noRot="1" noChangeAspect="1" noEditPoints="1" noChangeArrowheads="1" noChangeShapeType="1"/>
              </p:cNvPicPr>
              <p:nvPr/>
            </p:nvPicPr>
            <p:blipFill>
              <a:blip/>
              <a:stretch>
                <a:fillRect/>
              </a:stretch>
            </p:blipFill>
            <p:spPr>
              <a:xfrm>
                <a:off x="0" y="0"/>
                <a:ext cx="0" cy="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3106" name="Ink 623"/>
              <p14:cNvContentPartPr>
                <a14:cpLocks xmlns:a14="http://schemas.microsoft.com/office/drawing/2010/main" noRot="1" noChangeAspect="1" noEditPoints="1" noChangeArrowheads="1" noChangeShapeType="1"/>
              </p14:cNvContentPartPr>
              <p14:nvPr/>
            </p14:nvContentPartPr>
            <p14:xfrm>
              <a:off x="31750" y="125413"/>
              <a:ext cx="333375" cy="49212"/>
            </p14:xfrm>
          </p:contentPart>
        </mc:Choice>
        <mc:Fallback xmlns="">
          <p:pic>
            <p:nvPicPr>
              <p:cNvPr id="3106" name="Ink 623"/>
              <p:cNvPicPr>
                <a:picLocks noRot="1" noChangeAspect="1" noEditPoints="1" noChangeArrowheads="1" noChangeShapeType="1"/>
              </p:cNvPicPr>
              <p:nvPr/>
            </p:nvPicPr>
            <p:blipFill>
              <a:blip/>
              <a:stretch>
                <a:fillRect/>
              </a:stretch>
            </p:blipFill>
            <p:spPr>
              <a:xfrm>
                <a:off x="0" y="0"/>
                <a:ext cx="0" cy="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3096" name="Ink 632"/>
              <p14:cNvContentPartPr>
                <a14:cpLocks xmlns:a14="http://schemas.microsoft.com/office/drawing/2010/main" noRot="1" noChangeAspect="1" noEditPoints="1" noChangeArrowheads="1" noChangeShapeType="1"/>
              </p14:cNvContentPartPr>
              <p14:nvPr/>
            </p14:nvContentPartPr>
            <p14:xfrm>
              <a:off x="25400" y="82550"/>
              <a:ext cx="28575" cy="307975"/>
            </p14:xfrm>
          </p:contentPart>
        </mc:Choice>
        <mc:Fallback xmlns="">
          <p:pic>
            <p:nvPicPr>
              <p:cNvPr id="3096" name="Ink 632"/>
              <p:cNvPicPr>
                <a:picLocks noRot="1" noChangeAspect="1" noEditPoints="1" noChangeArrowheads="1" noChangeShapeType="1"/>
              </p:cNvPicPr>
              <p:nvPr/>
            </p:nvPicPr>
            <p:blipFill>
              <a:blip/>
              <a:stretch>
                <a:fillRect/>
              </a:stretch>
            </p:blipFill>
            <p:spPr>
              <a:xfrm>
                <a:off x="0" y="0"/>
                <a:ext cx="0" cy="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3095" name="Ink 637"/>
              <p14:cNvContentPartPr>
                <a14:cpLocks xmlns:a14="http://schemas.microsoft.com/office/drawing/2010/main" noRot="1" noChangeAspect="1" noEditPoints="1" noChangeArrowheads="1" noChangeShapeType="1"/>
              </p14:cNvContentPartPr>
              <p14:nvPr/>
            </p14:nvContentPartPr>
            <p14:xfrm>
              <a:off x="41275" y="133350"/>
              <a:ext cx="325438" cy="36513"/>
            </p14:xfrm>
          </p:contentPart>
        </mc:Choice>
        <mc:Fallback xmlns="">
          <p:pic>
            <p:nvPicPr>
              <p:cNvPr id="3095" name="Ink 637"/>
              <p:cNvPicPr>
                <a:picLocks noRot="1" noChangeAspect="1" noEditPoints="1" noChangeArrowheads="1" noChangeShapeType="1"/>
              </p:cNvPicPr>
              <p:nvPr/>
            </p:nvPicPr>
            <p:blipFill>
              <a:blip/>
              <a:stretch>
                <a:fillRect/>
              </a:stretch>
            </p:blipFill>
            <p:spPr>
              <a:xfrm>
                <a:off x="0" y="0"/>
                <a:ext cx="0" cy="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3083" name="Ink 644"/>
              <p14:cNvContentPartPr>
                <a14:cpLocks xmlns:a14="http://schemas.microsoft.com/office/drawing/2010/main" noRot="1" noChangeAspect="1" noEditPoints="1" noChangeArrowheads="1" noChangeShapeType="1"/>
              </p14:cNvContentPartPr>
              <p14:nvPr/>
            </p14:nvContentPartPr>
            <p14:xfrm>
              <a:off x="33338" y="-158750"/>
              <a:ext cx="28575" cy="338138"/>
            </p14:xfrm>
          </p:contentPart>
        </mc:Choice>
        <mc:Fallback xmlns="">
          <p:pic>
            <p:nvPicPr>
              <p:cNvPr id="3083" name="Ink 644"/>
              <p:cNvPicPr>
                <a:picLocks noRot="1" noChangeAspect="1" noEditPoints="1" noChangeArrowheads="1" noChangeShapeType="1"/>
              </p:cNvPicPr>
              <p:nvPr/>
            </p:nvPicPr>
            <p:blipFill>
              <a:blip/>
              <a:stretch>
                <a:fillRect/>
              </a:stretch>
            </p:blipFill>
            <p:spPr>
              <a:xfrm>
                <a:off x="0" y="0"/>
                <a:ext cx="0" cy="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3085" name="Ink 646"/>
              <p14:cNvContentPartPr>
                <a14:cpLocks xmlns:a14="http://schemas.microsoft.com/office/drawing/2010/main" noRot="1" noChangeAspect="1" noEditPoints="1" noChangeArrowheads="1" noChangeShapeType="1"/>
              </p14:cNvContentPartPr>
              <p14:nvPr/>
            </p14:nvContentPartPr>
            <p14:xfrm>
              <a:off x="47625" y="142875"/>
              <a:ext cx="322263" cy="49213"/>
            </p14:xfrm>
          </p:contentPart>
        </mc:Choice>
        <mc:Fallback xmlns="">
          <p:pic>
            <p:nvPicPr>
              <p:cNvPr id="3085" name="Ink 646"/>
              <p:cNvPicPr>
                <a:picLocks noRot="1" noChangeAspect="1" noEditPoints="1" noChangeArrowheads="1" noChangeShapeType="1"/>
              </p:cNvPicPr>
              <p:nvPr/>
            </p:nvPicPr>
            <p:blipFill>
              <a:blip/>
              <a:stretch>
                <a:fillRect/>
              </a:stretch>
            </p:blipFill>
            <p:spPr>
              <a:xfrm>
                <a:off x="0" y="0"/>
                <a:ext cx="0" cy="0"/>
              </a:xfrm>
              <a:prstGeom prst="rect">
                <a:avLst/>
              </a:prstGeom>
            </p:spPr>
          </p:pic>
        </mc:Fallback>
      </mc:AlternateContent>
    </p:spTree>
    <p:extLst>
      <p:ext uri="{BB962C8B-B14F-4D97-AF65-F5344CB8AC3E}">
        <p14:creationId xmlns:p14="http://schemas.microsoft.com/office/powerpoint/2010/main" val="154665727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838200" y="365126"/>
            <a:ext cx="10515600" cy="659634"/>
          </a:xfrm>
        </p:spPr>
        <p:txBody>
          <a:bodyPr>
            <a:normAutofit fontScale="90000"/>
          </a:bodyPr>
          <a:lstStyle/>
          <a:p>
            <a:r>
              <a:rPr lang="en-US" b="1" dirty="0">
                <a:solidFill>
                  <a:srgbClr val="C00000"/>
                </a:solidFill>
              </a:rPr>
              <a:t>Chinese Writing System (Cont.) </a:t>
            </a:r>
            <a:endParaRPr lang="en-US" dirty="0"/>
          </a:p>
        </p:txBody>
      </p:sp>
      <p:pic>
        <p:nvPicPr>
          <p:cNvPr id="7" name="Content Placeholder 6"/>
          <p:cNvPicPr>
            <a:picLocks noGrp="1" noChangeAspect="1"/>
          </p:cNvPicPr>
          <p:nvPr>
            <p:ph idx="1"/>
          </p:nvPr>
        </p:nvPicPr>
        <p:blipFill>
          <a:blip r:embed="rId2"/>
          <a:stretch>
            <a:fillRect/>
          </a:stretch>
        </p:blipFill>
        <p:spPr>
          <a:xfrm>
            <a:off x="890751" y="1405211"/>
            <a:ext cx="8976625" cy="4351338"/>
          </a:xfrm>
          <a:prstGeom prst="rect">
            <a:avLst/>
          </a:prstGeom>
        </p:spPr>
      </p:pic>
    </p:spTree>
    <p:extLst>
      <p:ext uri="{BB962C8B-B14F-4D97-AF65-F5344CB8AC3E}">
        <p14:creationId xmlns:p14="http://schemas.microsoft.com/office/powerpoint/2010/main" val="136842651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96268"/>
          </a:xfrm>
        </p:spPr>
        <p:txBody>
          <a:bodyPr/>
          <a:lstStyle/>
          <a:p>
            <a:r>
              <a:rPr lang="en-US" dirty="0">
                <a:solidFill>
                  <a:srgbClr val="C00000"/>
                </a:solidFill>
              </a:rPr>
              <a:t>Survival </a:t>
            </a:r>
            <a:r>
              <a:rPr lang="en-US" dirty="0" smtClean="0">
                <a:solidFill>
                  <a:srgbClr val="C00000"/>
                </a:solidFill>
              </a:rPr>
              <a:t>Expressions</a:t>
            </a:r>
            <a:endParaRPr lang="en-US" dirty="0">
              <a:solidFill>
                <a:srgbClr val="C00000"/>
              </a:solidFill>
            </a:endParaRPr>
          </a:p>
        </p:txBody>
      </p:sp>
      <p:pic>
        <p:nvPicPr>
          <p:cNvPr id="4" name="Content Placeholder 3"/>
          <p:cNvPicPr>
            <a:picLocks noGrp="1" noChangeAspect="1"/>
          </p:cNvPicPr>
          <p:nvPr>
            <p:ph idx="1"/>
          </p:nvPr>
        </p:nvPicPr>
        <p:blipFill>
          <a:blip r:embed="rId4"/>
          <a:stretch>
            <a:fillRect/>
          </a:stretch>
        </p:blipFill>
        <p:spPr>
          <a:xfrm>
            <a:off x="890751" y="1390463"/>
            <a:ext cx="10515600" cy="3960420"/>
          </a:xfrm>
          <a:prstGeom prst="rect">
            <a:avLst/>
          </a:prstGeom>
        </p:spPr>
      </p:pic>
      <p:pic>
        <p:nvPicPr>
          <p:cNvPr id="3" name="Recorded Sound">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40262" y="5510048"/>
            <a:ext cx="304800" cy="304800"/>
          </a:xfrm>
          <a:prstGeom prst="rect">
            <a:avLst/>
          </a:prstGeom>
        </p:spPr>
      </p:pic>
    </p:spTree>
    <p:extLst>
      <p:ext uri="{BB962C8B-B14F-4D97-AF65-F5344CB8AC3E}">
        <p14:creationId xmlns:p14="http://schemas.microsoft.com/office/powerpoint/2010/main" val="734385222"/>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3"/>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27472" fill="hold"/>
                                        <p:tgtEl>
                                          <p:spTgt spid="3"/>
                                        </p:tgtEl>
                                      </p:cBhvr>
                                    </p:cmd>
                                  </p:childTnLst>
                                </p:cTn>
                              </p:par>
                            </p:childTnLst>
                          </p:cTn>
                        </p:par>
                      </p:childTnLst>
                    </p:cTn>
                  </p:par>
                </p:childTnLst>
              </p:cTn>
              <p:nextCondLst>
                <p:cond evt="onClick" delay="0">
                  <p:tgtEl>
                    <p:spTgt spid="3"/>
                  </p:tgtEl>
                </p:cond>
              </p:nextCondLst>
            </p:seq>
            <p:audio>
              <p:cMediaNode vol="80000">
                <p:cTn id="7" fill="hold" display="0">
                  <p:stCondLst>
                    <p:cond delay="indefinite"/>
                  </p:stCondLst>
                  <p:endCondLst>
                    <p:cond evt="onStopAudio" delay="0">
                      <p:tgtEl>
                        <p:sldTgt/>
                      </p:tgtEl>
                    </p:cond>
                  </p:endCondLst>
                </p:cTn>
                <p:tgtEl>
                  <p:spTgt spid="3"/>
                </p:tgtEl>
              </p:cMediaNode>
            </p:audi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33206"/>
          </a:xfrm>
        </p:spPr>
        <p:txBody>
          <a:bodyPr/>
          <a:lstStyle/>
          <a:p>
            <a:r>
              <a:rPr lang="en-US" dirty="0" smtClean="0">
                <a:solidFill>
                  <a:srgbClr val="C00000"/>
                </a:solidFill>
              </a:rPr>
              <a:t>Numbers</a:t>
            </a:r>
            <a:endParaRPr lang="en-US" dirty="0"/>
          </a:p>
        </p:txBody>
      </p:sp>
      <p:pic>
        <p:nvPicPr>
          <p:cNvPr id="4" name="Content Placeholder 3"/>
          <p:cNvPicPr>
            <a:picLocks noGrp="1" noChangeAspect="1"/>
          </p:cNvPicPr>
          <p:nvPr>
            <p:ph idx="1"/>
          </p:nvPr>
        </p:nvPicPr>
        <p:blipFill>
          <a:blip r:embed="rId4"/>
          <a:stretch>
            <a:fillRect/>
          </a:stretch>
        </p:blipFill>
        <p:spPr>
          <a:xfrm>
            <a:off x="838200" y="1328064"/>
            <a:ext cx="10515600" cy="1520694"/>
          </a:xfrm>
          <a:prstGeom prst="rect">
            <a:avLst/>
          </a:prstGeom>
        </p:spPr>
      </p:pic>
      <p:pic>
        <p:nvPicPr>
          <p:cNvPr id="3" name="Recorded Sound">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flipV="1">
            <a:off x="5292968" y="2977052"/>
            <a:ext cx="435170" cy="428299"/>
          </a:xfrm>
          <a:prstGeom prst="rect">
            <a:avLst/>
          </a:prstGeom>
        </p:spPr>
      </p:pic>
    </p:spTree>
    <p:extLst>
      <p:ext uri="{BB962C8B-B14F-4D97-AF65-F5344CB8AC3E}">
        <p14:creationId xmlns:p14="http://schemas.microsoft.com/office/powerpoint/2010/main" val="360962092"/>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3"/>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22735" fill="hold"/>
                                        <p:tgtEl>
                                          <p:spTgt spid="3"/>
                                        </p:tgtEl>
                                      </p:cBhvr>
                                    </p:cmd>
                                  </p:childTnLst>
                                </p:cTn>
                              </p:par>
                            </p:childTnLst>
                          </p:cTn>
                        </p:par>
                      </p:childTnLst>
                    </p:cTn>
                  </p:par>
                </p:childTnLst>
              </p:cTn>
              <p:nextCondLst>
                <p:cond evt="onClick" delay="0">
                  <p:tgtEl>
                    <p:spTgt spid="3"/>
                  </p:tgtEl>
                </p:cond>
              </p:nextCondLst>
            </p:seq>
            <p:audio>
              <p:cMediaNode vol="80000">
                <p:cTn id="7" fill="hold" display="0">
                  <p:stCondLst>
                    <p:cond delay="indefinite"/>
                  </p:stCondLst>
                  <p:endCondLst>
                    <p:cond evt="onStopAudio" delay="0">
                      <p:tgtEl>
                        <p:sldTgt/>
                      </p:tgtEl>
                    </p:cond>
                  </p:endCondLst>
                </p:cTn>
                <p:tgtEl>
                  <p:spTgt spid="3"/>
                </p:tgtEl>
              </p:cMediaNode>
            </p:audi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06930"/>
          </a:xfrm>
        </p:spPr>
        <p:txBody>
          <a:bodyPr/>
          <a:lstStyle/>
          <a:p>
            <a:r>
              <a:rPr lang="en-US" b="1" dirty="0">
                <a:solidFill>
                  <a:srgbClr val="C00000"/>
                </a:solidFill>
              </a:rPr>
              <a:t>Overview of the Chinese Language II</a:t>
            </a:r>
            <a:endParaRPr lang="en-US" dirty="0">
              <a:solidFill>
                <a:srgbClr val="C00000"/>
              </a:solidFill>
            </a:endParaRPr>
          </a:p>
        </p:txBody>
      </p:sp>
      <p:sp>
        <p:nvSpPr>
          <p:cNvPr id="3" name="Content Placeholder 2"/>
          <p:cNvSpPr>
            <a:spLocks noGrp="1"/>
          </p:cNvSpPr>
          <p:nvPr>
            <p:ph idx="1"/>
          </p:nvPr>
        </p:nvSpPr>
        <p:spPr>
          <a:xfrm>
            <a:off x="874986" y="1226535"/>
            <a:ext cx="10515600" cy="4351338"/>
          </a:xfrm>
        </p:spPr>
        <p:txBody>
          <a:bodyPr/>
          <a:lstStyle/>
          <a:p>
            <a:pPr marL="0" indent="0">
              <a:buNone/>
            </a:pPr>
            <a:r>
              <a:rPr lang="en-US" dirty="0">
                <a:solidFill>
                  <a:srgbClr val="C00000"/>
                </a:solidFill>
              </a:rPr>
              <a:t>Formation of Chinese Characters</a:t>
            </a:r>
          </a:p>
          <a:p>
            <a:pPr marL="0" indent="0">
              <a:buNone/>
            </a:pPr>
            <a:r>
              <a:rPr lang="en-US" dirty="0"/>
              <a:t>A common claim that Chinese writing is pictographic and each character represents a picture is not really true. Only a small amount of ancient characters evolved from pictures. The majority of modern Chinese characters are pictophonetic characters consisting of a semantic radical and a phonetic component. </a:t>
            </a:r>
          </a:p>
          <a:p>
            <a:pPr marL="0" indent="0">
              <a:buNone/>
            </a:pPr>
            <a:r>
              <a:rPr lang="en-US" dirty="0"/>
              <a:t>Chinese characters can be divided into six categories based on the manner in which they are formed or derived. </a:t>
            </a:r>
            <a:r>
              <a:rPr lang="en-US" dirty="0" smtClean="0"/>
              <a:t>Example:</a:t>
            </a:r>
            <a:endParaRPr lang="en-US" dirty="0"/>
          </a:p>
        </p:txBody>
      </p:sp>
    </p:spTree>
    <p:extLst>
      <p:ext uri="{BB962C8B-B14F-4D97-AF65-F5344CB8AC3E}">
        <p14:creationId xmlns:p14="http://schemas.microsoft.com/office/powerpoint/2010/main" val="157798659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C00000"/>
                </a:solidFill>
              </a:rPr>
              <a:t>Overview of the Chinese Language </a:t>
            </a:r>
            <a:r>
              <a:rPr lang="en-US" b="1" dirty="0" smtClean="0">
                <a:solidFill>
                  <a:srgbClr val="C00000"/>
                </a:solidFill>
              </a:rPr>
              <a:t>II(Cont.)</a:t>
            </a:r>
            <a:endParaRPr lang="en-US" dirty="0"/>
          </a:p>
        </p:txBody>
      </p:sp>
      <p:pic>
        <p:nvPicPr>
          <p:cNvPr id="4" name="Content Placeholder 3"/>
          <p:cNvPicPr>
            <a:picLocks noGrp="1" noChangeAspect="1"/>
          </p:cNvPicPr>
          <p:nvPr>
            <p:ph idx="1"/>
          </p:nvPr>
        </p:nvPicPr>
        <p:blipFill>
          <a:blip r:embed="rId2"/>
          <a:stretch>
            <a:fillRect/>
          </a:stretch>
        </p:blipFill>
        <p:spPr>
          <a:xfrm>
            <a:off x="838200" y="1520825"/>
            <a:ext cx="7085894" cy="4351338"/>
          </a:xfrm>
          <a:prstGeom prst="rect">
            <a:avLst/>
          </a:prstGeom>
        </p:spPr>
      </p:pic>
    </p:spTree>
    <p:extLst>
      <p:ext uri="{BB962C8B-B14F-4D97-AF65-F5344CB8AC3E}">
        <p14:creationId xmlns:p14="http://schemas.microsoft.com/office/powerpoint/2010/main" val="258024334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C00000"/>
                </a:solidFill>
              </a:rPr>
              <a:t>Overview of the Chinese Language II(Cont.)</a:t>
            </a:r>
            <a:endParaRPr lang="en-US" dirty="0"/>
          </a:p>
        </p:txBody>
      </p:sp>
      <p:sp>
        <p:nvSpPr>
          <p:cNvPr id="3" name="Content Placeholder 2"/>
          <p:cNvSpPr>
            <a:spLocks noGrp="1"/>
          </p:cNvSpPr>
          <p:nvPr>
            <p:ph idx="1"/>
          </p:nvPr>
        </p:nvSpPr>
        <p:spPr>
          <a:xfrm>
            <a:off x="911772" y="1436742"/>
            <a:ext cx="10515600" cy="4351338"/>
          </a:xfrm>
        </p:spPr>
        <p:txBody>
          <a:bodyPr>
            <a:normAutofit fontScale="92500" lnSpcReduction="20000"/>
          </a:bodyPr>
          <a:lstStyle/>
          <a:p>
            <a:pPr marL="0" indent="0">
              <a:buNone/>
            </a:pPr>
            <a:r>
              <a:rPr lang="en-US" dirty="0">
                <a:solidFill>
                  <a:srgbClr val="C00000"/>
                </a:solidFill>
              </a:rPr>
              <a:t>Grammar Features</a:t>
            </a:r>
          </a:p>
          <a:p>
            <a:pPr marL="0" indent="0">
              <a:buNone/>
            </a:pPr>
            <a:r>
              <a:rPr lang="en-US" dirty="0" smtClean="0"/>
              <a:t>Here </a:t>
            </a:r>
            <a:r>
              <a:rPr lang="en-US" dirty="0"/>
              <a:t>are some characteristics of Mandarin Chinese:</a:t>
            </a:r>
          </a:p>
          <a:p>
            <a:pPr marL="0" indent="0">
              <a:buNone/>
            </a:pPr>
            <a:r>
              <a:rPr lang="en-US" dirty="0"/>
              <a:t>1. Topic + Comment sentence structure</a:t>
            </a:r>
            <a:r>
              <a:rPr lang="en-US" dirty="0" smtClean="0"/>
              <a:t>.</a:t>
            </a:r>
            <a:r>
              <a:rPr lang="en-US" dirty="0"/>
              <a:t> </a:t>
            </a:r>
            <a:endParaRPr lang="en-US" dirty="0" smtClean="0"/>
          </a:p>
          <a:p>
            <a:pPr marL="0" indent="0">
              <a:buNone/>
            </a:pPr>
            <a:r>
              <a:rPr lang="en-US" dirty="0" smtClean="0">
                <a:solidFill>
                  <a:schemeClr val="accent5"/>
                </a:solidFill>
              </a:rPr>
              <a:t>Subject </a:t>
            </a:r>
            <a:r>
              <a:rPr lang="en-US" dirty="0">
                <a:solidFill>
                  <a:schemeClr val="accent5"/>
                </a:solidFill>
              </a:rPr>
              <a:t>+ Verb  +   </a:t>
            </a:r>
            <a:r>
              <a:rPr lang="en-US" dirty="0" smtClean="0">
                <a:solidFill>
                  <a:schemeClr val="accent5"/>
                </a:solidFill>
              </a:rPr>
              <a:t>Object</a:t>
            </a:r>
          </a:p>
          <a:p>
            <a:pPr marL="0" indent="0">
              <a:buNone/>
            </a:pPr>
            <a:r>
              <a:rPr lang="en-US" dirty="0" smtClean="0">
                <a:solidFill>
                  <a:schemeClr val="accent5"/>
                </a:solidFill>
              </a:rPr>
              <a:t>    </a:t>
            </a:r>
            <a:r>
              <a:rPr lang="en-US" dirty="0">
                <a:solidFill>
                  <a:schemeClr val="accent5"/>
                </a:solidFill>
              </a:rPr>
              <a:t>I         have   only a few friends. </a:t>
            </a:r>
            <a:endParaRPr lang="en-US" dirty="0" smtClean="0">
              <a:solidFill>
                <a:schemeClr val="accent5"/>
              </a:solidFill>
            </a:endParaRPr>
          </a:p>
          <a:p>
            <a:pPr marL="0" indent="0">
              <a:buNone/>
            </a:pPr>
            <a:r>
              <a:rPr lang="en-US" dirty="0" smtClean="0">
                <a:solidFill>
                  <a:srgbClr val="FF0000"/>
                </a:solidFill>
              </a:rPr>
              <a:t>Topic       </a:t>
            </a:r>
            <a:r>
              <a:rPr lang="en-US" dirty="0">
                <a:solidFill>
                  <a:srgbClr val="FF0000"/>
                </a:solidFill>
              </a:rPr>
              <a:t>+     Comment</a:t>
            </a:r>
          </a:p>
          <a:p>
            <a:pPr marL="0" indent="0">
              <a:buNone/>
            </a:pPr>
            <a:r>
              <a:rPr lang="zh-CN" altLang="en-US" dirty="0">
                <a:solidFill>
                  <a:srgbClr val="FF0000"/>
                </a:solidFill>
              </a:rPr>
              <a:t>我的朋友 </a:t>
            </a:r>
            <a:r>
              <a:rPr lang="en-US" dirty="0">
                <a:solidFill>
                  <a:srgbClr val="FF0000"/>
                </a:solidFill>
              </a:rPr>
              <a:t>     </a:t>
            </a:r>
            <a:r>
              <a:rPr lang="zh-CN" altLang="en-US" dirty="0">
                <a:solidFill>
                  <a:srgbClr val="FF0000"/>
                </a:solidFill>
              </a:rPr>
              <a:t>很少。</a:t>
            </a:r>
            <a:endParaRPr lang="en-US" dirty="0">
              <a:solidFill>
                <a:srgbClr val="FF0000"/>
              </a:solidFill>
            </a:endParaRPr>
          </a:p>
          <a:p>
            <a:pPr marL="0" indent="0">
              <a:buNone/>
            </a:pPr>
            <a:r>
              <a:rPr lang="en-US" dirty="0">
                <a:solidFill>
                  <a:srgbClr val="FF0000"/>
                </a:solidFill>
              </a:rPr>
              <a:t>(lit. “My friends  are few</a:t>
            </a:r>
            <a:r>
              <a:rPr lang="en-US" dirty="0" smtClean="0">
                <a:solidFill>
                  <a:srgbClr val="FF0000"/>
                </a:solidFill>
              </a:rPr>
              <a:t>.”)</a:t>
            </a:r>
          </a:p>
          <a:p>
            <a:pPr marL="0" indent="0">
              <a:buNone/>
            </a:pPr>
            <a:endParaRPr lang="en-US" dirty="0">
              <a:solidFill>
                <a:srgbClr val="FF0000"/>
              </a:solidFill>
            </a:endParaRPr>
          </a:p>
          <a:p>
            <a:pPr marL="0" indent="0">
              <a:buNone/>
            </a:pPr>
            <a:r>
              <a:rPr lang="en-US" dirty="0" smtClean="0"/>
              <a:t> </a:t>
            </a:r>
            <a:endParaRPr lang="en-US" dirty="0"/>
          </a:p>
        </p:txBody>
      </p:sp>
    </p:spTree>
    <p:extLst>
      <p:ext uri="{BB962C8B-B14F-4D97-AF65-F5344CB8AC3E}">
        <p14:creationId xmlns:p14="http://schemas.microsoft.com/office/powerpoint/2010/main" val="134675602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75247"/>
          </a:xfrm>
        </p:spPr>
        <p:txBody>
          <a:bodyPr/>
          <a:lstStyle/>
          <a:p>
            <a:r>
              <a:rPr lang="en-US" b="1" dirty="0">
                <a:solidFill>
                  <a:srgbClr val="C00000"/>
                </a:solidFill>
              </a:rPr>
              <a:t>Overview of the Chinese Language II(Cont.)</a:t>
            </a:r>
            <a:endParaRPr lang="en-US" dirty="0"/>
          </a:p>
        </p:txBody>
      </p:sp>
      <p:sp>
        <p:nvSpPr>
          <p:cNvPr id="5" name="Rectangle 1"/>
          <p:cNvSpPr>
            <a:spLocks noGrp="1" noChangeArrowheads="1"/>
          </p:cNvSpPr>
          <p:nvPr>
            <p:ph idx="1"/>
          </p:nvPr>
        </p:nvSpPr>
        <p:spPr bwMode="auto">
          <a:xfrm>
            <a:off x="838200" y="1081711"/>
            <a:ext cx="10260724" cy="56015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indent="195263"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a:lnSpc>
                <a:spcPct val="100000"/>
              </a:lnSpc>
              <a:buNone/>
            </a:pPr>
            <a:r>
              <a:rPr lang="en-US" sz="2600" dirty="0">
                <a:solidFill>
                  <a:srgbClr val="C00000"/>
                </a:solidFill>
                <a:latin typeface="+mn-lt"/>
              </a:rPr>
              <a:t>Grammar Features (Cont.)</a:t>
            </a:r>
          </a:p>
          <a:p>
            <a:pPr marL="0" marR="0" lvl="0" indent="195263" algn="l" defTabSz="914400" rtl="0" eaLnBrk="0" fontAlgn="base" latinLnBrk="0" hangingPunct="0">
              <a:lnSpc>
                <a:spcPct val="100000"/>
              </a:lnSpc>
              <a:spcBef>
                <a:spcPct val="0"/>
              </a:spcBef>
              <a:spcAft>
                <a:spcPct val="0"/>
              </a:spcAft>
              <a:buClrTx/>
              <a:buSzTx/>
              <a:buFontTx/>
              <a:buNone/>
              <a:tabLst/>
            </a:pPr>
            <a:r>
              <a:rPr lang="en-US" altLang="en-US" sz="2600" dirty="0">
                <a:latin typeface="+mn-lt"/>
              </a:rPr>
              <a:t>2. Verbs have aspect rather than tense. </a:t>
            </a:r>
          </a:p>
          <a:p>
            <a:pPr marL="0" marR="0" lvl="0" indent="195263" algn="l" defTabSz="914400" rtl="0" eaLnBrk="0" fontAlgn="base" latinLnBrk="0" hangingPunct="0">
              <a:lnSpc>
                <a:spcPct val="100000"/>
              </a:lnSpc>
              <a:spcBef>
                <a:spcPct val="0"/>
              </a:spcBef>
              <a:spcAft>
                <a:spcPct val="0"/>
              </a:spcAft>
              <a:buClrTx/>
              <a:buSzTx/>
              <a:buFontTx/>
              <a:buNone/>
              <a:tabLst/>
            </a:pPr>
            <a:r>
              <a:rPr lang="en-US" altLang="en-US" sz="2600" dirty="0">
                <a:latin typeface="+mn-lt"/>
              </a:rPr>
              <a:t>Mandarin Chinese adopts function words to express whether the action of the verb is “continuous” or “completed,” or to indicate if it has ever been experienced before. To express tense, a time phrase will be inserted in the sentence before or after the verb depending on the context. </a:t>
            </a:r>
          </a:p>
          <a:p>
            <a:pPr marL="0" marR="0" lvl="0" indent="195263" algn="l" defTabSz="914400" rtl="0" eaLnBrk="0" fontAlgn="base" latinLnBrk="0" hangingPunct="0">
              <a:lnSpc>
                <a:spcPct val="100000"/>
              </a:lnSpc>
              <a:spcBef>
                <a:spcPct val="0"/>
              </a:spcBef>
              <a:spcAft>
                <a:spcPct val="0"/>
              </a:spcAft>
              <a:buClrTx/>
              <a:buSzTx/>
              <a:buFontTx/>
              <a:buNone/>
              <a:tabLst/>
            </a:pPr>
            <a:endParaRPr lang="en-US" altLang="en-US" sz="2600" dirty="0" smtClean="0">
              <a:latin typeface="+mn-lt"/>
            </a:endParaRPr>
          </a:p>
          <a:p>
            <a:pPr marL="0" marR="0" lvl="0" indent="195263" algn="l" defTabSz="914400" rtl="0" eaLnBrk="0" fontAlgn="base" latinLnBrk="0" hangingPunct="0">
              <a:lnSpc>
                <a:spcPct val="100000"/>
              </a:lnSpc>
              <a:spcBef>
                <a:spcPct val="0"/>
              </a:spcBef>
              <a:spcAft>
                <a:spcPct val="0"/>
              </a:spcAft>
              <a:buClrTx/>
              <a:buSzTx/>
              <a:buFontTx/>
              <a:buNone/>
              <a:tabLst/>
            </a:pPr>
            <a:r>
              <a:rPr lang="en-US" altLang="en-US" sz="2600" dirty="0" smtClean="0">
                <a:latin typeface="+mn-lt"/>
              </a:rPr>
              <a:t>3</a:t>
            </a:r>
            <a:r>
              <a:rPr lang="en-US" altLang="en-US" sz="2600" dirty="0">
                <a:latin typeface="+mn-lt"/>
              </a:rPr>
              <a:t>. Measure words (classifiers) are used between number words/specifiers and nouns. For instance:</a:t>
            </a:r>
          </a:p>
          <a:p>
            <a:pPr marL="0" marR="0" lvl="0" indent="195263" algn="l" defTabSz="914400" rtl="0" eaLnBrk="0" fontAlgn="base" latinLnBrk="0" hangingPunct="0">
              <a:lnSpc>
                <a:spcPct val="100000"/>
              </a:lnSpc>
              <a:spcBef>
                <a:spcPct val="0"/>
              </a:spcBef>
              <a:spcAft>
                <a:spcPct val="0"/>
              </a:spcAft>
              <a:buClrTx/>
              <a:buSzTx/>
              <a:buFontTx/>
              <a:buNone/>
              <a:tabLst/>
            </a:pPr>
            <a:r>
              <a:rPr lang="en-US" altLang="en-US" sz="2600" dirty="0">
                <a:latin typeface="+mn-lt"/>
              </a:rPr>
              <a:t>    Number + Measure + Noun</a:t>
            </a:r>
          </a:p>
          <a:p>
            <a:pPr marL="0" marR="0" lvl="0" indent="195263" algn="l" defTabSz="914400" rtl="0" eaLnBrk="0" fontAlgn="base" latinLnBrk="0" hangingPunct="0">
              <a:lnSpc>
                <a:spcPct val="100000"/>
              </a:lnSpc>
              <a:spcBef>
                <a:spcPct val="0"/>
              </a:spcBef>
              <a:spcAft>
                <a:spcPct val="0"/>
              </a:spcAft>
              <a:buClrTx/>
              <a:buSzTx/>
              <a:buFontTx/>
              <a:buNone/>
              <a:tabLst/>
            </a:pPr>
            <a:r>
              <a:rPr lang="en-US" altLang="en-US" sz="2600" dirty="0">
                <a:latin typeface="+mn-lt"/>
              </a:rPr>
              <a:t>       Yī    </a:t>
            </a:r>
            <a:r>
              <a:rPr lang="en-US" altLang="en-US" sz="2600" dirty="0" smtClean="0">
                <a:latin typeface="+mn-lt"/>
              </a:rPr>
              <a:t>          </a:t>
            </a:r>
            <a:r>
              <a:rPr lang="en-US" altLang="en-US" sz="2600" dirty="0">
                <a:latin typeface="+mn-lt"/>
              </a:rPr>
              <a:t>gè                 rén       </a:t>
            </a:r>
            <a:endParaRPr lang="en-US" altLang="en-US" sz="2600" dirty="0" smtClean="0">
              <a:latin typeface="+mn-lt"/>
            </a:endParaRPr>
          </a:p>
          <a:p>
            <a:pPr marL="0" marR="0" lvl="0" indent="195263" algn="l" defTabSz="914400" rtl="0" eaLnBrk="0" fontAlgn="base" latinLnBrk="0" hangingPunct="0">
              <a:lnSpc>
                <a:spcPct val="100000"/>
              </a:lnSpc>
              <a:spcBef>
                <a:spcPct val="0"/>
              </a:spcBef>
              <a:spcAft>
                <a:spcPct val="0"/>
              </a:spcAft>
              <a:buClrTx/>
              <a:buSzTx/>
              <a:buFontTx/>
              <a:buNone/>
              <a:tabLst/>
            </a:pPr>
            <a:r>
              <a:rPr lang="en-US" altLang="zh-CN" sz="2600" dirty="0">
                <a:latin typeface="+mn-lt"/>
              </a:rPr>
              <a:t> </a:t>
            </a:r>
            <a:r>
              <a:rPr lang="en-US" altLang="zh-CN" sz="2600" dirty="0" smtClean="0">
                <a:latin typeface="+mn-lt"/>
              </a:rPr>
              <a:t>      </a:t>
            </a:r>
            <a:r>
              <a:rPr lang="zh-CN" altLang="en-US" sz="2600" dirty="0" smtClean="0">
                <a:latin typeface="+mn-lt"/>
              </a:rPr>
              <a:t>一             </a:t>
            </a:r>
            <a:r>
              <a:rPr lang="zh-CN" altLang="en-US" sz="2600" dirty="0">
                <a:latin typeface="+mn-lt"/>
              </a:rPr>
              <a:t>个  </a:t>
            </a:r>
            <a:r>
              <a:rPr lang="zh-CN" altLang="en-US" sz="2600" dirty="0" smtClean="0">
                <a:latin typeface="+mn-lt"/>
              </a:rPr>
              <a:t>               </a:t>
            </a:r>
            <a:r>
              <a:rPr lang="zh-CN" altLang="en-US" sz="2600" dirty="0">
                <a:latin typeface="+mn-lt"/>
              </a:rPr>
              <a:t>人           </a:t>
            </a:r>
          </a:p>
          <a:p>
            <a:pPr marL="0" marR="0" lvl="0" indent="195263" algn="l" defTabSz="914400" rtl="0" eaLnBrk="0" fontAlgn="base" latinLnBrk="0" hangingPunct="0">
              <a:lnSpc>
                <a:spcPct val="100000"/>
              </a:lnSpc>
              <a:spcBef>
                <a:spcPct val="0"/>
              </a:spcBef>
              <a:spcAft>
                <a:spcPct val="0"/>
              </a:spcAft>
              <a:buClrTx/>
              <a:buSzTx/>
              <a:buFontTx/>
              <a:buNone/>
              <a:tabLst/>
            </a:pPr>
            <a:r>
              <a:rPr lang="en-US" altLang="zh-CN" sz="2600" dirty="0">
                <a:latin typeface="+mn-lt"/>
              </a:rPr>
              <a:t>(lit</a:t>
            </a:r>
            <a:r>
              <a:rPr lang="en-US" altLang="zh-CN" sz="2600" dirty="0" smtClean="0">
                <a:latin typeface="+mn-lt"/>
              </a:rPr>
              <a:t>.  </a:t>
            </a:r>
            <a:r>
              <a:rPr lang="en-US" altLang="zh-CN" sz="2600" dirty="0">
                <a:latin typeface="+mn-lt"/>
              </a:rPr>
              <a:t>A                  </a:t>
            </a:r>
            <a:r>
              <a:rPr lang="en-US" altLang="zh-CN" sz="2600" dirty="0" smtClean="0">
                <a:latin typeface="+mn-lt"/>
              </a:rPr>
              <a:t>           </a:t>
            </a:r>
            <a:r>
              <a:rPr lang="en-US" altLang="zh-CN" sz="2600" dirty="0">
                <a:latin typeface="+mn-lt"/>
              </a:rPr>
              <a:t>person)</a:t>
            </a:r>
          </a:p>
          <a:p>
            <a:pPr marL="0" marR="0" lvl="0" indent="195263" algn="l" defTabSz="914400" rtl="0" eaLnBrk="0" fontAlgn="base" latinLnBrk="0" hangingPunct="0">
              <a:lnSpc>
                <a:spcPct val="100000"/>
              </a:lnSpc>
              <a:spcBef>
                <a:spcPct val="0"/>
              </a:spcBef>
              <a:spcAft>
                <a:spcPct val="0"/>
              </a:spcAft>
              <a:buClrTx/>
              <a:buSzTx/>
              <a:buFontTx/>
              <a:buNone/>
              <a:tabLst/>
            </a:pPr>
            <a:endParaRPr lang="en-US" altLang="zh-CN" sz="2600" dirty="0">
              <a:latin typeface="+mn-lt"/>
            </a:endParaRPr>
          </a:p>
        </p:txBody>
      </p:sp>
    </p:spTree>
    <p:extLst>
      <p:ext uri="{BB962C8B-B14F-4D97-AF65-F5344CB8AC3E}">
        <p14:creationId xmlns:p14="http://schemas.microsoft.com/office/powerpoint/2010/main" val="160988513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01911"/>
            <a:ext cx="10515600" cy="791013"/>
          </a:xfrm>
        </p:spPr>
        <p:txBody>
          <a:bodyPr/>
          <a:lstStyle/>
          <a:p>
            <a:r>
              <a:rPr lang="en-US" b="1" dirty="0">
                <a:solidFill>
                  <a:srgbClr val="C00000"/>
                </a:solidFill>
              </a:rPr>
              <a:t>Overview of the Chinese Language II(Cont.)</a:t>
            </a:r>
            <a:endParaRPr lang="en-US" dirty="0"/>
          </a:p>
        </p:txBody>
      </p:sp>
      <p:sp>
        <p:nvSpPr>
          <p:cNvPr id="3" name="Content Placeholder 2"/>
          <p:cNvSpPr>
            <a:spLocks noGrp="1"/>
          </p:cNvSpPr>
          <p:nvPr>
            <p:ph sz="half" idx="1"/>
          </p:nvPr>
        </p:nvSpPr>
        <p:spPr>
          <a:xfrm>
            <a:off x="838200" y="1499805"/>
            <a:ext cx="4028090" cy="4351338"/>
          </a:xfrm>
        </p:spPr>
        <p:txBody>
          <a:bodyPr/>
          <a:lstStyle/>
          <a:p>
            <a:pPr marL="0" indent="0">
              <a:buNone/>
            </a:pPr>
            <a:r>
              <a:rPr lang="en-US" dirty="0">
                <a:solidFill>
                  <a:srgbClr val="C00000"/>
                </a:solidFill>
              </a:rPr>
              <a:t>Vocabulary</a:t>
            </a:r>
          </a:p>
          <a:p>
            <a:pPr marL="0" indent="0">
              <a:buNone/>
            </a:pPr>
            <a:r>
              <a:rPr lang="en-US" dirty="0"/>
              <a:t>In general, one character records one syllable, but one character often carries multiple meanings, related or unrelated. </a:t>
            </a:r>
          </a:p>
        </p:txBody>
      </p:sp>
      <p:pic>
        <p:nvPicPr>
          <p:cNvPr id="6" name="Content Placeholder 5"/>
          <p:cNvPicPr>
            <a:picLocks noGrp="1"/>
          </p:cNvPicPr>
          <p:nvPr>
            <p:ph sz="half" idx="2"/>
          </p:nvPr>
        </p:nvPicPr>
        <p:blipFill>
          <a:blip r:embed="rId2"/>
          <a:stretch>
            <a:fillRect/>
          </a:stretch>
        </p:blipFill>
        <p:spPr>
          <a:xfrm>
            <a:off x="5665076" y="1318352"/>
            <a:ext cx="5604642" cy="4390901"/>
          </a:xfrm>
          <a:prstGeom prst="rect">
            <a:avLst/>
          </a:prstGeom>
        </p:spPr>
      </p:pic>
    </p:spTree>
    <p:extLst>
      <p:ext uri="{BB962C8B-B14F-4D97-AF65-F5344CB8AC3E}">
        <p14:creationId xmlns:p14="http://schemas.microsoft.com/office/powerpoint/2010/main" val="291397467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23085"/>
            <a:ext cx="10515600" cy="833054"/>
          </a:xfrm>
        </p:spPr>
        <p:txBody>
          <a:bodyPr/>
          <a:lstStyle/>
          <a:p>
            <a:r>
              <a:rPr lang="en-US" b="1" dirty="0">
                <a:solidFill>
                  <a:srgbClr val="C00000"/>
                </a:solidFill>
              </a:rPr>
              <a:t>Overview of the Chinese Language II(Cont.)</a:t>
            </a:r>
            <a:endParaRPr lang="en-US" dirty="0"/>
          </a:p>
        </p:txBody>
      </p:sp>
      <p:sp>
        <p:nvSpPr>
          <p:cNvPr id="3" name="Content Placeholder 2"/>
          <p:cNvSpPr>
            <a:spLocks noGrp="1"/>
          </p:cNvSpPr>
          <p:nvPr>
            <p:ph sz="half" idx="1"/>
          </p:nvPr>
        </p:nvSpPr>
        <p:spPr>
          <a:xfrm>
            <a:off x="838200" y="1489294"/>
            <a:ext cx="4727028" cy="4351338"/>
          </a:xfrm>
        </p:spPr>
        <p:txBody>
          <a:bodyPr/>
          <a:lstStyle/>
          <a:p>
            <a:pPr marL="0" indent="0">
              <a:buNone/>
            </a:pPr>
            <a:r>
              <a:rPr lang="en-US" dirty="0" smtClean="0">
                <a:solidFill>
                  <a:srgbClr val="C00000"/>
                </a:solidFill>
              </a:rPr>
              <a:t>Vocabulary(Cont.)</a:t>
            </a:r>
            <a:endParaRPr lang="en-US" dirty="0">
              <a:solidFill>
                <a:srgbClr val="C00000"/>
              </a:solidFill>
            </a:endParaRPr>
          </a:p>
          <a:p>
            <a:pPr marL="0" indent="0">
              <a:buNone/>
            </a:pPr>
            <a:r>
              <a:rPr lang="en-US" dirty="0" smtClean="0"/>
              <a:t>Two-syllable </a:t>
            </a:r>
            <a:r>
              <a:rPr lang="en-US" dirty="0"/>
              <a:t>words predominate in Mandarin Chinese. The meaning of a two-syllable word is usually the combination of the meanings of each character/syllable.</a:t>
            </a:r>
          </a:p>
        </p:txBody>
      </p:sp>
      <p:pic>
        <p:nvPicPr>
          <p:cNvPr id="5" name="Content Placeholder 4"/>
          <p:cNvPicPr>
            <a:picLocks noGrp="1" noChangeAspect="1"/>
          </p:cNvPicPr>
          <p:nvPr>
            <p:ph sz="half" idx="2"/>
          </p:nvPr>
        </p:nvPicPr>
        <p:blipFill>
          <a:blip r:embed="rId2"/>
          <a:stretch>
            <a:fillRect/>
          </a:stretch>
        </p:blipFill>
        <p:spPr>
          <a:xfrm>
            <a:off x="6342993" y="1489294"/>
            <a:ext cx="4724400" cy="3762375"/>
          </a:xfrm>
          <a:prstGeom prst="rect">
            <a:avLst/>
          </a:prstGeom>
        </p:spPr>
      </p:pic>
    </p:spTree>
    <p:extLst>
      <p:ext uri="{BB962C8B-B14F-4D97-AF65-F5344CB8AC3E}">
        <p14:creationId xmlns:p14="http://schemas.microsoft.com/office/powerpoint/2010/main" val="2606340744"/>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557</TotalTime>
  <Words>611</Words>
  <Application>Microsoft Office PowerPoint</Application>
  <PresentationFormat>Widescreen</PresentationFormat>
  <Paragraphs>53</Paragraphs>
  <Slides>17</Slides>
  <Notes>0</Notes>
  <HiddenSlides>0</HiddenSlides>
  <MMClips>2</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等线</vt:lpstr>
      <vt:lpstr>Arial</vt:lpstr>
      <vt:lpstr>Calibri</vt:lpstr>
      <vt:lpstr>Calibri Light</vt:lpstr>
      <vt:lpstr>Office Theme</vt:lpstr>
      <vt:lpstr>Pre-Unit 2</vt:lpstr>
      <vt:lpstr>PowerPoint Presentation</vt:lpstr>
      <vt:lpstr>Mandarin Phonology (Sound System) II</vt:lpstr>
      <vt:lpstr>Mandarin Phonology (Sound System) II</vt:lpstr>
      <vt:lpstr>Chinese Writing System </vt:lpstr>
      <vt:lpstr>Chinese Writing System (Cont.) </vt:lpstr>
      <vt:lpstr>Chinese Writing System (Cont.) </vt:lpstr>
      <vt:lpstr>Chinese Writing System (Cont.) </vt:lpstr>
      <vt:lpstr>Chinese Writing System (Cont.) </vt:lpstr>
      <vt:lpstr>Survival Expressions</vt:lpstr>
      <vt:lpstr>Numbers</vt:lpstr>
      <vt:lpstr>Overview of the Chinese Language II</vt:lpstr>
      <vt:lpstr>Overview of the Chinese Language II(Cont.)</vt:lpstr>
      <vt:lpstr>Overview of the Chinese Language II(Cont.)</vt:lpstr>
      <vt:lpstr>Overview of the Chinese Language II(Cont.)</vt:lpstr>
      <vt:lpstr>Overview of the Chinese Language II(Cont.)</vt:lpstr>
      <vt:lpstr>Overview of the Chinese Language II(Cont.)</vt:lpstr>
    </vt:vector>
  </TitlesOfParts>
  <Company>College Campus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Pre-Unit 1</dc:title>
  <dc:creator>checkout</dc:creator>
  <cp:lastModifiedBy>checkout</cp:lastModifiedBy>
  <cp:revision>32</cp:revision>
  <dcterms:created xsi:type="dcterms:W3CDTF">2018-09-24T04:15:41Z</dcterms:created>
  <dcterms:modified xsi:type="dcterms:W3CDTF">2019-09-17T21:57:37Z</dcterms:modified>
  <cp:contentStatus/>
</cp:coreProperties>
</file>